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Good morning. We are Team ANS_4X from PSG Institute of Technology and Applied</a:t>
            </a:r>
          </a:p>
          <a:p>
            <a:r>
              <a:t>Research. What we are presenting is not a slide-deck concept — it is a working</a:t>
            </a:r>
          </a:p>
          <a:p>
            <a:r>
              <a:t>system. A physical 8S2P lithium-ion pack, instrumented end to end, feeding a</a:t>
            </a:r>
          </a:p>
          <a:p>
            <a:r>
              <a:t>machine-learning fault classifier that runs on the pack itself, behind a web</a:t>
            </a:r>
          </a:p>
          <a:p>
            <a:r>
              <a:t>platform you can open in a browser right now. Over the next ten minutes I will</a:t>
            </a:r>
          </a:p>
          <a:p>
            <a:r>
              <a:t>walk you from the cells, through the data, through the model, to the interface</a:t>
            </a:r>
          </a:p>
          <a:p>
            <a:r>
              <a:t>on the right of this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public battery dataset reports pack-level voltage and current. That is</a:t>
            </a:r>
          </a:p>
          <a:p>
            <a:r>
              <a:t>useless to us: imbalance and weak-cell faults only show in the spread between</a:t>
            </a:r>
          </a:p>
          <a:p>
            <a:r>
              <a:t>individual cells. So we built the dataset. An 8S2P NMC pack, a JBD BMS on all</a:t>
            </a:r>
          </a:p>
          <a:p>
            <a:r>
              <a:t>eight taps, a programmable supply charging and an electronic load discharging.</a:t>
            </a:r>
          </a:p>
          <a:p>
            <a:r>
              <a:t>Around fifty cycles, three hours each, over a hundred hours logged, roughly</a:t>
            </a:r>
          </a:p>
          <a:p>
            <a:r>
              <a:t>155,000 rows. Every number in this deck came off that bench.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single most important chart in the deck. Eight cell voltages over</a:t>
            </a:r>
          </a:p>
          <a:p>
            <a:r>
              <a:t>forty minutes of real logged discharge. Seven of them track each other closely —</a:t>
            </a:r>
          </a:p>
          <a:p>
            <a:r>
              <a:t>that is the grey band. The red trace is cell one, sitting 289 millivolts below</a:t>
            </a:r>
          </a:p>
          <a:p>
            <a:r>
              <a:t>its neighbours for the entire cycle, and the gap widens under load. A</a:t>
            </a:r>
          </a:p>
          <a:p>
            <a:r>
              <a:t>pack-level voltmeter would read thirty and a half volts here and call the pack</a:t>
            </a:r>
          </a:p>
          <a:p>
            <a:r>
              <a:t>healthy. Cell one is the one that will hit the undervoltage cutoff first. That</a:t>
            </a:r>
          </a:p>
          <a:p>
            <a:r>
              <a:t>is the case for per-cell sensing in one picture.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Eight in series gives the 33.6-volt bus the drivetrain wants. Two in parallel</a:t>
            </a:r>
          </a:p>
          <a:p>
            <a:r>
              <a:t>gives eight amp-hours and, just as importantly, the current headroom to run</a:t>
            </a:r>
          </a:p>
          <a:p>
            <a:r>
              <a:t>realistic discharge profiles without abusing individual cells. Sixteen LG</a:t>
            </a:r>
          </a:p>
          <a:p>
            <a:r>
              <a:t>INR21700-M50 cells in total. And eight series groups means eight sense taps,</a:t>
            </a:r>
          </a:p>
          <a:p>
            <a:r>
              <a:t>which is what makes imbalance a measurement rather than an inference. Four</a:t>
            </a:r>
          </a:p>
          <a:p>
            <a:r>
              <a:t>thermistors on top of that give us spatial thermal resolution — we can tell</a:t>
            </a:r>
          </a:p>
          <a:p>
            <a:r>
              <a:t>which end of the pack is running hot, not just that it is hot.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started with a single RC branch. It captured the instant ohmic drop but</a:t>
            </a:r>
          </a:p>
          <a:p>
            <a:r>
              <a:t>consistently missed the slow recovery after a load step. Adding a second branch</a:t>
            </a:r>
          </a:p>
          <a:p>
            <a:r>
              <a:t>fixed that — a fast branch at about 0.18 seconds and a slow one at about 1.05</a:t>
            </a:r>
          </a:p>
          <a:p>
            <a:r>
              <a:t>seconds. All five parameters were fitted on a clean four-thousand-second HPPC</a:t>
            </a:r>
          </a:p>
          <a:p>
            <a:r>
              <a:t>segment. The chart below is the measured open-circuit voltage curve from that</a:t>
            </a:r>
          </a:p>
          <a:p>
            <a:r>
              <a:t>same estimation. It moves 13.4 millivolts per percent of state of charge, which</a:t>
            </a:r>
          </a:p>
          <a:p>
            <a:r>
              <a:t>means voltage is a usable observer of charge state on this chemistry. Hold that</a:t>
            </a:r>
          </a:p>
          <a:p>
            <a:r>
              <a:t>thought — it comes back at the 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pipeline is short on purpose: BMS, BLE through bleak, jbd_logger v9. Two</a:t>
            </a:r>
          </a:p>
          <a:p>
            <a:r>
              <a:t>things bit us. BLE fragments long responses across frames, so early logs were</a:t>
            </a:r>
          </a:p>
          <a:p>
            <a:r>
              <a:t>silently truncated — we now reassemble before parsing. And the four thermistors</a:t>
            </a:r>
          </a:p>
          <a:p>
            <a:r>
              <a:t>were read at the wrong byte offset, scrambling the thermal channels. The bigger</a:t>
            </a:r>
          </a:p>
          <a:p>
            <a:r>
              <a:t>problem was the labelling: because cell one is chronically low, a rule-based</a:t>
            </a:r>
          </a:p>
          <a:p>
            <a:r>
              <a:t>labeller marked over seventy percent of rows as Cell Imbalance. We fixed that</a:t>
            </a:r>
          </a:p>
          <a:p>
            <a:r>
              <a:t>with physics-informed synthetic faults rather than throwing real rows away.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BMS frame gives us seventeen raw channels. We derive fifty-one features from</a:t>
            </a:r>
          </a:p>
          <a:p>
            <a:r>
              <a:t>them: rolling means and standard deviations over a ten-sample window, first</a:t>
            </a:r>
          </a:p>
          <a:p>
            <a:r>
              <a:t>derivatives of voltage, current, charge state and temperature, per-cell rise and</a:t>
            </a:r>
          </a:p>
          <a:p>
            <a:r>
              <a:t>drop rates, the four one-hot driving modes and the thermistor spread. The chart</a:t>
            </a:r>
          </a:p>
          <a:p>
            <a:r>
              <a:t>on the right is not our opinion — it is read straight out of the trained model.</a:t>
            </a:r>
          </a:p>
          <a:p>
            <a:r>
              <a:t>Rolling voltage standard deviation dominates at fourteen percent, and notice the</a:t>
            </a:r>
          </a:p>
          <a:p>
            <a:r>
              <a:t>orange bars: the driving-mode flags account for twelve percent between them.</a:t>
            </a:r>
          </a:p>
          <a:p>
            <a:r>
              <a:t>Context genuinely matters to this classifier.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Given that skew, the training set had to be constructed rather than just</a:t>
            </a:r>
          </a:p>
          <a:p>
            <a:r>
              <a:t>collected. Real Normal rows anchor what healthy operation looks like. On top of</a:t>
            </a:r>
          </a:p>
          <a:p>
            <a:r>
              <a:t>that we generate synthetic faults — but generated against the datasheet safety</a:t>
            </a:r>
          </a:p>
          <a:p>
            <a:r>
              <a:t>limits, so an overvoltage sample is physically plausible rather than random</a:t>
            </a:r>
          </a:p>
          <a:p>
            <a:r>
              <a:t>noise. That gets us to 208,010 rows, roughly half real and half synthetic, split</a:t>
            </a:r>
          </a:p>
          <a:p>
            <a:r>
              <a:t>seventy-fifteen-fifteen. The thirty-thousand-row test split is untouched until</a:t>
            </a:r>
          </a:p>
          <a:p>
            <a:r>
              <a:t>final evaluation, and every number on the next two slides comes from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did not argue about which model to use — we trained all six on the identical</a:t>
            </a:r>
          </a:p>
          <a:p>
            <a:r>
              <a:t>split and measured them. Two rows matter. The bottom one: a conventional</a:t>
            </a:r>
          </a:p>
          <a:p>
            <a:r>
              <a:t>rule-based BMS scores twenty-two percent, because cell one’s chronic gap puts</a:t>
            </a:r>
          </a:p>
          <a:p>
            <a:r>
              <a:t>eighty-four percent of healthy rows over the imbalance threshold. It false-alarms</a:t>
            </a:r>
          </a:p>
          <a:p>
            <a:r>
              <a:t>constantly and never detects a weak cell at all. And the second row: the</a:t>
            </a:r>
          </a:p>
          <a:p>
            <a:r>
              <a:t>Transformer edges us by under a point — but only because it is fed a sixty-row</a:t>
            </a:r>
          </a:p>
          <a:p>
            <a:r>
              <a:t>window, sixty times the input per prediction. On our hardware that window is</a:t>
            </a:r>
          </a:p>
          <a:p>
            <a:r>
              <a:t>disqualifying. At one hertz it is blind for a full minute after every restart,</a:t>
            </a:r>
          </a:p>
          <a:p>
            <a:r>
              <a:t>its positional encoding pins the input at exactly sixty rows, torch is five times</a:t>
            </a:r>
          </a:p>
          <a:p>
            <a:r>
              <a:t>the runtime footprint of xgboost on the Pi, and it gives no per-feature</a:t>
            </a:r>
          </a:p>
          <a:p>
            <a:r>
              <a:t>attribution an engineer can audit. XGBoost predicts from a single row, instantly,</a:t>
            </a:r>
          </a:p>
          <a:p>
            <a:r>
              <a:t>explains itself, and retrains from the browser. That is why it ships.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Here is the honest breakdown. Normal, Overvoltage and Overtemperature all clear</a:t>
            </a:r>
          </a:p>
          <a:p>
            <a:r>
              <a:t>ninety-seven percent F1 — those classes are solved. Cell Imbalance recall is</a:t>
            </a:r>
          </a:p>
          <a:p>
            <a:r>
              <a:t>sixty-five percent, and that is the weakest number in this deck. Look at where</a:t>
            </a:r>
          </a:p>
          <a:p>
            <a:r>
              <a:t>the misses go: twenty-eight point seven percent of true imbalance samples get</a:t>
            </a:r>
          </a:p>
          <a:p>
            <a:r>
              <a:t>predicted as Undervoltage. That is not a random error. A sagging weak cell and</a:t>
            </a:r>
          </a:p>
          <a:p>
            <a:r>
              <a:t>an undervoltage event share a signature — one cell drops and the pack voltage</a:t>
            </a:r>
          </a:p>
          <a:p>
            <a:r>
              <a:t>follows. Separating them needs more real imbalance events, and that is what our</a:t>
            </a:r>
          </a:p>
          <a:p>
            <a:r>
              <a:t>next data campaign is for.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Six classes. The part I care more about is the confidence framework around them.</a:t>
            </a:r>
          </a:p>
          <a:p>
            <a:r>
              <a:t>The classifier returns a probability and we split it three ways. Below 0.50 we</a:t>
            </a:r>
          </a:p>
          <a:p>
            <a:r>
              <a:t>abstain outright — nothing is raised and the sample goes for review. Between</a:t>
            </a:r>
          </a:p>
          <a:p>
            <a:r>
              <a:t>0.50 and 0.85 we log a warning that does not block the operator. Only above 0.85</a:t>
            </a:r>
          </a:p>
          <a:p>
            <a:r>
              <a:t>do we raise an alert with a corrective action. In a safety-critical system a</a:t>
            </a:r>
          </a:p>
          <a:p>
            <a:r>
              <a:t>confidently wrong prediction is worse than none: an abstention sends someone to</a:t>
            </a:r>
          </a:p>
          <a:p>
            <a:r>
              <a:t>look, a false alert teaches them to ignore the dashboard.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There is a failure mode every classifier has: give it something it has never</a:t>
            </a:r>
          </a:p>
          <a:p>
            <a:r>
              <a:t>seen, and it will still return one of its six labels, often confidently. So</a:t>
            </a:r>
          </a:p>
          <a:p>
            <a:r>
              <a:t>before the classifier runs, an IsolationForest scores the window. If that score</a:t>
            </a:r>
          </a:p>
          <a:p>
            <a:r>
              <a:t>falls below threshold, we do not classify at all — we flag it as an unknown</a:t>
            </a:r>
          </a:p>
          <a:p>
            <a:r>
              <a:t>fault and escalate. Tested on forty-nine in-distribution and forty-nine</a:t>
            </a:r>
          </a:p>
          <a:p>
            <a:r>
              <a:t>synthetic-unknown windows: AUROC of 0.913, one hundred percent precision, zero</a:t>
            </a:r>
          </a:p>
          <a:p>
            <a:r>
              <a:t>false positives. It catches one unknown in four. We tuned it that way</a:t>
            </a:r>
          </a:p>
          <a:p>
            <a:r>
              <a:t>deliberately — on a safety dashboard, never crying wolf matters more.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tiers, each doing what the others cannot. The JBD BMS senses: eight taps,</a:t>
            </a:r>
          </a:p>
          <a:p>
            <a:r>
              <a:t>four thermistors, pack voltage and current. The Pi 5 runs the logger, the</a:t>
            </a:r>
          </a:p>
          <a:p>
            <a:r>
              <a:t>inference and the dashboard. Inference sits at the edge deliberately — push it</a:t>
            </a:r>
          </a:p>
          <a:p>
            <a:r>
              <a:t>to a server and every network hiccup becomes an unmonitored window. The third</a:t>
            </a:r>
          </a:p>
          <a:p>
            <a:r>
              <a:t>tier exists because general-purpose computers hang. An Arduino on its own rail</a:t>
            </a:r>
          </a:p>
          <a:p>
            <a:r>
              <a:t>watches for a heartbeat and pulls the Pi's RUN pin if it stops. Zynq-7000 is our</a:t>
            </a:r>
          </a:p>
          <a:p>
            <a:r>
              <a:t>path to take inference off the CPU entirely.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whole system on one slide. Three columns. On the edge, sampling,</a:t>
            </a:r>
          </a:p>
          <a:p>
            <a:r>
              <a:t>feature engineering and inference all happen on the pack itself — the Pi never</a:t>
            </a:r>
          </a:p>
          <a:p>
            <a:r>
              <a:t>needs the network to keep the battery safe. In the middle, a Flask service</a:t>
            </a:r>
          </a:p>
          <a:p>
            <a:r>
              <a:t>exposes REST and server-sent events, with PostgreSQL holding telemetry, cycle</a:t>
            </a:r>
          </a:p>
          <a:p>
            <a:r>
              <a:t>history and the active chemistry profile. On the right, three browser surfaces.</a:t>
            </a:r>
          </a:p>
          <a:p>
            <a:r>
              <a:t>All of it goes out through a Cloudflare tunnel, which means we never open an</a:t>
            </a:r>
          </a:p>
          <a:p>
            <a:r>
              <a:t>inbound port on the Pi — a reviewer can open the dashboard from anywhere and the</a:t>
            </a:r>
          </a:p>
          <a:p>
            <a:r>
              <a:t>attack surface stays closed.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dashboard is Flask on the Pi, published through a Cloudflare tunnel. It is</a:t>
            </a:r>
          </a:p>
          <a:p>
            <a:r>
              <a:t>operator-facing, not engineer-facing: live per-cell voltages, pack current with</a:t>
            </a:r>
          </a:p>
          <a:p>
            <a:r>
              <a:t>direction, four thermal zones, and a charge or discharge ETA smoothed with an</a:t>
            </a:r>
          </a:p>
          <a:p>
            <a:r>
              <a:t>EMA so it does not jitter. The piece worth noting is driving context. Four modes</a:t>
            </a:r>
          </a:p>
          <a:p>
            <a:r>
              <a:t>from the change in current magnitude between samples — because a voltage sag</a:t>
            </a:r>
          </a:p>
          <a:p>
            <a:r>
              <a:t>under hard acceleration is normal, and the same sag at idle is a fault.</a:t>
            </a:r>
          </a:p>
          <a:p>
            <a:r>
              <a:t>Thresholds follow the mode.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things the model leans on that are easy to overlook. First, thermal</a:t>
            </a:r>
          </a:p>
          <a:p>
            <a:r>
              <a:t>resolution: the four thermistors diverge by as much as eight point three degrees</a:t>
            </a:r>
          </a:p>
          <a:p>
            <a:r>
              <a:t>within a single pack, and that spread goes into the model as a feature rather</a:t>
            </a:r>
          </a:p>
          <a:p>
            <a:r>
              <a:t>than just onto the dashboard. Second, operating mode, set from the change in</a:t>
            </a:r>
          </a:p>
          <a:p>
            <a:r>
              <a:t>current magnitude with a five-sample hysteresis so it does not flap on noise.</a:t>
            </a:r>
          </a:p>
          <a:p>
            <a:r>
              <a:t>Together, the mode flags and the thermal spread account for nearly a fifth of</a:t>
            </a:r>
          </a:p>
          <a:p>
            <a:r>
              <a:t>the model's total gain. That is context the pack-level sensors alone could never</a:t>
            </a:r>
          </a:p>
          <a:p>
            <a:r>
              <a:t>give 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last analytical layer is prognosis. We keep a history of every cycle the</a:t>
            </a:r>
          </a:p>
          <a:p>
            <a:r>
              <a:t>pack has run — thirty-nine so far, twenty-one discharge and eighteen charge, all</a:t>
            </a:r>
          </a:p>
          <a:p>
            <a:r>
              <a:t>scoring one point zero on data quality. For each live cycle the system computes</a:t>
            </a:r>
          </a:p>
          <a:p>
            <a:r>
              <a:t>an expected voltage sag from the load, then compares it to the actual sag. A</a:t>
            </a:r>
          </a:p>
          <a:p>
            <a:r>
              <a:t>cycle that sags worse than its own history is degrading, and we can say that</a:t>
            </a:r>
          </a:p>
          <a:p>
            <a:r>
              <a:t>long before any absolute threshold is breached. The chart on the right also</a:t>
            </a:r>
          </a:p>
          <a:p>
            <a:r>
              <a:t>shows the balancing working: end-of-cycle spread is consistently below</a:t>
            </a:r>
          </a:p>
          <a:p>
            <a:r>
              <a:t>start-of-cycle spread.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onboarding flow in full. Two upload targets. Drop the manufacturer</a:t>
            </a:r>
          </a:p>
          <a:p>
            <a:r>
              <a:t>PDF and the parser pulls out chemistry, nominal, maximum and minimum voltage,</a:t>
            </a:r>
          </a:p>
          <a:p>
            <a:r>
              <a:t>capacity, current limits and thermal envelopes. Drop a CSV or spreadsheet and</a:t>
            </a:r>
          </a:p>
          <a:p>
            <a:r>
              <a:t>the dataset gets profiled and previewed. There is no YAML file, no redeploy and</a:t>
            </a:r>
          </a:p>
          <a:p>
            <a:r>
              <a:t>no developer in the loop. The parsed values land in an editable form — shown</a:t>
            </a:r>
          </a:p>
          <a:p>
            <a:r>
              <a:t>underneath — so an engineer can correct anything the parser got wrong before it</a:t>
            </a:r>
          </a:p>
          <a:p>
            <a:r>
              <a:t>becomes the active profile. That same screen feeds both the threshold matrix and</a:t>
            </a:r>
          </a:p>
          <a:p>
            <a:r>
              <a:t>the retrainer.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what makes it reusable. The parser pulls the limits, pack sizing derives</a:t>
            </a:r>
          </a:p>
          <a:p>
            <a:r>
              <a:t>the series and parallel counts, and then the chemistry gets tiered. NMC is</a:t>
            </a:r>
          </a:p>
          <a:p>
            <a:r>
              <a:t>direct reuse because that is what we characterised. NCA and LCO share the 4.2</a:t>
            </a:r>
          </a:p>
          <a:p>
            <a:r>
              <a:t>volt ceiling, so they only need a threshold shift. LFP needs a real remap to a</a:t>
            </a:r>
          </a:p>
          <a:p>
            <a:r>
              <a:t>2.50 to 3.65 volt window — remember that flat OCV curve. And LTO, at 2.4 volts</a:t>
            </a:r>
          </a:p>
          <a:p>
            <a:r>
              <a:t>nominal, needs every limit rescaled. Thresholds are two-tier, and the active</a:t>
            </a:r>
          </a:p>
          <a:p>
            <a:r>
              <a:t>profile syncs to PostgreSQL live with no server restart.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 want to close on what is not finished. Cell Imbalance recall sits at sixty-five</a:t>
            </a:r>
          </a:p>
          <a:p>
            <a:r>
              <a:t>percent — that is the weakest number in the deck and it needs real imbalance</a:t>
            </a:r>
          </a:p>
          <a:p>
            <a:r>
              <a:t>events, not more synthetic ones. The unknown-fault gate never raises a false</a:t>
            </a:r>
          </a:p>
          <a:p>
            <a:r>
              <a:t>alarm but only catches one unknown in four. The Zynq path would take inference</a:t>
            </a:r>
          </a:p>
          <a:p>
            <a:r>
              <a:t>off the CPU. LFP is remapped from a datasheet, not characterised on a bench.</a:t>
            </a:r>
          </a:p>
          <a:p>
            <a:r>
              <a:t>And state of health is the natural next model. Everything you have seen rebuilds</a:t>
            </a:r>
          </a:p>
          <a:p>
            <a:r>
              <a:t>from the repository — the figures, the model evaluation and this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jpg"/><Relationship Id="rId4" Type="http://schemas.openxmlformats.org/officeDocument/2006/relationships/image" Target="../media/image18.jpg"/><Relationship Id="rId5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image" Target="../media/image21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jp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877824"/>
            <a:ext cx="74980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>
                <a:solidFill>
                  <a:srgbClr val="0E7490"/>
                </a:solidFill>
                <a:latin typeface="Inter"/>
              </a:rPr>
              <a:t>CATERPILLAR TECH CHALLENGE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243584"/>
            <a:ext cx="56692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3000" b="1">
                <a:solidFill>
                  <a:srgbClr val="0E7490"/>
                </a:solidFill>
                <a:latin typeface="Inter"/>
              </a:rPr>
              <a:t>AI-PBMS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920240"/>
            <a:ext cx="56692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900" b="1">
                <a:solidFill>
                  <a:srgbClr val="0F172A"/>
                </a:solidFill>
                <a:latin typeface="Inter"/>
              </a:rPr>
              <a:t>AI-Powered Predictive
Battery Management System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3675887"/>
            <a:ext cx="1965960" cy="41148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3950208"/>
            <a:ext cx="5532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1350" b="0">
                <a:solidFill>
                  <a:srgbClr val="475569"/>
                </a:solidFill>
                <a:latin typeface="Inter"/>
              </a:rPr>
              <a:t>An 8S2P lithium-ion pack, 155,000 rows of our own telemetry, and a six-class fault classifier running at the edge.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230368"/>
            <a:ext cx="5532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  <a:spcAft>
                <a:spcPts val="0"/>
              </a:spcAft>
            </a:pPr>
            <a:r>
              <a:rPr sz="1200" b="0">
                <a:solidFill>
                  <a:srgbClr val="0F172A"/>
                </a:solidFill>
                <a:latin typeface="Inter"/>
              </a:rPr>
              <a:t>Team ANS_4X  ·  PSG Institute of Technology and Applied Research, Coimbatore</a:t>
            </a:r>
          </a:p>
        </p:txBody>
      </p:sp>
      <p:pic>
        <p:nvPicPr>
          <p:cNvPr id="8" name="Picture 7" descr="mock_land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674604"/>
            <a:ext cx="5193792" cy="323447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30975" y="5577840"/>
            <a:ext cx="519379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The delivered platform — live monitor and configuration engine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We could not buy this dataset, so we built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5797296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Public BMS datasets hide per-cell voltages behind pack totals.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Imbalance and weak-cell faults are invisible at pack level.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So we instrumented a physical 8S2P NMC pack end to end.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Programmable DC supply charges; electronic load drives discharge profiles.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Every row the model ever sees came from this rig.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846320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66928" y="4937759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~50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303520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charge–discharge cycles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52827" y="4846320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2052827" y="4937759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~3 hrs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52827" y="5303520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per cycle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38727" y="4846320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538727" y="4937759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&gt;100 hrs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38727" y="5303520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supervised logging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4627" y="4846320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024627" y="4937759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B91C1C"/>
                </a:solidFill>
                <a:latin typeface="Inter"/>
              </a:rPr>
              <a:t>~155,000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4627" y="5303520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rows logged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93408" y="1682610"/>
            <a:ext cx="4931359" cy="3748811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1" name="Picture 20" descr="p03_img1_x38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1801482"/>
            <a:ext cx="4693615" cy="3511067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693408" y="5614416"/>
            <a:ext cx="49313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8S2P pack, JBD BMS and programmable electronic load on the bench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What a hundred hours of logging actually showed us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5797296" cy="2697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Cell 1 runs 289 mV below its neighbours, every cycle.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Not noise, not a sensor fault — a genuinely weaker cell.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The gap widens under load and never fully recovers.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This one defect defined the whole labelling problem.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224528"/>
            <a:ext cx="5797296" cy="17556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68096" y="4352544"/>
            <a:ext cx="539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E7490"/>
                </a:solidFill>
                <a:latin typeface="Inter"/>
              </a:rPr>
              <a:t>WHY THIS MATTERS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4626864"/>
            <a:ext cx="5394959" cy="12252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250" b="0">
                <a:solidFill>
                  <a:srgbClr val="0F172A"/>
                </a:solidFill>
                <a:latin typeface="Inter"/>
              </a:rPr>
              <a:t>A pack-level voltmeter reads 30.5 V and reports a healthy pack. The same instant, cell 1 is 289 mV down and heading for the undervoltage cutoff first. Per-cell resolution is the difference between noticing and not noticing.</a:t>
            </a:r>
          </a:p>
        </p:txBody>
      </p:sp>
      <p:pic>
        <p:nvPicPr>
          <p:cNvPr id="11" name="Picture 10" descr="fig_cell_tra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098048"/>
            <a:ext cx="4931359" cy="350315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Why 8S2P, specifically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09344"/>
            <a:ext cx="5797296" cy="2788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8S sets the 33.6 V nominal bus the drivetrain expects.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2P buys 8 Ah capacity and the current headroom.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Sixteen LG INR21700-M50 cells, 5000 mAh each.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Eight sense taps make imbalance observable, not inferred.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Four NTC thermistors give spatial thermal resolution.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882896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66928" y="4974336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33.6 V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340096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nominal bus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52827" y="4882896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2052827" y="4974336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8 Ah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52827" y="5340096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usable capacity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38727" y="4882896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538727" y="4974336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16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38727" y="5340096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cells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4627" y="4882896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024627" y="4974336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B45309"/>
                </a:solidFill>
                <a:latin typeface="Inter"/>
              </a:rPr>
              <a:t>8 + 4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4627" y="5340096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V taps + NTCs</a:t>
            </a:r>
          </a:p>
        </p:txBody>
      </p:sp>
      <p:pic>
        <p:nvPicPr>
          <p:cNvPr id="20" name="Picture 19" descr="diag_pack_8s2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439782"/>
            <a:ext cx="4931359" cy="254536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From 1RC to 2RC, and what OCV buys us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63040"/>
            <a:ext cx="5797296" cy="1874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1RC caught the instant drop but missed slow recovery.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A second branch separates fast transient from slow relaxation.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Parameters fitted on a clean 0–4000 s HPPC segment.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493008"/>
            <a:ext cx="5797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475569"/>
                </a:solidFill>
                <a:latin typeface="Inter"/>
              </a:rPr>
              <a:t>2RC PARAMETERS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3785615"/>
            <a:ext cx="18348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66928" y="3877055"/>
            <a:ext cx="18348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R₀ 0.06142 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242816"/>
            <a:ext cx="18348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ohmic drop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48128" y="3785615"/>
            <a:ext cx="18348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548128" y="3877055"/>
            <a:ext cx="18348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R₁ 0.00820 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8128" y="4242816"/>
            <a:ext cx="18348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fast branch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29328" y="3785615"/>
            <a:ext cx="18348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529328" y="3877055"/>
            <a:ext cx="18348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475569"/>
                </a:solidFill>
                <a:latin typeface="Inter"/>
              </a:rPr>
              <a:t>C₁ 22.268 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9328" y="4242816"/>
            <a:ext cx="18348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τ₁ ≈ 0.18 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4681728"/>
            <a:ext cx="18348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66928" y="4773168"/>
            <a:ext cx="18348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R₂ 0.00882 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5138928"/>
            <a:ext cx="18348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slow branch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548128" y="4681728"/>
            <a:ext cx="18348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2548128" y="4773168"/>
            <a:ext cx="18348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475569"/>
                </a:solidFill>
                <a:latin typeface="Inter"/>
              </a:rPr>
              <a:t>C₂ 119.37 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48128" y="5138928"/>
            <a:ext cx="18348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τ₂ ≈ 1.05 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29328" y="4681728"/>
            <a:ext cx="18348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4529328" y="4773168"/>
            <a:ext cx="18348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F172A"/>
                </a:solidFill>
                <a:latin typeface="Inter"/>
              </a:rPr>
              <a:t>2RC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29328" y="5138928"/>
            <a:ext cx="18348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Vt = OCV − IR₀ − V₁ − V₂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5687568"/>
            <a:ext cx="57972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200" b="1">
                <a:solidFill>
                  <a:srgbClr val="0E7490"/>
                </a:solidFill>
                <a:latin typeface="Inter"/>
              </a:rPr>
              <a:t>Measured OCV moves 13.4 mV per 1% SOC — enough to observe charge state.</a:t>
            </a:r>
          </a:p>
        </p:txBody>
      </p:sp>
      <p:pic>
        <p:nvPicPr>
          <p:cNvPr id="28" name="Picture 27" descr="diag_2rc_ec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8448" y="1389888"/>
            <a:ext cx="3921278" cy="2103120"/>
          </a:xfrm>
          <a:prstGeom prst="rect">
            <a:avLst/>
          </a:prstGeom>
        </p:spPr>
      </p:pic>
      <p:pic>
        <p:nvPicPr>
          <p:cNvPr id="29" name="Picture 28" descr="fig_ocv_so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3694" y="3529584"/>
            <a:ext cx="2510786" cy="24688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From BLE frames to labelled rows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17904"/>
            <a:ext cx="5797296" cy="2788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JBD BMS → BLE via bleak → jbd_logger v9 on the Pi.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BLE fragmented long responses; frames reassembled before any parsing.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NTC byte-offset fix realigned all four thermistor channels.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cell_v1 sat ~0.25 V below pack median in every cycle.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That one weak cell labelled 70.2% of rows Cell Imbalance.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590288"/>
            <a:ext cx="5797296" cy="148132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68096" y="4736592"/>
            <a:ext cx="539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B45309"/>
                </a:solidFill>
                <a:latin typeface="Inter"/>
              </a:rPr>
              <a:t>HANDLING THE SKEW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010912"/>
            <a:ext cx="5394959" cy="9692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250" b="0">
                <a:solidFill>
                  <a:srgbClr val="0F172A"/>
                </a:solidFill>
                <a:latin typeface="Inter"/>
              </a:rPr>
              <a:t>Physics-informed synthetic faults generated against datasheet limits, then down-sampled to an equal count per class — a 50/50 real-to-synthetic split that removes the normalcy bias without discarding real rows.</a:t>
            </a:r>
          </a:p>
        </p:txBody>
      </p:sp>
      <p:pic>
        <p:nvPicPr>
          <p:cNvPr id="11" name="Picture 10" descr="fig_class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1783391"/>
            <a:ext cx="4931359" cy="395872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Fifty-one features, and which ones matter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5797296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Raw frame gives 17 channels; we derive 51 features.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Rolling mean and std over a ten-sample window.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First derivatives: dV/dt, dI/dt, dSOC/dt, dT/dt.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Per-cell rise and drop rates — sixteen directional features.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Four one-hot driving modes and the NTC spread.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700016"/>
            <a:ext cx="5797296" cy="131673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68096" y="4828032"/>
            <a:ext cx="539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B45309"/>
                </a:solidFill>
                <a:latin typeface="Inter"/>
              </a:rPr>
              <a:t>LEAKAGE CONTROL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102352"/>
            <a:ext cx="5394959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250" b="0">
                <a:solidFill>
                  <a:srgbClr val="0F172A"/>
                </a:solidFill>
                <a:latin typeface="Inter"/>
              </a:rPr>
              <a:t>Rolling windows and derivatives are computed inside each (split, label) group, so no window ever straddles a train/test boundary.</a:t>
            </a:r>
          </a:p>
        </p:txBody>
      </p:sp>
      <p:pic>
        <p:nvPicPr>
          <p:cNvPr id="11" name="Picture 10" descr="fig_feature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1986798"/>
            <a:ext cx="4931359" cy="362506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Building a training set that is not 70% one class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5797296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Real Normal rows anchor the healthy operating baseline.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Synthetic faults generated against datasheet safety limits.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Balanced to roughly 50/50 real-to-synthetic across six classes.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Stratified 70/15/15 train, validation and test split.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Test split never touched until final evaluation.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828032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66928" y="4919472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208,010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285232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total rows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52827" y="4828032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2052827" y="4919472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140,000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52827" y="5285232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train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38727" y="4828032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538727" y="4919472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475569"/>
                </a:solidFill>
                <a:latin typeface="Inter"/>
              </a:rPr>
              <a:t>30,000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38727" y="5285232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validation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4627" y="4828032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024627" y="4919472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B91C1C"/>
                </a:solidFill>
                <a:latin typeface="Inter"/>
              </a:rPr>
              <a:t>30,000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4627" y="5285232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test</a:t>
            </a:r>
          </a:p>
        </p:txBody>
      </p:sp>
      <p:pic>
        <p:nvPicPr>
          <p:cNvPr id="20" name="Picture 19" descr="fig_dataset_com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201641"/>
            <a:ext cx="4931359" cy="320452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We benchmarked all six — XGBoost still ships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9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444752"/>
            <a:ext cx="11057839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49224" y="1444752"/>
            <a:ext cx="1869033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F172A"/>
                </a:solidFill>
                <a:latin typeface="Inter"/>
              </a:rPr>
              <a:t>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82849" y="1444752"/>
            <a:ext cx="116997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F172A"/>
                </a:solidFill>
                <a:latin typeface="Inter"/>
              </a:rPr>
              <a:t>Accuracy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17416" y="1444752"/>
            <a:ext cx="110642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F172A"/>
                </a:solidFill>
                <a:latin typeface="Inter"/>
              </a:rPr>
              <a:t>Macro F1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88432" y="1444752"/>
            <a:ext cx="110642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F172A"/>
                </a:solidFill>
                <a:latin typeface="Inter"/>
              </a:rPr>
              <a:t>Latency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59448" y="1444752"/>
            <a:ext cx="1042873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F172A"/>
                </a:solidFill>
                <a:latin typeface="Inter"/>
              </a:rPr>
              <a:t>Size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66913" y="1444752"/>
            <a:ext cx="8522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F172A"/>
                </a:solidFill>
                <a:latin typeface="Inter"/>
              </a:rPr>
              <a:t>Edge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83726" y="1444752"/>
            <a:ext cx="275874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F172A"/>
                </a:solidFill>
                <a:latin typeface="Inter"/>
              </a:rPr>
              <a:t>Verdict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1828800"/>
            <a:ext cx="11057839" cy="420624"/>
          </a:xfrm>
          <a:prstGeom prst="rect">
            <a:avLst/>
          </a:prstGeom>
          <a:solidFill>
            <a:srgbClr val="E6F4F6"/>
          </a:solidFill>
          <a:ln w="1397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49224" y="1828800"/>
            <a:ext cx="1869033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>
                <a:solidFill>
                  <a:srgbClr val="0F172A"/>
                </a:solidFill>
                <a:latin typeface="Inter"/>
              </a:rPr>
              <a:t>XGBoost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82849" y="1828800"/>
            <a:ext cx="116997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1">
                <a:solidFill>
                  <a:srgbClr val="0E7490"/>
                </a:solidFill>
                <a:latin typeface="Inter"/>
              </a:rPr>
              <a:t>94.19%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17416" y="1828800"/>
            <a:ext cx="11064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0.905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88432" y="1828800"/>
            <a:ext cx="11064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1">
                <a:solidFill>
                  <a:srgbClr val="0E7490"/>
                </a:solidFill>
                <a:latin typeface="Inter"/>
              </a:rPr>
              <a:t>0.462 ms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9448" y="1828800"/>
            <a:ext cx="1042873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1.40 MB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66913" y="1828800"/>
            <a:ext cx="8522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E7490"/>
                </a:solidFill>
                <a:latin typeface="Inter"/>
              </a:rPr>
              <a:t>Yes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83726" y="1828800"/>
            <a:ext cx="275874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1">
                <a:solidFill>
                  <a:srgbClr val="0E7490"/>
                </a:solidFill>
                <a:latin typeface="Inter"/>
              </a:rPr>
              <a:t>Deployed — 1 row, no buffer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2670048"/>
            <a:ext cx="11057839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49224" y="2249424"/>
            <a:ext cx="1869033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Inter"/>
              </a:rPr>
              <a:t>Transformer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82849" y="2249424"/>
            <a:ext cx="116997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Inter"/>
              </a:rPr>
              <a:t>95.11%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17416" y="2249424"/>
            <a:ext cx="11064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0.918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88432" y="2249424"/>
            <a:ext cx="11064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0.419 ms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59448" y="2249424"/>
            <a:ext cx="1042873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0.31 MB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66913" y="2249424"/>
            <a:ext cx="8522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B45309"/>
                </a:solidFill>
                <a:latin typeface="Inter"/>
              </a:rPr>
              <a:t>Warn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83726" y="2249424"/>
            <a:ext cx="275874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B45309"/>
                </a:solidFill>
                <a:latin typeface="Inter"/>
              </a:rPr>
              <a:t>Edges accuracy; 60-row buffer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3090672"/>
            <a:ext cx="11057839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649224" y="2670048"/>
            <a:ext cx="1869033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Inter"/>
              </a:rPr>
              <a:t>LSTM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82849" y="2670048"/>
            <a:ext cx="116997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Inter"/>
              </a:rPr>
              <a:t>87.03%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17416" y="2670048"/>
            <a:ext cx="11064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0.776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288432" y="2670048"/>
            <a:ext cx="11064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0.532 ms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59448" y="2670048"/>
            <a:ext cx="1042873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0.28 MB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66913" y="2670048"/>
            <a:ext cx="8522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B45309"/>
                </a:solidFill>
                <a:latin typeface="Inter"/>
              </a:rPr>
              <a:t>Warn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783726" y="2670048"/>
            <a:ext cx="275874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Sequential, weakest F1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66928" y="3511296"/>
            <a:ext cx="11057839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649224" y="3090672"/>
            <a:ext cx="1869033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Inter"/>
              </a:rPr>
              <a:t>Random Forest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82849" y="3090672"/>
            <a:ext cx="116997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Inter"/>
              </a:rPr>
              <a:t>89.37%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17416" y="3090672"/>
            <a:ext cx="11064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0.824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288432" y="3090672"/>
            <a:ext cx="11064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33.770 ms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59448" y="3090672"/>
            <a:ext cx="1042873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176.41 MB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66913" y="3090672"/>
            <a:ext cx="8522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B91C1C"/>
                </a:solidFill>
                <a:latin typeface="Inter"/>
              </a:rPr>
              <a:t>No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783726" y="3090672"/>
            <a:ext cx="275874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B91C1C"/>
                </a:solidFill>
                <a:latin typeface="Inter"/>
              </a:rPr>
              <a:t>176 MB, 73× the latency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66928" y="3931920"/>
            <a:ext cx="11057839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649224" y="3511296"/>
            <a:ext cx="1869033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Inter"/>
              </a:rPr>
              <a:t>SVM (RBF)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682849" y="3511296"/>
            <a:ext cx="116997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Inter"/>
              </a:rPr>
              <a:t>88.53%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017416" y="3511296"/>
            <a:ext cx="11064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0.807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88432" y="3511296"/>
            <a:ext cx="11064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0.568 ms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559448" y="3511296"/>
            <a:ext cx="1042873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2.82 MB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766913" y="3511296"/>
            <a:ext cx="8522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E7490"/>
                </a:solidFill>
                <a:latin typeface="Inter"/>
              </a:rPr>
              <a:t>Yes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783726" y="3511296"/>
            <a:ext cx="275874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Would not scale past 20k rows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66928" y="4352544"/>
            <a:ext cx="11057839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649224" y="3931920"/>
            <a:ext cx="1869033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Inter"/>
              </a:rPr>
              <a:t>Rule-based BMS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682849" y="3931920"/>
            <a:ext cx="116997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Inter"/>
              </a:rPr>
              <a:t>22.09%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017416" y="3931920"/>
            <a:ext cx="11064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0.224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288432" y="3931920"/>
            <a:ext cx="11064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5 µs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559448" y="3931920"/>
            <a:ext cx="1042873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~0 MB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766913" y="3931920"/>
            <a:ext cx="8522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E7490"/>
                </a:solidFill>
                <a:latin typeface="Inter"/>
              </a:rPr>
              <a:t>Yes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783726" y="3931920"/>
            <a:ext cx="275874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B91C1C"/>
                </a:solidFill>
                <a:latin typeface="Inter"/>
              </a:rPr>
              <a:t>0% recall on Weak Cell</a:t>
            </a:r>
          </a:p>
        </p:txBody>
      </p:sp>
      <p:pic>
        <p:nvPicPr>
          <p:cNvPr id="63" name="Picture 62" descr="fig_deployment_trade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2368" y="4443983"/>
            <a:ext cx="4006958" cy="1463040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566928" y="5980176"/>
            <a:ext cx="11057839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800" b="0">
                <a:solidFill>
                  <a:srgbClr val="475569"/>
                </a:solidFill>
                <a:latin typeface="Inter"/>
              </a:rPr>
              <a:t>All six trained and scored on the identical 30,000-row held-out split with the same 51 features; latency is the median single-row prediction on a 4-core CPU, not a Pi 5. The Transformer additionally receives a 60-row lookback window — 60× the input per prediction — which is where its 0.92-point accuracy edge comes from, and also why it cannot run on our hardware. SVM trained on a stratified 20k subsample: full-data RBF did not converge.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Where the model is strong, and where it is not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54480"/>
            <a:ext cx="5797296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8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550">
                <a:solidFill>
                  <a:srgbClr val="0F172A"/>
                </a:solidFill>
                <a:latin typeface="Inter"/>
              </a:rPr>
              <a:t>Normal, Overvoltage, Overtemperature all clear 97% F1.</a:t>
            </a:r>
          </a:p>
          <a:p>
            <a:pPr marL="274320" indent="-274320">
              <a:lnSpc>
                <a:spcPct val="116000"/>
              </a:lnSpc>
              <a:spcAft>
                <a:spcPts val="8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550">
                <a:solidFill>
                  <a:srgbClr val="0F172A"/>
                </a:solidFill>
                <a:latin typeface="Inter"/>
              </a:rPr>
              <a:t>Cell Imbalance recall is 65% — the weakest number here.</a:t>
            </a:r>
          </a:p>
          <a:p>
            <a:pPr marL="274320" indent="-274320">
              <a:lnSpc>
                <a:spcPct val="116000"/>
              </a:lnSpc>
              <a:spcAft>
                <a:spcPts val="8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550">
                <a:solidFill>
                  <a:srgbClr val="0F172A"/>
                </a:solidFill>
                <a:latin typeface="Inter"/>
              </a:rPr>
              <a:t>Its misses land on Undervoltage, which is physically adjacent.</a:t>
            </a:r>
          </a:p>
          <a:p>
            <a:pPr marL="274320" indent="-274320">
              <a:lnSpc>
                <a:spcPct val="116000"/>
              </a:lnSpc>
              <a:spcAft>
                <a:spcPts val="8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550">
                <a:solidFill>
                  <a:srgbClr val="0F172A"/>
                </a:solidFill>
                <a:latin typeface="Inter"/>
              </a:rPr>
              <a:t>A sagging weak cell looks like an undervoltage event.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3877056"/>
            <a:ext cx="5797296" cy="213969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68096" y="4005072"/>
            <a:ext cx="539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B91C1C"/>
                </a:solidFill>
                <a:latin typeface="Inter"/>
              </a:rPr>
              <a:t>WE ARE NOT HIDING THIS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4297680"/>
            <a:ext cx="5394959" cy="1591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250" b="0">
                <a:solidFill>
                  <a:srgbClr val="0F172A"/>
                </a:solidFill>
                <a:latin typeface="Inter"/>
              </a:rPr>
              <a:t>28.7% of true Cell Imbalance samples are predicted Undervoltage. The two share a signature: one cell drops, pack voltage follows. Separating them needs more real imbalance events, not more synthetic ones — which is exactly what the next data campaign is for.</a:t>
            </a:r>
          </a:p>
        </p:txBody>
      </p:sp>
      <p:pic>
        <p:nvPicPr>
          <p:cNvPr id="11" name="Picture 10" descr="fig_per_class_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3650" y="1444752"/>
            <a:ext cx="3190873" cy="2240280"/>
          </a:xfrm>
          <a:prstGeom prst="rect">
            <a:avLst/>
          </a:prstGeom>
        </p:spPr>
      </p:pic>
      <p:pic>
        <p:nvPicPr>
          <p:cNvPr id="12" name="Picture 11" descr="fig_confusion_matri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379" y="3730752"/>
            <a:ext cx="2773416" cy="246888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Six classes, and the confidence to say “I don't know”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81328"/>
            <a:ext cx="5797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E7490"/>
                </a:solidFill>
                <a:latin typeface="Inter"/>
              </a:rPr>
              <a:t>THE SIX FAULT CLASSES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792224"/>
            <a:ext cx="2825496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713232" y="1952243"/>
            <a:ext cx="100584" cy="100584"/>
          </a:xfrm>
          <a:prstGeom prst="ellipse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32688" y="1792224"/>
            <a:ext cx="2368296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>
                <a:solidFill>
                  <a:srgbClr val="0F172A"/>
                </a:solidFill>
                <a:latin typeface="Inter"/>
              </a:rPr>
              <a:t>Normal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38728" y="1792224"/>
            <a:ext cx="2825496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3685032" y="1952243"/>
            <a:ext cx="100584" cy="100584"/>
          </a:xfrm>
          <a:prstGeom prst="ellipse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904488" y="1792224"/>
            <a:ext cx="2368296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>
                <a:solidFill>
                  <a:srgbClr val="0F172A"/>
                </a:solidFill>
                <a:latin typeface="Inter"/>
              </a:rPr>
              <a:t>Cell Imbalance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304288"/>
            <a:ext cx="2825496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713232" y="2464308"/>
            <a:ext cx="100584" cy="100584"/>
          </a:xfrm>
          <a:prstGeom prst="ellipse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2304288"/>
            <a:ext cx="2368296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>
                <a:solidFill>
                  <a:srgbClr val="0F172A"/>
                </a:solidFill>
                <a:latin typeface="Inter"/>
              </a:rPr>
              <a:t>Weak Cell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38728" y="2304288"/>
            <a:ext cx="2825496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3685032" y="2464308"/>
            <a:ext cx="100584" cy="100584"/>
          </a:xfrm>
          <a:prstGeom prst="ellipse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3904488" y="2304288"/>
            <a:ext cx="2368296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>
                <a:solidFill>
                  <a:srgbClr val="0F172A"/>
                </a:solidFill>
                <a:latin typeface="Inter"/>
              </a:rPr>
              <a:t>Overvoltage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2816352"/>
            <a:ext cx="2825496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713232" y="2976372"/>
            <a:ext cx="100584" cy="100584"/>
          </a:xfrm>
          <a:prstGeom prst="ellipse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2816352"/>
            <a:ext cx="2368296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>
                <a:solidFill>
                  <a:srgbClr val="0F172A"/>
                </a:solidFill>
                <a:latin typeface="Inter"/>
              </a:rPr>
              <a:t>Undervoltage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538728" y="2816352"/>
            <a:ext cx="2825496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3685032" y="2976372"/>
            <a:ext cx="100584" cy="100584"/>
          </a:xfrm>
          <a:prstGeom prst="ellipse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3904488" y="2816352"/>
            <a:ext cx="2368296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>
                <a:solidFill>
                  <a:srgbClr val="0F172A"/>
                </a:solidFill>
                <a:latin typeface="Inter"/>
              </a:rPr>
              <a:t>Overtemperature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3364992"/>
            <a:ext cx="5797296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00">
                <a:solidFill>
                  <a:srgbClr val="0F172A"/>
                </a:solidFill>
                <a:latin typeface="Inter"/>
              </a:rPr>
              <a:t>Below 0.50 the model abstains — no alert is raised.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00">
                <a:solidFill>
                  <a:srgbClr val="0F172A"/>
                </a:solidFill>
                <a:latin typeface="Inter"/>
              </a:rPr>
              <a:t>0.50–0.85 raises a logged warning, non-blocking for the operator.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00">
                <a:solidFill>
                  <a:srgbClr val="0F172A"/>
                </a:solidFill>
                <a:latin typeface="Inter"/>
              </a:rPr>
              <a:t>Above 0.85 becomes an alert with a corrective action.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00">
                <a:solidFill>
                  <a:srgbClr val="0F172A"/>
                </a:solidFill>
                <a:latin typeface="Inter"/>
              </a:rPr>
              <a:t>A confident wrong answer is worse than an honest abstention.</a:t>
            </a:r>
          </a:p>
        </p:txBody>
      </p:sp>
      <p:pic>
        <p:nvPicPr>
          <p:cNvPr id="27" name="Picture 26" descr="fig_confidence_ban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8794" y="1572768"/>
            <a:ext cx="3260585" cy="1417320"/>
          </a:xfrm>
          <a:prstGeom prst="rect">
            <a:avLst/>
          </a:prstGeom>
        </p:spPr>
      </p:pic>
      <p:pic>
        <p:nvPicPr>
          <p:cNvPr id="28" name="Picture 27" descr="fig_confusion_matri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64221" y="3182112"/>
            <a:ext cx="3389731" cy="301752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The seventh case: a fault we have never seen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5797296" cy="2788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00">
                <a:solidFill>
                  <a:srgbClr val="0F172A"/>
                </a:solidFill>
                <a:latin typeface="Inter"/>
              </a:rPr>
              <a:t>A six-class model will force every input into one of six.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00">
                <a:solidFill>
                  <a:srgbClr val="0F172A"/>
                </a:solidFill>
                <a:latin typeface="Inter"/>
              </a:rPr>
              <a:t>An unseen failure mode gets a confident, wrong label.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00">
                <a:solidFill>
                  <a:srgbClr val="0F172A"/>
                </a:solidFill>
                <a:latin typeface="Inter"/>
              </a:rPr>
              <a:t>An IsolationForest gate sits in front of the classifier.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00">
                <a:solidFill>
                  <a:srgbClr val="0F172A"/>
                </a:solidFill>
                <a:latin typeface="Inter"/>
              </a:rPr>
              <a:t>Score below threshold routes the window to UNKNOWN_FAULT_OOD.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00">
                <a:solidFill>
                  <a:srgbClr val="0F172A"/>
                </a:solidFill>
                <a:latin typeface="Inter"/>
              </a:rPr>
              <a:t>Tested on 49 in-distribution and 49 synthetic-unknown windows.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663440"/>
            <a:ext cx="5797296" cy="135331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68096" y="4791456"/>
            <a:ext cx="539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B45309"/>
                </a:solidFill>
                <a:latin typeface="Inter"/>
              </a:rPr>
              <a:t>THE TRADE WE CHOSE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065776"/>
            <a:ext cx="5394959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250" b="0">
                <a:solidFill>
                  <a:srgbClr val="0F172A"/>
                </a:solidFill>
                <a:latin typeface="Inter"/>
              </a:rPr>
              <a:t>We tuned the gate for zero false positives. It never wrongly rejects a known-good window — and it only catches one unknown in four. On a safety dashboard, that is the right way round.</a:t>
            </a:r>
          </a:p>
        </p:txBody>
      </p:sp>
      <p:pic>
        <p:nvPicPr>
          <p:cNvPr id="11" name="Picture 10" descr="fig_ood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3512" y="1929384"/>
            <a:ext cx="4271151" cy="2148840"/>
          </a:xfrm>
          <a:prstGeom prst="rect">
            <a:avLst/>
          </a:prstGeom>
        </p:spPr>
      </p:pic>
      <p:pic>
        <p:nvPicPr>
          <p:cNvPr id="12" name="Picture 11" descr="diag_confidence_lad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7357" y="4215383"/>
            <a:ext cx="4683459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Three tiers, no single point of failure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17904"/>
            <a:ext cx="5797296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Tier 1 — JBD BMS senses eight cell taps and four NTCs.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Tier 2 — Pi 5 runs logger, XGBoost inference and dashboard.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Tier 3 — Arduino Uno R4 watches the Pi's heartbeat.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Missed heartbeat pulls the RUN pin and resets the Pi.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Inference stays at the edge: no link, no safety gap.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718304"/>
            <a:ext cx="5797296" cy="118872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68096" y="4846320"/>
            <a:ext cx="539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E7490"/>
                </a:solidFill>
                <a:latin typeface="Inter"/>
              </a:rPr>
              <a:t>ACCELERATION PATH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120640"/>
            <a:ext cx="5394959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300" b="0">
                <a:solidFill>
                  <a:srgbClr val="0F172A"/>
                </a:solidFill>
                <a:latin typeface="Inter"/>
              </a:rPr>
              <a:t>Zynq-7000 SoC moves the same tree traversal into programmable logic, freeing the CPU for the dashboard and the BLE link.</a:t>
            </a:r>
          </a:p>
        </p:txBody>
      </p:sp>
      <p:pic>
        <p:nvPicPr>
          <p:cNvPr id="11" name="Picture 10" descr="diag_hardw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1467953"/>
            <a:ext cx="4931359" cy="2742516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7086990" y="4352544"/>
            <a:ext cx="1587074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3" name="Picture 12" descr="p06_img1_x51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5862" y="4471416"/>
            <a:ext cx="1349330" cy="1179576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9542320" y="4352544"/>
            <a:ext cx="1790653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Picture 14" descr="p06_img2_x52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61192" y="4471416"/>
            <a:ext cx="1552909" cy="117957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693408" y="5797296"/>
            <a:ext cx="23742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Raspberry Pi 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0527" y="5797296"/>
            <a:ext cx="23742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Arduino Uno R4 WiFi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How the whole thing fits together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14</a:t>
            </a:r>
          </a:p>
        </p:txBody>
      </p:sp>
      <p:pic>
        <p:nvPicPr>
          <p:cNvPr id="7" name="Picture 6" descr="diag_system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5340" y="1536192"/>
            <a:ext cx="7261013" cy="30632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66928" y="4754880"/>
            <a:ext cx="3539642" cy="12984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566928" y="4754880"/>
            <a:ext cx="3539642" cy="59436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8096" y="4901184"/>
            <a:ext cx="313730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1">
                <a:solidFill>
                  <a:srgbClr val="0E7490"/>
                </a:solidFill>
                <a:latin typeface="Inter"/>
              </a:rPr>
              <a:t>EDGE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175504"/>
            <a:ext cx="3137306" cy="804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Sampling, feature engineering and inference all happen on the pack. The Pi never needs the network to keep the pack safe.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26026" y="4754880"/>
            <a:ext cx="3539642" cy="12984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4326026" y="4754880"/>
            <a:ext cx="3539642" cy="59436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4527194" y="4901184"/>
            <a:ext cx="313730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1">
                <a:solidFill>
                  <a:srgbClr val="0E7490"/>
                </a:solidFill>
                <a:latin typeface="Inter"/>
              </a:rPr>
              <a:t>SERVICE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7194" y="5175504"/>
            <a:ext cx="3137306" cy="804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Flask exposes REST and server-sent events; PostgreSQL holds telemetry, cycle history and the active chemistry profile.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85124" y="4754880"/>
            <a:ext cx="3539642" cy="12984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8085124" y="4754880"/>
            <a:ext cx="3539642" cy="59436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286292" y="4901184"/>
            <a:ext cx="313730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1">
                <a:solidFill>
                  <a:srgbClr val="B91C1C"/>
                </a:solidFill>
                <a:latin typeface="Inter"/>
              </a:rPr>
              <a:t>INTERFACE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86292" y="5175504"/>
            <a:ext cx="3137306" cy="804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Three browser surfaces over one Cloudflare tunnel — no inbound port is ever opened on the Pi.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The dashboard an operator actually reads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17904"/>
            <a:ext cx="5797296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Flask on the Pi, exposed over a Cloudflare tunnel.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Live per-cell voltages, pack current and four temperature zones.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Charge and discharge ETA smoothed with an EMA filter.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Driving context from current magnitude at T versus T-1.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Alert history logs value, threshold, severity and resolution time.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736592"/>
            <a:ext cx="5797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E7490"/>
                </a:solidFill>
                <a:latin typeface="Inter"/>
              </a:rPr>
              <a:t>FOUR-MODE DRIVING CONTEXT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5047488"/>
            <a:ext cx="1353312" cy="566928"/>
          </a:xfrm>
          <a:prstGeom prst="rect">
            <a:avLst/>
          </a:prstGeom>
          <a:solidFill>
            <a:srgbClr val="FFFFFF"/>
          </a:solidFill>
          <a:ln w="15875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66928" y="5047488"/>
            <a:ext cx="135331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400" b="1">
                <a:solidFill>
                  <a:srgbClr val="475569"/>
                </a:solidFill>
                <a:latin typeface="Inter"/>
              </a:rPr>
              <a:t>IDLE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48256" y="5047488"/>
            <a:ext cx="1353312" cy="566928"/>
          </a:xfrm>
          <a:prstGeom prst="rect">
            <a:avLst/>
          </a:prstGeom>
          <a:solidFill>
            <a:srgbClr val="FFFFFF"/>
          </a:solidFill>
          <a:ln w="15875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2048256" y="5047488"/>
            <a:ext cx="135331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400" b="1">
                <a:solidFill>
                  <a:srgbClr val="B91C1C"/>
                </a:solidFill>
                <a:latin typeface="Inter"/>
              </a:rPr>
              <a:t>ACCEL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29584" y="5047488"/>
            <a:ext cx="1353312" cy="566928"/>
          </a:xfrm>
          <a:prstGeom prst="rect">
            <a:avLst/>
          </a:prstGeom>
          <a:solidFill>
            <a:srgbClr val="FFFFFF"/>
          </a:solidFill>
          <a:ln w="15875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3529584" y="5047488"/>
            <a:ext cx="135331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400" b="1">
                <a:solidFill>
                  <a:srgbClr val="0E7490"/>
                </a:solidFill>
                <a:latin typeface="Inter"/>
              </a:rPr>
              <a:t>CRUISE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10912" y="5047488"/>
            <a:ext cx="1353312" cy="566928"/>
          </a:xfrm>
          <a:prstGeom prst="rect">
            <a:avLst/>
          </a:prstGeom>
          <a:solidFill>
            <a:srgbClr val="FFFFFF"/>
          </a:solidFill>
          <a:ln w="1587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010912" y="5047488"/>
            <a:ext cx="135331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400" b="1">
                <a:solidFill>
                  <a:srgbClr val="B45309"/>
                </a:solidFill>
                <a:latin typeface="Inter"/>
              </a:rPr>
              <a:t>DECEL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5724144"/>
            <a:ext cx="57972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>
                <a:solidFill>
                  <a:srgbClr val="475569"/>
                </a:solidFill>
                <a:latin typeface="Inter"/>
              </a:rPr>
              <a:t>Thresholds follow the mode — a sag under ACCEL is not a sag at IDLE.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93408" y="1610461"/>
            <a:ext cx="4931359" cy="200944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9" name="Picture 18" descr="p07_img1_x6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1729333"/>
            <a:ext cx="4693615" cy="1771700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6693408" y="3853669"/>
            <a:ext cx="4931359" cy="1857285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1" name="Picture 20" descr="p08_img2_x6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3972541"/>
            <a:ext cx="4693615" cy="1619541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693408" y="5797296"/>
            <a:ext cx="49313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Live sensing tiles (top) and the critical-alarm path (bottom)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Context is a feature, not a label on a chart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54480"/>
            <a:ext cx="5797296" cy="2331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00">
                <a:solidFill>
                  <a:srgbClr val="0F172A"/>
                </a:solidFill>
                <a:latin typeface="Inter"/>
              </a:rPr>
              <a:t>Four NTCs diverge by up to 8.3 °C within one pack.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00">
                <a:solidFill>
                  <a:srgbClr val="0F172A"/>
                </a:solidFill>
                <a:latin typeface="Inter"/>
              </a:rPr>
              <a:t>That spread is fed to the model as ntc_spread.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00">
                <a:solidFill>
                  <a:srgbClr val="0F172A"/>
                </a:solidFill>
                <a:latin typeface="Inter"/>
              </a:rPr>
              <a:t>Mode is set from |I(T)| versus |I(T-1)|, with hysteresis.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00">
                <a:solidFill>
                  <a:srgbClr val="0F172A"/>
                </a:solidFill>
                <a:latin typeface="Inter"/>
              </a:rPr>
              <a:t>Five-sample hysteresis stops mode flapping on noise.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3986784"/>
            <a:ext cx="5797296" cy="202996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68096" y="4114800"/>
            <a:ext cx="539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E7490"/>
                </a:solidFill>
                <a:latin typeface="Inter"/>
              </a:rPr>
              <a:t>WHY THE MODEL CARES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4389120"/>
            <a:ext cx="5394959" cy="14996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250" b="0">
                <a:solidFill>
                  <a:srgbClr val="0F172A"/>
                </a:solidFill>
                <a:latin typeface="Inter"/>
              </a:rPr>
              <a:t>mode_IDLE, mode_DECEL and mode_CRUISE together carry 12.4% of the model's total gain, and ntc_spread another 5.0%. Nearly a fifth of the decision comes from context the pack-level sensors alone could never provide.</a:t>
            </a:r>
          </a:p>
        </p:txBody>
      </p:sp>
      <p:pic>
        <p:nvPicPr>
          <p:cNvPr id="11" name="Picture 10" descr="fig_thermal_zon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1336" y="1444752"/>
            <a:ext cx="3615503" cy="2834640"/>
          </a:xfrm>
          <a:prstGeom prst="rect">
            <a:avLst/>
          </a:prstGeom>
        </p:spPr>
      </p:pic>
      <p:pic>
        <p:nvPicPr>
          <p:cNvPr id="12" name="Picture 11" descr="fig_driving_mod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36681" y="4352544"/>
            <a:ext cx="2644811" cy="169164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Comparing this cycle against every cycle before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54480"/>
            <a:ext cx="5797296" cy="2788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00">
                <a:solidFill>
                  <a:srgbClr val="0F172A"/>
                </a:solidFill>
                <a:latin typeface="Inter"/>
              </a:rPr>
              <a:t>39 cycles logged: 21 discharge, 18 charge.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00">
                <a:solidFill>
                  <a:srgbClr val="0F172A"/>
                </a:solidFill>
                <a:latin typeface="Inter"/>
              </a:rPr>
              <a:t>Every cycle scored 1.0 on data quality; zero alerts raised.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00">
                <a:solidFill>
                  <a:srgbClr val="0F172A"/>
                </a:solidFill>
                <a:latin typeface="Inter"/>
              </a:rPr>
              <a:t>Expected sag is computed from load, then compared to actual.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00">
                <a:solidFill>
                  <a:srgbClr val="0F172A"/>
                </a:solidFill>
                <a:latin typeface="Inter"/>
              </a:rPr>
              <a:t>Deviation from history flags degradation before a threshold breaks.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00">
                <a:solidFill>
                  <a:srgbClr val="0F172A"/>
                </a:solidFill>
                <a:latin typeface="Inter"/>
              </a:rPr>
              <a:t>Balancing is visible: end-of-cycle spread falls below start.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828032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66928" y="4919472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285232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cycles logged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52827" y="4828032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2052827" y="4919472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21 / 18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52827" y="5285232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discharge / charge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38727" y="4828032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538727" y="4919472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1.0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38727" y="5285232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data quality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4627" y="4828032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024627" y="4919472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475569"/>
                </a:solidFill>
                <a:latin typeface="Inter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4627" y="5285232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alerts raised</a:t>
            </a:r>
          </a:p>
        </p:txBody>
      </p:sp>
      <p:pic>
        <p:nvPicPr>
          <p:cNvPr id="20" name="Picture 19" descr="fig_cycle_his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1969675"/>
            <a:ext cx="4931359" cy="2754057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7879732" y="5010912"/>
            <a:ext cx="255871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2" name="Picture 21" descr="p07_img2_x62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98604" y="5129784"/>
            <a:ext cx="2320966" cy="996696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Two uploads is the entire onboarding flow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54480"/>
            <a:ext cx="5797296" cy="2788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00">
                <a:solidFill>
                  <a:srgbClr val="0F172A"/>
                </a:solidFill>
                <a:latin typeface="Inter"/>
              </a:rPr>
              <a:t>Drop the manufacturer PDF: chemistry and limits are parsed out.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00">
                <a:solidFill>
                  <a:srgbClr val="0F172A"/>
                </a:solidFill>
                <a:latin typeface="Inter"/>
              </a:rPr>
              <a:t>Drop a CSV or XLSX: the dataset is profiled and previewed.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00">
                <a:solidFill>
                  <a:srgbClr val="0F172A"/>
                </a:solidFill>
                <a:latin typeface="Inter"/>
              </a:rPr>
              <a:t>No YAML, no config file, no redeploy, no developer.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00">
                <a:solidFill>
                  <a:srgbClr val="0F172A"/>
                </a:solidFill>
                <a:latin typeface="Inter"/>
              </a:rPr>
              <a:t>Parsed values are editable before they become the active profile.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00">
                <a:solidFill>
                  <a:srgbClr val="0F172A"/>
                </a:solidFill>
                <a:latin typeface="Inter"/>
              </a:rPr>
              <a:t>The same screen feeds both the thresholds and the retrainer.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828032"/>
            <a:ext cx="5797296" cy="120700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68096" y="4956048"/>
            <a:ext cx="539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E7490"/>
                </a:solidFill>
                <a:latin typeface="Inter"/>
              </a:rPr>
              <a:t>WHAT GETS EXTRACTED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230368"/>
            <a:ext cx="539495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200" b="0">
                <a:solidFill>
                  <a:srgbClr val="0F172A"/>
                </a:solidFill>
                <a:latin typeface="Inter"/>
              </a:rPr>
              <a:t>Manufacturer · cell model · chemistry · V_nom · V_max · V_min · nominal capacity · charge and discharge current limits · thermal envelopes.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84730" y="1929384"/>
            <a:ext cx="4148715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mock_battery_para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3602" y="2048256"/>
            <a:ext cx="3910971" cy="2093976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7530788" y="4443983"/>
            <a:ext cx="3256597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p09_img1_x7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49660" y="4562855"/>
            <a:ext cx="3018853" cy="145389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693408" y="6181344"/>
            <a:ext cx="49313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Upload screen, and the parsed result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Swap the chemistry, not the codebase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81328"/>
            <a:ext cx="5797296" cy="3035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8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550">
                <a:solidFill>
                  <a:srgbClr val="0F172A"/>
                </a:solidFill>
                <a:latin typeface="Inter"/>
              </a:rPr>
              <a:t>Upload a datasheet PDF; the parser reads the limits.</a:t>
            </a:r>
          </a:p>
          <a:p>
            <a:pPr marL="274320" indent="-274320">
              <a:lnSpc>
                <a:spcPct val="116000"/>
              </a:lnSpc>
              <a:spcAft>
                <a:spcPts val="8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550">
                <a:solidFill>
                  <a:srgbClr val="0F172A"/>
                </a:solidFill>
                <a:latin typeface="Inter"/>
              </a:rPr>
              <a:t>Extracts V_nom, V_max, V_min, capacity, current, thermal.</a:t>
            </a:r>
          </a:p>
          <a:p>
            <a:pPr marL="274320" indent="-274320">
              <a:lnSpc>
                <a:spcPct val="116000"/>
              </a:lnSpc>
              <a:spcAft>
                <a:spcPts val="8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550">
                <a:solidFill>
                  <a:srgbClr val="0F172A"/>
                </a:solidFill>
                <a:latin typeface="Inter"/>
              </a:rPr>
              <a:t>Pack sizing derives S and P from the bus target.</a:t>
            </a:r>
          </a:p>
          <a:p>
            <a:pPr marL="274320" indent="-274320">
              <a:lnSpc>
                <a:spcPct val="116000"/>
              </a:lnSpc>
              <a:spcAft>
                <a:spcPts val="8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550">
                <a:solidFill>
                  <a:srgbClr val="0F172A"/>
                </a:solidFill>
                <a:latin typeface="Inter"/>
              </a:rPr>
              <a:t>Tiering: NMC reuse, NCA/LCO shift, LFP remap, LTO rescale.</a:t>
            </a:r>
          </a:p>
          <a:p>
            <a:pPr marL="274320" indent="-274320">
              <a:lnSpc>
                <a:spcPct val="116000"/>
              </a:lnSpc>
              <a:spcAft>
                <a:spcPts val="8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550">
                <a:solidFill>
                  <a:srgbClr val="0F172A"/>
                </a:solidFill>
                <a:latin typeface="Inter"/>
              </a:rPr>
              <a:t>Overvoltage warns 95%, critical 100%; overcurrent 90%.</a:t>
            </a:r>
          </a:p>
          <a:p>
            <a:pPr marL="274320" indent="-274320">
              <a:lnSpc>
                <a:spcPct val="116000"/>
              </a:lnSpc>
              <a:spcAft>
                <a:spcPts val="8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550">
                <a:solidFill>
                  <a:srgbClr val="0F172A"/>
                </a:solidFill>
                <a:latin typeface="Inter"/>
              </a:rPr>
              <a:t>active_profile.json and PostgreSQL sync live, no restart.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882896"/>
            <a:ext cx="5797296" cy="106070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68096" y="4992624"/>
            <a:ext cx="539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B45309"/>
                </a:solidFill>
                <a:latin typeface="Inter"/>
              </a:rPr>
              <a:t>IN-BROWSER RETRAINING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248656"/>
            <a:ext cx="5394959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300" b="0">
                <a:solidFill>
                  <a:srgbClr val="0F172A"/>
                </a:solidFill>
                <a:latin typeface="Inter"/>
              </a:rPr>
              <a:t>Upload field telemetry from the new pack and retrain XGBoost from the dashboard — the adaptation loop closes without a developer.</a:t>
            </a:r>
          </a:p>
        </p:txBody>
      </p:sp>
      <p:pic>
        <p:nvPicPr>
          <p:cNvPr id="11" name="Picture 10" descr="diag_configura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052450"/>
            <a:ext cx="2212848" cy="2935978"/>
          </a:xfrm>
          <a:prstGeom prst="rect">
            <a:avLst/>
          </a:prstGeom>
        </p:spPr>
      </p:pic>
      <p:pic>
        <p:nvPicPr>
          <p:cNvPr id="12" name="Picture 11" descr="diag_chemistry_tier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89136" y="1489041"/>
            <a:ext cx="2535631" cy="4062796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What we would build next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20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463040"/>
            <a:ext cx="11057839" cy="74980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463040"/>
            <a:ext cx="68580" cy="749808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77824" y="1545336"/>
            <a:ext cx="3794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00" b="1">
                <a:solidFill>
                  <a:srgbClr val="0F172A"/>
                </a:solidFill>
                <a:latin typeface="Inter"/>
              </a:rPr>
              <a:t>Close the Cell Imbalance gap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64608" y="1536192"/>
            <a:ext cx="6440119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65% recall is the weakest class. More real imbalance events, not more synthetic ones.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322576"/>
            <a:ext cx="11057839" cy="74980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566928" y="2322576"/>
            <a:ext cx="68580" cy="749808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77824" y="2404872"/>
            <a:ext cx="3794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00" b="1">
                <a:solidFill>
                  <a:srgbClr val="0F172A"/>
                </a:solidFill>
                <a:latin typeface="Inter"/>
              </a:rPr>
              <a:t>Lift OOD recall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4608" y="2395728"/>
            <a:ext cx="6440119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The gate never cries wolf, but catches one unknown in four. A tighter score threshold trades that off.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182112"/>
            <a:ext cx="11057839" cy="74980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182112"/>
            <a:ext cx="68580" cy="749808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77824" y="3264408"/>
            <a:ext cx="3794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00" b="1">
                <a:solidFill>
                  <a:srgbClr val="0F172A"/>
                </a:solidFill>
                <a:latin typeface="Inter"/>
              </a:rPr>
              <a:t>Move inference to the Zynq-7000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64608" y="3255264"/>
            <a:ext cx="6440119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Tree traversal in programmable logic frees the CPU for the dashboard and the BLE link.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4041648"/>
            <a:ext cx="11057839" cy="74980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566928" y="4041648"/>
            <a:ext cx="68580" cy="749808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77824" y="4123944"/>
            <a:ext cx="3794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00" b="1">
                <a:solidFill>
                  <a:srgbClr val="0F172A"/>
                </a:solidFill>
                <a:latin typeface="Inter"/>
              </a:rPr>
              <a:t>Characterise a second chemistry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64608" y="4114800"/>
            <a:ext cx="6440119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LFP is remapped from its datasheet; it has not been driven on a bench the way NMC has.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4901183"/>
            <a:ext cx="11057839" cy="74980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66928" y="4901183"/>
            <a:ext cx="68580" cy="749808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877824" y="4983479"/>
            <a:ext cx="3794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00" b="1">
                <a:solidFill>
                  <a:srgbClr val="0F172A"/>
                </a:solidFill>
                <a:latin typeface="Inter"/>
              </a:rPr>
              <a:t>SOH and remaining useful life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64608" y="4974336"/>
            <a:ext cx="6440119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dV/dt during CC-CV charging is the signal; the 39-cycle history is the starting corpus.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5815583"/>
            <a:ext cx="1105783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00" b="1">
                <a:solidFill>
                  <a:srgbClr val="0E7490"/>
                </a:solidFill>
                <a:latin typeface="Inter"/>
              </a:rPr>
              <a:t>Everything shown today is reproducible from this repository — figures, model and deck all rebuild from source.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