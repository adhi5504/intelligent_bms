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are Team ANS_4X from PSG Institute of Technology and Applied</a:t>
            </a:r>
          </a:p>
          <a:p>
            <a:r>
              <a:t>Research. What we are presenting is not a slide-deck concept — it is a working</a:t>
            </a:r>
          </a:p>
          <a:p>
            <a:r>
              <a:t>system. A physical 8S2P lithium-ion pack, instrumented end to end, feeding a</a:t>
            </a:r>
          </a:p>
          <a:p>
            <a:r>
              <a:t>machine-learning fault classifier that runs on the pack itself, behind a web</a:t>
            </a:r>
          </a:p>
          <a:p>
            <a:r>
              <a:t>platform you can open in a browser right now. Over the next ten minutes I will</a:t>
            </a:r>
          </a:p>
          <a:p>
            <a:r>
              <a:t>walk you from the cells, through the data, through the model, to the interface</a:t>
            </a:r>
          </a:p>
          <a:p>
            <a:r>
              <a:t>on the right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current. That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dataset. An 8S2P NMC pack, a JBD BMS on all</a:t>
            </a:r>
          </a:p>
          <a:p>
            <a:r>
              <a:t>eight taps, a programmable supply charging and an electronic load discharging.</a:t>
            </a:r>
          </a:p>
          <a:p>
            <a:r>
              <a:t>Around fifty cycles, three hours each, over a hundred hours logged, roughly</a:t>
            </a:r>
          </a:p>
          <a:p>
            <a:r>
              <a:t>155,000 rows. Every number in this deck came off that 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chart in the deck. Eight cell voltages over</a:t>
            </a:r>
          </a:p>
          <a:p>
            <a:r>
              <a:t>forty minutes of real logged discharge. Seven of them track each other closely —</a:t>
            </a:r>
          </a:p>
          <a:p>
            <a:r>
              <a:t>that is the grey band. The red trace is cell one, sitting 289 millivolts below</a:t>
            </a:r>
          </a:p>
          <a:p>
            <a:r>
              <a:t>its neighbours for the entire cycle, and the gap widens under load. A</a:t>
            </a:r>
          </a:p>
          <a:p>
            <a:r>
              <a:t>pack-level voltmeter would read thirty and a half volts here and call the pack</a:t>
            </a:r>
          </a:p>
          <a:p>
            <a:r>
              <a:t>healthy. Cell one is the one that will hit the undervoltage cutoff first. That</a:t>
            </a:r>
          </a:p>
          <a:p>
            <a:r>
              <a:t>is the case for per-cell sensing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wants. Two in parallel</a:t>
            </a:r>
          </a:p>
          <a:p>
            <a:r>
              <a:t>gives eight amp-hours and, just as importantly, the current headroom to run</a:t>
            </a:r>
          </a:p>
          <a:p>
            <a:r>
              <a:t>realistic discharge profiles without abusing individual cells. Sixteen LG</a:t>
            </a:r>
          </a:p>
          <a:p>
            <a:r>
              <a:t>INR21700-M50 cells in total. And eight series groups means eight sense taps,</a:t>
            </a:r>
          </a:p>
          <a:p>
            <a:r>
              <a:t>which is what makes imbalance a measurement rather than an inference. Four</a:t>
            </a:r>
          </a:p>
          <a:p>
            <a:r>
              <a:t>thermistors on top of that give us spatial thermal resolution — we can tell</a:t>
            </a:r>
          </a:p>
          <a:p>
            <a:r>
              <a:t>which end of the pack is running hot, not just that it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with a single RC branch. It captured the instant ohmic drop but</a:t>
            </a:r>
          </a:p>
          <a:p>
            <a:r>
              <a:t>consistently missed the slow recovery after a load step. Adding a second branch</a:t>
            </a:r>
          </a:p>
          <a:p>
            <a:r>
              <a:t>fixed that — a fast branch at about 0.18 seconds and a slow one at about 1.05</a:t>
            </a:r>
          </a:p>
          <a:p>
            <a:r>
              <a:t>seconds. All five parameters were fitted on a clean four-thousand-second HPPC</a:t>
            </a:r>
          </a:p>
          <a:p>
            <a:r>
              <a:t>segment. The chart below is the measured open-circuit voltage curve from that</a:t>
            </a:r>
          </a:p>
          <a:p>
            <a:r>
              <a:t>same estimation. It moves 13.4 millivolts per percent of state of charge, which</a:t>
            </a:r>
          </a:p>
          <a:p>
            <a:r>
              <a:t>means voltage is a usable observer of charge state on this chemistry. Hold that</a:t>
            </a:r>
          </a:p>
          <a:p>
            <a:r>
              <a:t>thought — it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purpose: BMS, BLE through bleak, jbd_logger v9. Two</a:t>
            </a:r>
          </a:p>
          <a:p>
            <a:r>
              <a:t>things bit us. BLE fragments long responses across frames, so early logs were</a:t>
            </a:r>
          </a:p>
          <a:p>
            <a:r>
              <a:t>silently truncated — we now reassemble before parsing. And the four thermistors</a:t>
            </a:r>
          </a:p>
          <a:p>
            <a:r>
              <a:t>were read at the wrong byte offset, scrambling the thermal channels. The bigger</a:t>
            </a:r>
          </a:p>
          <a:p>
            <a:r>
              <a:t>problem was the labelling: because cell one is chronically low, a rule-based</a:t>
            </a:r>
          </a:p>
          <a:p>
            <a:r>
              <a:t>labeller marked over seventy percent of rows as Cell Imbalance. We fixed that</a:t>
            </a:r>
          </a:p>
          <a:p>
            <a:r>
              <a:t>with physics-informed synthetic faults rather than throwing real rows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BMS frame gives us seventeen raw channels. We derive fifty-one features from</a:t>
            </a:r>
          </a:p>
          <a:p>
            <a:r>
              <a:t>them: rolling means and standard deviations over a ten-sample window, first</a:t>
            </a:r>
          </a:p>
          <a:p>
            <a:r>
              <a:t>derivatives of voltage, current, charge state and temperature, per-cell rise and</a:t>
            </a:r>
          </a:p>
          <a:p>
            <a:r>
              <a:t>drop rates, the four one-hot driving modes and the thermistor spread. The chart</a:t>
            </a:r>
          </a:p>
          <a:p>
            <a:r>
              <a:t>on the right is not our opinion — it is read straight out of the trained model.</a:t>
            </a:r>
          </a:p>
          <a:p>
            <a:r>
              <a:t>Rolling voltage standard deviation dominates at fourteen percent, and notice the</a:t>
            </a:r>
          </a:p>
          <a:p>
            <a:r>
              <a:t>orange bars: the driving-mode flags account for twelve percent between them.</a:t>
            </a:r>
          </a:p>
          <a:p>
            <a:r>
              <a:t>Context genuinely matters to this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Given that skew, the training set had to be constructed rather than just</a:t>
            </a:r>
          </a:p>
          <a:p>
            <a:r>
              <a:t>collected. Real Normal rows anchor what healthy operation looks like. On top of</a:t>
            </a:r>
          </a:p>
          <a:p>
            <a:r>
              <a:t>that we generate synthetic faults — but generated against the datasheet safety</a:t>
            </a:r>
          </a:p>
          <a:p>
            <a:r>
              <a:t>limits, so an overvoltage sample is physically plausible rather than random</a:t>
            </a:r>
          </a:p>
          <a:p>
            <a:r>
              <a:t>noise. That gets us to 208,010 rows, roughly half real and half synthetic, split</a:t>
            </a:r>
          </a:p>
          <a:p>
            <a:r>
              <a:t>seventy-fifteen-fifteen. The thirty-thousand-row test split is untouched until</a:t>
            </a:r>
          </a:p>
          <a:p>
            <a:r>
              <a:t>final evaluation, and every number on the next two slides comes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Tabular sensor data with fifty-one engineered features is what gradient-boosted</a:t>
            </a:r>
          </a:p>
          <a:p>
            <a:r>
              <a:t>trees are good at, and each alternative fails a constraint we actually have. The</a:t>
            </a:r>
          </a:p>
          <a:p>
            <a:r>
              <a:t>Transformer and the LSTM need a sequence buffer — latency and memory we do not</a:t>
            </a:r>
          </a:p>
          <a:p>
            <a:r>
              <a:t>have — and neither gives an attribution an engineer can argue with. Random</a:t>
            </a:r>
          </a:p>
          <a:p>
            <a:r>
              <a:t>Forest needs a much bigger model for the same accuracy. A rule-based BMS only</a:t>
            </a:r>
          </a:p>
          <a:p>
            <a:r>
              <a:t>reacts after a threshold is already breached. XGBoost: 98.55 percent, 0.85</a:t>
            </a:r>
          </a:p>
          <a:p>
            <a:r>
              <a:t>milliseconds on the Pi 5,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honest breakdown. Normal, Overvoltage and Overtemperature all clear</a:t>
            </a:r>
          </a:p>
          <a:p>
            <a:r>
              <a:t>ninety-seven percent F1 — those classes are solved. Cell Imbalance recall is</a:t>
            </a:r>
          </a:p>
          <a:p>
            <a:r>
              <a:t>sixty-five percent, and that is the weakest number in this deck. Look at where</a:t>
            </a:r>
          </a:p>
          <a:p>
            <a:r>
              <a:t>the misses go: twenty-eight point six percent of true imbalance samples get</a:t>
            </a:r>
          </a:p>
          <a:p>
            <a:r>
              <a:t>predicted as Undervoltage. That is not a random error. A sagging weak cell and</a:t>
            </a:r>
          </a:p>
          <a:p>
            <a:r>
              <a:t>an undervoltage event share a signature — one cell drops and the pack voltage</a:t>
            </a:r>
          </a:p>
          <a:p>
            <a:r>
              <a:t>follows. Separating them needs more real imbalance events, and that is what our</a:t>
            </a:r>
          </a:p>
          <a:p>
            <a:r>
              <a:t>next data campaign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classes. The part I care more about is the confidence framework around them.</a:t>
            </a:r>
          </a:p>
          <a:p>
            <a:r>
              <a:t>The classifier returns a probability and we split it three ways. Below 0.50 we</a:t>
            </a:r>
          </a:p>
          <a:p>
            <a:r>
              <a:t>abstain outright — nothing is raised and the sample goes for review. Between</a:t>
            </a:r>
          </a:p>
          <a:p>
            <a:r>
              <a:t>0.50 and 0.85 we log a warning that does not block the operator. Only above 0.85</a:t>
            </a:r>
          </a:p>
          <a:p>
            <a:r>
              <a:t>do we raise an alert with a corrective action. In a safety-critical system a</a:t>
            </a:r>
          </a:p>
          <a:p>
            <a:r>
              <a:t>confidently wrong prediction is worse than none: an abstention sends someone to</a:t>
            </a:r>
          </a:p>
          <a:p>
            <a:r>
              <a:t>look, a false alert teaches them to ignore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a failure mode every classifier has: give it something it has never</a:t>
            </a:r>
          </a:p>
          <a:p>
            <a:r>
              <a:t>seen, and it will still return one of its six labels, often confidently. So</a:t>
            </a:r>
          </a:p>
          <a:p>
            <a:r>
              <a:t>before the classifier runs, an IsolationForest scores the window. If that score</a:t>
            </a:r>
          </a:p>
          <a:p>
            <a:r>
              <a:t>falls below threshold, we do not classify at all — we flag it as an unknown</a:t>
            </a:r>
          </a:p>
          <a:p>
            <a:r>
              <a:t>fault and escalate. Tested on forty-nine in-distribution and forty-nine</a:t>
            </a:r>
          </a:p>
          <a:p>
            <a:r>
              <a:t>synthetic-unknown windows: AUROC of 0.913, one hundred percent precision, zero</a:t>
            </a:r>
          </a:p>
          <a:p>
            <a:r>
              <a:t>false positives. It catches one unknown in four. We tuned it that way</a:t>
            </a:r>
          </a:p>
          <a:p>
            <a:r>
              <a:t>deliberately — on a safety dashboard, never crying wolf matters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JBD BMS senses: eight taps,</a:t>
            </a:r>
          </a:p>
          <a:p>
            <a:r>
              <a:t>four thermistors, pack voltage and current. The Pi 5 runs the logger, the</a:t>
            </a:r>
          </a:p>
          <a:p>
            <a:r>
              <a:t>inference and the dashboard. Inference sits at the edge deliberately — push it</a:t>
            </a:r>
          </a:p>
          <a:p>
            <a:r>
              <a:t>to a server and every network hiccup becomes an unmonitored window. The third</a:t>
            </a:r>
          </a:p>
          <a:p>
            <a:r>
              <a:t>tier exists because general-purpose computers hang. An Arduino on its own rail</a:t>
            </a:r>
          </a:p>
          <a:p>
            <a:r>
              <a:t>watches for a heartbeat and pulls the Pi's RUN pin if it stops. Zynq-7000 is our</a:t>
            </a:r>
          </a:p>
          <a:p>
            <a:r>
              <a:t>path to take inference off the CPU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slide. Three columns. On the edge, sampling,</a:t>
            </a:r>
          </a:p>
          <a:p>
            <a:r>
              <a:t>feature engineering and inference all happen on the pack itself — the Pi never</a:t>
            </a:r>
          </a:p>
          <a:p>
            <a:r>
              <a:t>needs the network to keep the battery safe. In the middle, a Flask service</a:t>
            </a:r>
          </a:p>
          <a:p>
            <a:r>
              <a:t>exposes REST and server-sent events, with PostgreSQL holding telemetry, cycle</a:t>
            </a:r>
          </a:p>
          <a:p>
            <a:r>
              <a:t>history and the active chemistry profile. On the right, three browser surfaces.</a:t>
            </a:r>
          </a:p>
          <a:p>
            <a:r>
              <a:t>All of it goes out through a Cloudflare tunnel, which means we never open an</a:t>
            </a:r>
          </a:p>
          <a:p>
            <a:r>
              <a:t>inbound port on the Pi — a reviewer can open the dashboard from anywhere and the</a:t>
            </a:r>
          </a:p>
          <a:p>
            <a:r>
              <a:t>attack surface stays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Flask on the Pi, published through a Cloudflare tunnel. It is</a:t>
            </a:r>
          </a:p>
          <a:p>
            <a:r>
              <a:t>operator-facing, not engineer-facing: live per-cell voltages, pack current with</a:t>
            </a:r>
          </a:p>
          <a:p>
            <a:r>
              <a:t>direction, four thermal zones, and a charge or discharge ETA smoothed with an</a:t>
            </a:r>
          </a:p>
          <a:p>
            <a:r>
              <a:t>EMA so it does not jitter. The piece worth noting is driving context. Four modes</a:t>
            </a:r>
          </a:p>
          <a:p>
            <a:r>
              <a:t>from the change in current magnitude between samples — because a voltage sag</a:t>
            </a:r>
          </a:p>
          <a:p>
            <a:r>
              <a:t>under hard acceleration is normal, and the same sag at idle is a fault.</a:t>
            </a:r>
          </a:p>
          <a:p>
            <a:r>
              <a:t>Thresholds follow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the model leans on that are easy to overlook. First, thermal</a:t>
            </a:r>
          </a:p>
          <a:p>
            <a:r>
              <a:t>resolution: the four thermistors diverge by as much as eight point three degrees</a:t>
            </a:r>
          </a:p>
          <a:p>
            <a:r>
              <a:t>within a single pack, and that spread goes into the model as a feature rather</a:t>
            </a:r>
          </a:p>
          <a:p>
            <a:r>
              <a:t>than just onto the dashboard. Second, operating mode, set from the change in</a:t>
            </a:r>
          </a:p>
          <a:p>
            <a:r>
              <a:t>current magnitude with a five-sample hysteresis so it does not flap on noise.</a:t>
            </a:r>
          </a:p>
          <a:p>
            <a:r>
              <a:t>Together, the mode flags and the thermal spread account for nearly a fifth of</a:t>
            </a:r>
          </a:p>
          <a:p>
            <a:r>
              <a:t>the model's total gain. That is context the pack-level sensors alone could never</a:t>
            </a:r>
          </a:p>
          <a:p>
            <a:r>
              <a:t>give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analytical layer is prognosis. We keep a history of every cycle the</a:t>
            </a:r>
          </a:p>
          <a:p>
            <a:r>
              <a:t>pack has run — thirty-nine so far, twenty-one discharge and eighteen charge, all</a:t>
            </a:r>
          </a:p>
          <a:p>
            <a:r>
              <a:t>scoring one point zero on data quality. For each live cycle the system computes</a:t>
            </a:r>
          </a:p>
          <a:p>
            <a:r>
              <a:t>an expected voltage sag from the load, then compares it to the actual sag. A</a:t>
            </a:r>
          </a:p>
          <a:p>
            <a:r>
              <a:t>cycle that sags worse than its own history is degrading, and we can say that</a:t>
            </a:r>
          </a:p>
          <a:p>
            <a:r>
              <a:t>long before any absolute threshold is breached. The chart on the right also</a:t>
            </a:r>
          </a:p>
          <a:p>
            <a:r>
              <a:t>shows the balancing working: end-of-cycle spread is consistently below</a:t>
            </a:r>
          </a:p>
          <a:p>
            <a:r>
              <a:t>start-of-cycle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onboarding flow in full. Two upload targets. Drop the manufacturer</a:t>
            </a:r>
          </a:p>
          <a:p>
            <a:r>
              <a:t>PDF and the parser pulls out chemistry, nominal, maximum and minimum voltage,</a:t>
            </a:r>
          </a:p>
          <a:p>
            <a:r>
              <a:t>capacity, current limits and thermal envelopes. Drop a CSV or spreadsheet and</a:t>
            </a:r>
          </a:p>
          <a:p>
            <a:r>
              <a:t>the dataset gets profiled and previewed. There is no YAML file, no redeploy and</a:t>
            </a:r>
          </a:p>
          <a:p>
            <a:r>
              <a:t>no developer in the loop. The parsed values land in an editable form — shown</a:t>
            </a:r>
          </a:p>
          <a:p>
            <a:r>
              <a:t>underneath — so an engineer can correct anything the parser got wrong before it</a:t>
            </a:r>
          </a:p>
          <a:p>
            <a:r>
              <a:t>becomes the active profile. That same screen feeds both the threshold matrix and</a:t>
            </a:r>
          </a:p>
          <a:p>
            <a:r>
              <a:t>the retrainer.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reusable. The parser pulls the limits, pack sizing derives</a:t>
            </a:r>
          </a:p>
          <a:p>
            <a:r>
              <a:t>the series and parallel counts, and then the chemistry gets tiered. NMC is</a:t>
            </a:r>
          </a:p>
          <a:p>
            <a:r>
              <a:t>direct reuse because that is what we characterised. NCA and LCO share the 4.2</a:t>
            </a:r>
          </a:p>
          <a:p>
            <a:r>
              <a:t>volt ceiling, so they only need a threshold shift. LFP needs a real remap to a</a:t>
            </a:r>
          </a:p>
          <a:p>
            <a:r>
              <a:t>2.50 to 3.65 volt window — remember that flat OCV curve. And LTO, at 2.4 volts</a:t>
            </a:r>
          </a:p>
          <a:p>
            <a:r>
              <a:t>nominal, needs every limit rescaled. Thresholds are two-tier, and the active</a:t>
            </a:r>
          </a:p>
          <a:p>
            <a:r>
              <a:t>profile syncs to PostgreSQL live with no server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close on what is not finished. Cell Imbalance recall sits at sixty-five</a:t>
            </a:r>
          </a:p>
          <a:p>
            <a:r>
              <a:t>percent — that is the weakest number in the deck and it needs real imbalance</a:t>
            </a:r>
          </a:p>
          <a:p>
            <a:r>
              <a:t>events, not more synthetic ones. The unknown-fault gate never raises a false</a:t>
            </a:r>
          </a:p>
          <a:p>
            <a:r>
              <a:t>alarm but only catches one unknown in four. The Zynq path would take inference</a:t>
            </a:r>
          </a:p>
          <a:p>
            <a:r>
              <a:t>off the CPU. LFP is remapped from a datasheet, not characterised on a bench.</a:t>
            </a:r>
          </a:p>
          <a:p>
            <a:r>
              <a:t>And state of health is the natural next model. Everything you have seen rebuilds</a:t>
            </a:r>
          </a:p>
          <a:p>
            <a:r>
              <a:t>from the repository — the figures, the model evaluation and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77824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CATERPILLAR TECH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43584"/>
            <a:ext cx="5669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E7490"/>
                </a:solidFill>
                <a:latin typeface="Inter"/>
              </a:rPr>
              <a:t>AI-PBMS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0240"/>
            <a:ext cx="5669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900" b="1">
                <a:solidFill>
                  <a:srgbClr val="0F172A"/>
                </a:solidFill>
                <a:latin typeface="Inter"/>
              </a:rPr>
              <a:t>AI-Powered Predictive
Battery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675887"/>
            <a:ext cx="1965960" cy="4114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502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>
                <a:solidFill>
                  <a:srgbClr val="475569"/>
                </a:solidFill>
                <a:latin typeface="Inter"/>
              </a:rPr>
              <a:t>An 8S2P lithium-ion pack, 155,000 rows of our own telemetry, and a six-class fault classifier running at the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Team ANS_4X  ·  PSG Institute of Technology and Applied Research, Coimbatore</a:t>
            </a:r>
          </a:p>
        </p:txBody>
      </p:sp>
      <p:pic>
        <p:nvPicPr>
          <p:cNvPr id="8" name="Picture 7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74604"/>
            <a:ext cx="5193792" cy="32344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0975" y="5577840"/>
            <a:ext cx="51937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The delivered platform — live monitor and configuration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797296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Programmable DC supply charges; electronic load drives discharge profiles.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Every row the model ever sees came from this rig.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charge–discharge cycles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cycle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supervised logging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4632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37759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0352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 logged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93408" y="1682610"/>
            <a:ext cx="4931359" cy="3748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01482"/>
            <a:ext cx="4693615" cy="3511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61441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8S2P pack, JBD BMS and programmable electronic load on the bench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a hundred hours of logging actually showed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 1 runs 289 mV below its neighbours,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Not noise, not a sensor fault — a genuinely weaker cell.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The gap widens under load and never fully recovers.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This one defect defined the whole labelling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4528"/>
            <a:ext cx="5797296" cy="17556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35254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THIS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26864"/>
            <a:ext cx="5394959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A pack-level voltmeter reads 30.5 V and reports a healthy pack. The same instant, cell 1 is 289 mV down and heading for the undervoltage cutoff first. Per-cell resolution is the difference between noticing and not noticing.</a:t>
            </a:r>
          </a:p>
        </p:txBody>
      </p:sp>
      <p:pic>
        <p:nvPicPr>
          <p:cNvPr id="11" name="Picture 10" descr="fig_cell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98048"/>
            <a:ext cx="4931359" cy="3503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8S2P, specifically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8S sets the 33.6 V nominal bus the drivetrain expects.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2P buys 8 Ah capacity and the current headroom.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Sixteen LG INR21700-M50 cells, 5000 mAh each.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Eight sense taps make imbalance observable, not inferred.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NTC thermistors give spatial thermal resolution.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33.6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nominal bus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8 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usable capacity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82896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74336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45309"/>
                </a:solidFill>
                <a:latin typeface="Inter"/>
              </a:rPr>
              <a:t>8 + 4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340096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 taps + NTCs</a:t>
            </a:r>
          </a:p>
        </p:txBody>
      </p:sp>
      <p:pic>
        <p:nvPicPr>
          <p:cNvPr id="20" name="Picture 19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439782"/>
            <a:ext cx="4931359" cy="2545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1RC to 2RC, and what OCV buys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9729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1RC caught the instant drop but missed slow recovery.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 second branch separates fast transient from slow relaxation.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Parameters fitted on a clean 0–4000 s HPPC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9300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475569"/>
                </a:solidFill>
                <a:latin typeface="Inter"/>
              </a:rPr>
              <a:t>2RC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81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5481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81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9328" y="3785615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29328" y="3877055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4242816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669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81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5481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9328" y="468172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9328" y="477316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9328" y="513892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Vt = OCV − IR₀ − V₁ − V₂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687568"/>
            <a:ext cx="57972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Measured OCV moves 13.4 mV per 1% SOC — enough to observe charge state.</a:t>
            </a:r>
          </a:p>
        </p:txBody>
      </p:sp>
      <p:pic>
        <p:nvPicPr>
          <p:cNvPr id="28" name="Picture 27" descr="diag_2rc_e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448" y="1389888"/>
            <a:ext cx="3921278" cy="2103120"/>
          </a:xfrm>
          <a:prstGeom prst="rect">
            <a:avLst/>
          </a:prstGeom>
        </p:spPr>
      </p:pic>
      <p:pic>
        <p:nvPicPr>
          <p:cNvPr id="29" name="Picture 28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694" y="3529584"/>
            <a:ext cx="251078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labelled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JBD BMS → BLE via bleak → jbd_logger v9 on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BLE fragmented long responses; frames reassembled before any parsing.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NTC byte-offset fix realigned all four thermistor channels.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cell_v1 sat ~0.25 V below pack median in every cycle.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That one weak cell labelled 70.2% of rows Cell Imbalance.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590288"/>
            <a:ext cx="5797296" cy="14813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3659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10912"/>
            <a:ext cx="539495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Physics-informed synthetic faults generated against datasheet limits, then down-sampled to an equal count per class — a 50/50 real-to-synthetic split that removes the normalcy bias without discarding real rows.</a:t>
            </a:r>
          </a:p>
        </p:txBody>
      </p:sp>
      <p:pic>
        <p:nvPicPr>
          <p:cNvPr id="11" name="Picture 10" descr="fig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783391"/>
            <a:ext cx="4931359" cy="39587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Fifty-one features, and which ones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Raw frame gives 17 channels; we derive 51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Rolling mean and std over a ten-sample window.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First derivatives: dV/dt, dI/dt, dSOC/dt, dT/dt.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Per-cell rise and drop rates — sixteen directional features.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Four one-hot driving modes and the NTC spread.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00016"/>
            <a:ext cx="5797296" cy="13167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2803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LEAKAGE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5394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Rolling windows and derivatives are computed inside each (split, label) group, so no window ever straddles a train/test boundary.</a:t>
            </a:r>
          </a:p>
        </p:txBody>
      </p:sp>
      <p:pic>
        <p:nvPicPr>
          <p:cNvPr id="11" name="Picture 10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86798"/>
            <a:ext cx="4931359" cy="362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Building a training set that is not 70% one class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Real Normal rows anchor the healthy operating baseline.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Synthetic faults generated against datasheet safety limits.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Balanced to roughly 50/50 real-to-synthetic across six classes.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Stratified 70/15/15 train, validation and test split.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Test split never touched until final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208,010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total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30,000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test</a:t>
            </a:r>
          </a:p>
        </p:txBody>
      </p:sp>
      <p:pic>
        <p:nvPicPr>
          <p:cNvPr id="20" name="Picture 19" descr="fig_datas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01641"/>
            <a:ext cx="4931359" cy="3204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Why XGBoost, and not the obvious alternatives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110578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180548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9298" y="148132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0314" y="148132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1330" y="1481328"/>
            <a:ext cx="91577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1694" y="1481328"/>
            <a:ext cx="91577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058" y="1481328"/>
            <a:ext cx="136062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Interpretable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7277" y="1481328"/>
            <a:ext cx="269519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83664"/>
            <a:ext cx="11057839" cy="457200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836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9298" y="1883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98.55%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0314" y="1883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0.85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1330" y="1883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~1.4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1694" y="1883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2058" y="18836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7277" y="18836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E7490"/>
                </a:solidFill>
                <a:latin typeface="Inter"/>
              </a:rPr>
              <a:t>Deployed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7980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3408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19298" y="23408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0314" y="23408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1330" y="23408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~1.6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1694" y="23408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45309"/>
                </a:solidFill>
                <a:latin typeface="Inter"/>
              </a:rPr>
              <a:t>Marginal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2058" y="23408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47277" y="23408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Needs sequence buffer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2552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7980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9298" y="27980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0314" y="27980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1330" y="27980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1694" y="27980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45309"/>
                </a:solidFill>
                <a:latin typeface="Inter"/>
              </a:rPr>
              <a:t>Marginal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2058" y="27980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7277" y="27980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Sequential, hard to batch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7124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2552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19298" y="32552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90314" y="32552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1330" y="32552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1694" y="32552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2058" y="32552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7277" y="32552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Larger for same accuracy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1696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7124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SVM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9298" y="37124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90314" y="37124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1330" y="37124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41694" y="37124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22058" y="37124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45309"/>
                </a:solidFill>
                <a:latin typeface="Inter"/>
              </a:rPr>
              <a:t>Partly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7277" y="37124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Poor on 51-feature tabular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62686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4169664"/>
            <a:ext cx="18054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19298" y="4169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90314" y="4169664"/>
            <a:ext cx="11064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1330" y="4169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trivial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1694" y="4169664"/>
            <a:ext cx="9157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22058" y="4169664"/>
            <a:ext cx="13606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47277" y="4169664"/>
            <a:ext cx="269519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B91C1C"/>
                </a:solidFill>
                <a:latin typeface="Inter"/>
              </a:rPr>
              <a:t>Reacts, never predicts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901184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DECIDED 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5193792"/>
            <a:ext cx="5577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Fifty-one engineered tabular features, a hard latency budget on the Pi and a reviewer who has to be able to ask why — gradient-boosted trees win all three. “—” means not measured here: we instrumented the model we shipped.</a:t>
            </a:r>
          </a:p>
        </p:txBody>
      </p:sp>
      <p:pic>
        <p:nvPicPr>
          <p:cNvPr id="65" name="Picture 64" descr="fig_mode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454" y="4773168"/>
            <a:ext cx="2338666" cy="13898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Where the model is strong, and where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Normal, Overvoltage, Overtemperature all clear 97% F1.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Cell Imbalance recall is 65% — the weakest number here.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Its misses land on Undervoltage, which is physically adjacent.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 sagging weak cell looks like an undervoltage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77056"/>
            <a:ext cx="5797296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005072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297680"/>
            <a:ext cx="5394959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28.6% of true Cell Imbalance samples are predicted Undervoltage. The two share a signature: one cell drops, pack voltage follows. Separating them needs more real imbalance events, not more synthetic ones — which is exactly what the next data campaign is for.</a:t>
            </a:r>
          </a:p>
        </p:txBody>
      </p:sp>
      <p:pic>
        <p:nvPicPr>
          <p:cNvPr id="11" name="Picture 10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650" y="1444752"/>
            <a:ext cx="3190873" cy="2240280"/>
          </a:xfrm>
          <a:prstGeom prst="rect">
            <a:avLst/>
          </a:prstGeom>
        </p:spPr>
      </p:pic>
      <p:pic>
        <p:nvPicPr>
          <p:cNvPr id="12" name="Picture 11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79" y="3730752"/>
            <a:ext cx="2773416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and the confidence to say “I don't know”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THE SIX FAULT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13232" y="1952243"/>
            <a:ext cx="100584" cy="100584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Normal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792224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85032" y="1952243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04488" y="1792224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Cell Imbalance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132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Weak Cell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8728" y="2304288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85032" y="2464308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04488" y="2304288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Overvoltage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32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Undervoltage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8728" y="2816352"/>
            <a:ext cx="2825496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3685032" y="2976372"/>
            <a:ext cx="100584" cy="10058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904488" y="2816352"/>
            <a:ext cx="23682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0F172A"/>
                </a:solidFill>
                <a:latin typeface="Inter"/>
              </a:rPr>
              <a:t>Overtemperature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364992"/>
            <a:ext cx="579729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Below 0.50 the model abstains — no alert is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0.50–0.85 raises a logged warning, non-blocking for the operator.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Above 0.85 becomes an alert with a corrective action.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confident wrong answer is worse than an honest abstention.</a:t>
            </a:r>
          </a:p>
        </p:txBody>
      </p:sp>
      <p:pic>
        <p:nvPicPr>
          <p:cNvPr id="27" name="Picture 26" descr="fig_confidence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794" y="1572768"/>
            <a:ext cx="3260585" cy="1417320"/>
          </a:xfrm>
          <a:prstGeom prst="rect">
            <a:avLst/>
          </a:prstGeom>
        </p:spPr>
      </p:pic>
      <p:pic>
        <p:nvPicPr>
          <p:cNvPr id="28" name="Picture 27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221" y="3182112"/>
            <a:ext cx="338973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seventh case: a fault we have never seen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 six-class model will force every input into one of six.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unseen failure mode gets a confident, wrong label.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An IsolationForest gate sits in front of the classifier.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Score below threshold routes the window to UNKNOWN_FAULT_OOD.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Tested on 49 in-distribution and 49 synthetic-unknown windows.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63440"/>
            <a:ext cx="5797296" cy="135331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791456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THE TRADE WE CHOSE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065776"/>
            <a:ext cx="53949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We tuned the gate for zero false positives. It never wrongly rejects a known-good window — and it only catches one unknown in four. On a safety dashboard, that is the right way round.</a:t>
            </a:r>
          </a:p>
        </p:txBody>
      </p:sp>
      <p:pic>
        <p:nvPicPr>
          <p:cNvPr id="11" name="Picture 10" descr="fig_ood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512" y="1929384"/>
            <a:ext cx="4271151" cy="2148840"/>
          </a:xfrm>
          <a:prstGeom prst="rect">
            <a:avLst/>
          </a:prstGeom>
        </p:spPr>
      </p:pic>
      <p:pic>
        <p:nvPicPr>
          <p:cNvPr id="12" name="Picture 11" descr="diag_confidence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7357" y="4215383"/>
            <a:ext cx="4683459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tiers, no single point of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1 — JBD BMS senses eight cell taps and four NTCs.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2 — Pi 5 runs logger, XGBoost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Tier 3 — Arduino Uno R4 watches the Pi's heartbeat.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Missed heartbeat pulls the RUN pin and resets the Pi.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Inference stays at the edge: no link, no safety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718304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84632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20640"/>
            <a:ext cx="5394959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pic>
        <p:nvPicPr>
          <p:cNvPr id="11" name="Picture 10" descr="diag_hard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467953"/>
            <a:ext cx="4931359" cy="27425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86990" y="4352544"/>
            <a:ext cx="158707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862" y="4471416"/>
            <a:ext cx="1349330" cy="11795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542320" y="4352544"/>
            <a:ext cx="179065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1192" y="4471416"/>
            <a:ext cx="1552909" cy="11795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3408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527" y="5797296"/>
            <a:ext cx="2374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How the whole thing fits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14</a:t>
            </a:r>
          </a:p>
        </p:txBody>
      </p:sp>
      <p:pic>
        <p:nvPicPr>
          <p:cNvPr id="7" name="Picture 6" descr="diag_syste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40" y="1536192"/>
            <a:ext cx="7261013" cy="3063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66928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Sampling, feature engineering and inference all happen on the pack. The Pi never needs the network to keep the pack safe.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6026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6026" y="4754880"/>
            <a:ext cx="3539642" cy="594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7194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E7490"/>
                </a:solidFill>
                <a:latin typeface="Inter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7194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Flask exposes REST and server-sent events; PostgreSQL holds telemetry, cycle history and the active chemistry profile.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5124" y="4754880"/>
            <a:ext cx="3539642" cy="12984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85124" y="4754880"/>
            <a:ext cx="3539642" cy="5943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6292" y="4901184"/>
            <a:ext cx="313730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B91C1C"/>
                </a:solidFill>
                <a:latin typeface="Inter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292" y="5175504"/>
            <a:ext cx="313730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Three browser surfaces over one Cloudflare tunnel — no inbound port is ever opened on the 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dashboard an operator actually reads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79729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Flask on the Pi, exposed over a Cloudflare tunnel.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Live per-cell voltages, 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Charge and discharge ETA smoothed with an EMA filter.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Driving context from current magnitude at T versus T-1.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50">
                <a:solidFill>
                  <a:srgbClr val="0F172A"/>
                </a:solidFill>
                <a:latin typeface="Inter"/>
              </a:rPr>
              <a:t>Alert history logs value, threshold, severity and resolution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36592"/>
            <a:ext cx="5797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FOUR-MODE DRIVING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8256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9584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10912" y="5047488"/>
            <a:ext cx="135331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724144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475569"/>
                </a:solidFill>
                <a:latin typeface="Inter"/>
              </a:rPr>
              <a:t>Thresholds follow the mode — a sag under ACCEL is not a sag at IDLE.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3408" y="1610461"/>
            <a:ext cx="4931359" cy="20094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p07_img1_x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729333"/>
            <a:ext cx="4693615" cy="17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693408" y="3853669"/>
            <a:ext cx="4931359" cy="185728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p08_img2_x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972541"/>
            <a:ext cx="4693615" cy="16195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93408" y="5797296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Live sensing tiles (top) and the critical-alarm path (bottom)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Context is a feature, not a label on a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Four NTCs diverge by up to 8.3 °C within one pack.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That spread is fed to the model as ntc_spread.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Mode is set from |I(T)| versus |I(T-1)|, with hysteresis.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Five-sample hysteresis stops mode flapping on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986784"/>
            <a:ext cx="5797296" cy="20299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114800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WHY THE MODEL CARES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89120"/>
            <a:ext cx="5394959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>
                <a:solidFill>
                  <a:srgbClr val="0F172A"/>
                </a:solidFill>
                <a:latin typeface="Inter"/>
              </a:rPr>
              <a:t>mode_IDLE, mode_DECEL and mode_CRUISE together carry 12.4% of the model's total gain, and ntc_spread another 5.0%. Nearly a fifth of the decision comes from context the pack-level sensors alone could never provide.</a:t>
            </a:r>
          </a:p>
        </p:txBody>
      </p:sp>
      <p:pic>
        <p:nvPicPr>
          <p:cNvPr id="11" name="Picture 10" descr="fig_thermal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336" y="1444752"/>
            <a:ext cx="3615503" cy="2834640"/>
          </a:xfrm>
          <a:prstGeom prst="rect">
            <a:avLst/>
          </a:prstGeom>
        </p:spPr>
      </p:pic>
      <p:pic>
        <p:nvPicPr>
          <p:cNvPr id="12" name="Picture 11" descr="fig_driving_m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681" y="4352544"/>
            <a:ext cx="2644811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Comparing this cycle against every cycle before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39 cycles logged: 21 discharge, 18 charge.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Every cycle scored 1.0 on data quality; zero alerts raised.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Expected sag is computed from load, then compared to actual.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Deviation from history flags degradation before a threshold breaks.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Balancing is visible: end-of-cycle spread falls below 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 logged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28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528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21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8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discharge / charge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387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387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data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4627" y="48280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4627" y="49194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4627" y="52852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alerts raised</a:t>
            </a:r>
          </a:p>
        </p:txBody>
      </p:sp>
      <p:pic>
        <p:nvPicPr>
          <p:cNvPr id="20" name="Picture 19" descr="fig_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69675"/>
            <a:ext cx="4931359" cy="275405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879732" y="5010912"/>
            <a:ext cx="255871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07_img2_x6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604" y="5129784"/>
            <a:ext cx="2320966" cy="9966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Two uploads is the entire onboarding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797296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the manufacturer PDF: chemistry and limits are parsed out.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Drop a CSV or XLSX: the dataset is profiled and previewed.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No YAML, no config file, no redeploy, no developer.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Parsed values are editable before they become the active profile.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600">
                <a:solidFill>
                  <a:srgbClr val="0F172A"/>
                </a:solidFill>
                <a:latin typeface="Inter"/>
              </a:rPr>
              <a:t>The same screen feeds both the thresholds and the retrainer.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8032"/>
            <a:ext cx="5797296" cy="12070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56048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WHAT GETS EXTRACTED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30368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Manufacturer · cell model · chemistry · V_nom · V_max · V_min · nominal capacity · charge and discharge current limits · thermal envelopes.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4730" y="1929384"/>
            <a:ext cx="4148715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ock_battery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602" y="2048256"/>
            <a:ext cx="3910971" cy="20939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30788" y="4443983"/>
            <a:ext cx="3256597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09_img1_x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660" y="4562855"/>
            <a:ext cx="3018853" cy="1453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3408" y="6181344"/>
            <a:ext cx="49313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Upload screen, and the parsed result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5797296" cy="3035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Upload a datasheet PDF; the parser reads the limits.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Extracts 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Tiering: NMC reuse, NCA/LCO shift, LFP remap, LTO rescale.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Overvoltage warns 95%, critical 100%; overcurrent 90%.</a:t>
            </a:r>
          </a:p>
          <a:p>
            <a:pPr marL="274320" indent="-274320">
              <a:lnSpc>
                <a:spcPct val="116000"/>
              </a:lnSpc>
              <a:spcAft>
                <a:spcPts val="8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50">
                <a:solidFill>
                  <a:srgbClr val="0F172A"/>
                </a:solidFill>
                <a:latin typeface="Inter"/>
              </a:rPr>
              <a:t>active_profile.json and PostgreSQL sync live, no restart.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82896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4992624"/>
            <a:ext cx="539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248656"/>
            <a:ext cx="539495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pic>
        <p:nvPicPr>
          <p:cNvPr id="11" name="Picture 10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52450"/>
            <a:ext cx="2212848" cy="2935978"/>
          </a:xfrm>
          <a:prstGeom prst="rect">
            <a:avLst/>
          </a:prstGeom>
        </p:spPr>
      </p:pic>
      <p:pic>
        <p:nvPicPr>
          <p:cNvPr id="12" name="Picture 11" descr="diag_chemistry_ti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1489041"/>
            <a:ext cx="2535631" cy="40627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What we would build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63040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463040"/>
            <a:ext cx="68580" cy="7498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545336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1536192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65% recall is the weakest class. More real imbalance events, not more synthetic 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22576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66928" y="2322576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2404872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Lift OOD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395728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The gate never cries wolf, but catches one unknown in four. A tighter score threshold trades that 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82112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182112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264408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Move inference to the Zynq-7000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3255264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Tree traversal in programmable logic frees the CPU for the dashboard and the BLE link.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41648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66928" y="4041648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123944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Characterise a second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4114800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LFP is remapped from its datasheet; it has not been driven on a bench the way NMC has.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01183"/>
            <a:ext cx="11057839" cy="74980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6928" y="4901183"/>
            <a:ext cx="68580" cy="74980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4983479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SOH and remaining useful life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4974336"/>
            <a:ext cx="64401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dV/dt during CC-CV charging is the signal; the 39-cycle history is the starting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15583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Everything shown today is reproducible from this repository — figures, model and deck all rebuild from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