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We are Team ANS_4X from PSG Institute of Technology and Applied</a:t>
            </a:r>
          </a:p>
          <a:p>
            <a:r>
              <a:t>Research. What we are presenting is not a slide-deck concept — it is a working</a:t>
            </a:r>
          </a:p>
          <a:p>
            <a:r>
              <a:t>system. A physical 8S2P lithium-ion pack, instrumented end to end, feeding a</a:t>
            </a:r>
          </a:p>
          <a:p>
            <a:r>
              <a:t>machine-learning fault classifier that runs on the pack itself, behind a web</a:t>
            </a:r>
          </a:p>
          <a:p>
            <a:r>
              <a:t>platform you can open in a browser right now. Over the next ten minutes I will</a:t>
            </a:r>
          </a:p>
          <a:p>
            <a:r>
              <a:t>walk you from the cells, through the data, through the model, to the interface</a:t>
            </a:r>
          </a:p>
          <a:p>
            <a:r>
              <a:t>on the right of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public battery dataset reports pack-level voltage and current. That is</a:t>
            </a:r>
          </a:p>
          <a:p>
            <a:r>
              <a:t>useless to us: imbalance and weak-cell faults only show in the spread between</a:t>
            </a:r>
          </a:p>
          <a:p>
            <a:r>
              <a:t>individual cells. So we built the dataset. An 8S2P NMC pack, a JBD BMS on all</a:t>
            </a:r>
          </a:p>
          <a:p>
            <a:r>
              <a:t>eight taps, a programmable supply charging and an electronic load discharging.</a:t>
            </a:r>
          </a:p>
          <a:p>
            <a:r>
              <a:t>Around fifty cycles, three hours each, over a hundred hours logged, roughly</a:t>
            </a:r>
          </a:p>
          <a:p>
            <a:r>
              <a:t>155,000 rows. Every number in this deck came off that bench.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most important chart in the deck. Eight cell voltages over</a:t>
            </a:r>
          </a:p>
          <a:p>
            <a:r>
              <a:t>forty minutes of real logged discharge. Seven of them track each other closely —</a:t>
            </a:r>
          </a:p>
          <a:p>
            <a:r>
              <a:t>that is the grey band. The red trace is cell one, sitting 289 millivolts below</a:t>
            </a:r>
          </a:p>
          <a:p>
            <a:r>
              <a:t>its neighbours for the entire cycle, and the gap widens under load. A</a:t>
            </a:r>
          </a:p>
          <a:p>
            <a:r>
              <a:t>pack-level voltmeter would read thirty and a half volts here and call the pack</a:t>
            </a:r>
          </a:p>
          <a:p>
            <a:r>
              <a:t>healthy. Cell one is the one that will hit the undervoltage cutoff first. That</a:t>
            </a:r>
          </a:p>
          <a:p>
            <a:r>
              <a:t>is the case for per-cell sensing in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in series gives the 33.6-volt bus the drivetrain wants. Two in parallel</a:t>
            </a:r>
          </a:p>
          <a:p>
            <a:r>
              <a:t>gives eight amp-hours and, just as importantly, the current headroom to run</a:t>
            </a:r>
          </a:p>
          <a:p>
            <a:r>
              <a:t>realistic discharge profiles without abusing individual cells. Sixteen LG</a:t>
            </a:r>
          </a:p>
          <a:p>
            <a:r>
              <a:t>INR21700-M50 cells in total. And eight series groups means eight sense taps,</a:t>
            </a:r>
          </a:p>
          <a:p>
            <a:r>
              <a:t>which is what makes imbalance a measurement rather than an inference. Four</a:t>
            </a:r>
          </a:p>
          <a:p>
            <a:r>
              <a:t>thermistors on top of that give us spatial thermal resolution — we can tell</a:t>
            </a:r>
          </a:p>
          <a:p>
            <a:r>
              <a:t>which end of the pack is running hot, not just that it is 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started with a single RC branch. It captured the instant ohmic drop but</a:t>
            </a:r>
          </a:p>
          <a:p>
            <a:r>
              <a:t>consistently missed the slow recovery after a load step. Adding a second branch</a:t>
            </a:r>
          </a:p>
          <a:p>
            <a:r>
              <a:t>fixed that — a fast branch at about 0.18 seconds and a slow one at about 1.05</a:t>
            </a:r>
          </a:p>
          <a:p>
            <a:r>
              <a:t>seconds. All five parameters were fitted on a clean four-thousand-second HPPC</a:t>
            </a:r>
          </a:p>
          <a:p>
            <a:r>
              <a:t>segment. The chart below is the measured open-circuit voltage curve from that</a:t>
            </a:r>
          </a:p>
          <a:p>
            <a:r>
              <a:t>same estimation. It moves 13.4 millivolts per percent of state of charge, which</a:t>
            </a:r>
          </a:p>
          <a:p>
            <a:r>
              <a:t>means voltage is a usable observer of charge state on this chemistry. Hold that</a:t>
            </a:r>
          </a:p>
          <a:p>
            <a:r>
              <a:t>thought — it comes back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is short on purpose: BMS, BLE through bleak, jbd_logger v9. Two</a:t>
            </a:r>
          </a:p>
          <a:p>
            <a:r>
              <a:t>things bit us. BLE fragments long responses across frames, so early logs were</a:t>
            </a:r>
          </a:p>
          <a:p>
            <a:r>
              <a:t>silently truncated — we now reassemble before parsing. And the four thermistors</a:t>
            </a:r>
          </a:p>
          <a:p>
            <a:r>
              <a:t>were read at the wrong byte offset, scrambling the thermal channels. The bigger</a:t>
            </a:r>
          </a:p>
          <a:p>
            <a:r>
              <a:t>problem was the labelling: because cell one is chronically low, a rule-based</a:t>
            </a:r>
          </a:p>
          <a:p>
            <a:r>
              <a:t>labeller marked over seventy percent of rows as Cell Imbalance. We fixed that</a:t>
            </a:r>
          </a:p>
          <a:p>
            <a:r>
              <a:t>with physics-informed synthetic faults rather than throwing real rows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BMS frame gives us seventeen raw channels. We derive fifty-one features from</a:t>
            </a:r>
          </a:p>
          <a:p>
            <a:r>
              <a:t>them: rolling means and standard deviations over a ten-sample window, first</a:t>
            </a:r>
          </a:p>
          <a:p>
            <a:r>
              <a:t>derivatives of voltage, current, charge state and temperature, per-cell rise and</a:t>
            </a:r>
          </a:p>
          <a:p>
            <a:r>
              <a:t>drop rates, the four one-hot driving modes and the thermistor spread. The chart</a:t>
            </a:r>
          </a:p>
          <a:p>
            <a:r>
              <a:t>on the right is not our opinion — it is read straight out of the trained model.</a:t>
            </a:r>
          </a:p>
          <a:p>
            <a:r>
              <a:t>Rolling voltage standard deviation dominates at fourteen percent, and notice the</a:t>
            </a:r>
          </a:p>
          <a:p>
            <a:r>
              <a:t>orange bars: the driving-mode flags account for twelve percent between them.</a:t>
            </a:r>
          </a:p>
          <a:p>
            <a:r>
              <a:t>Context genuinely matters to this classifier.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Given that skew, the training set had to be constructed rather than just</a:t>
            </a:r>
          </a:p>
          <a:p>
            <a:r>
              <a:t>collected. Real Normal rows anchor what healthy operation looks like. On top of</a:t>
            </a:r>
          </a:p>
          <a:p>
            <a:r>
              <a:t>that we generate synthetic faults — but generated against the datasheet safety</a:t>
            </a:r>
          </a:p>
          <a:p>
            <a:r>
              <a:t>limits, so an overvoltage sample is physically plausible rather than random</a:t>
            </a:r>
          </a:p>
          <a:p>
            <a:r>
              <a:t>noise. That gets us to 208,010 rows, roughly half real and half synthetic, split</a:t>
            </a:r>
          </a:p>
          <a:p>
            <a:r>
              <a:t>seventy-fifteen-fifteen. The thirty-thousand-row test split is untouched until</a:t>
            </a:r>
          </a:p>
          <a:p>
            <a:r>
              <a:t>final evaluation, and every number on the next two slides comes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did not argue about which model to use — we trained all six on the identical</a:t>
            </a:r>
          </a:p>
          <a:p>
            <a:r>
              <a:t>split and measured them. Two rows matter. The bottom one: a conventional</a:t>
            </a:r>
          </a:p>
          <a:p>
            <a:r>
              <a:t>rule-based BMS scores twenty-two percent, because cell one’s chronic gap puts</a:t>
            </a:r>
          </a:p>
          <a:p>
            <a:r>
              <a:t>eighty-four percent of healthy rows over the imbalance threshold. It false-alarms</a:t>
            </a:r>
          </a:p>
          <a:p>
            <a:r>
              <a:t>constantly and never detects a weak cell at all. And the second row: the</a:t>
            </a:r>
          </a:p>
          <a:p>
            <a:r>
              <a:t>Transformer edges us by under a point — but look at what it costs. Both models</a:t>
            </a:r>
          </a:p>
          <a:p>
            <a:r>
              <a:t>sit behind the same sixty-row buffer in our pipeline. The difference is that</a:t>
            </a:r>
          </a:p>
          <a:p>
            <a:r>
              <a:t>XGBoost only eats the last row of it, and its deepest feature is a ten-sample</a:t>
            </a:r>
          </a:p>
          <a:p>
            <a:r>
              <a:t>rolling window, so that sixty is a constant we chose and could shorten to ten</a:t>
            </a:r>
          </a:p>
          <a:p>
            <a:r>
              <a:t>tomorrow. The Transformer eats all sixty, and its positional encoding fixes that</a:t>
            </a:r>
          </a:p>
          <a:p>
            <a:r>
              <a:t>length inside the weights — you cannot shorten it without retraining. On top of</a:t>
            </a:r>
          </a:p>
          <a:p>
            <a:r>
              <a:t>that, torch is five times the runtime footprint of xgboost on the Pi, it gives no</a:t>
            </a:r>
          </a:p>
          <a:p>
            <a:r>
              <a:t>per-feature attribution an engineer can audit, and it cannot be retrained from</a:t>
            </a:r>
          </a:p>
          <a:p>
            <a:r>
              <a:t>the browser the way our configurator retrains XGBoost today. That is why it</a:t>
            </a:r>
          </a:p>
          <a:p>
            <a:r>
              <a:t>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honest breakdown. Normal, Overvoltage and Overtemperature all clear</a:t>
            </a:r>
          </a:p>
          <a:p>
            <a:r>
              <a:t>ninety-seven percent F1 — those classes are solved. Cell Imbalance recall is</a:t>
            </a:r>
          </a:p>
          <a:p>
            <a:r>
              <a:t>sixty-five percent, and that is the weakest number in this deck. Look at where</a:t>
            </a:r>
          </a:p>
          <a:p>
            <a:r>
              <a:t>the misses go: twenty-eight point seven percent of true imbalance samples get</a:t>
            </a:r>
          </a:p>
          <a:p>
            <a:r>
              <a:t>predicted as Undervoltage. That is not a random error. A sagging weak cell and</a:t>
            </a:r>
          </a:p>
          <a:p>
            <a:r>
              <a:t>an undervoltage event share a signature — one cell drops and the pack voltage</a:t>
            </a:r>
          </a:p>
          <a:p>
            <a:r>
              <a:t>follows. Separating them needs more real imbalance events, and that is what our</a:t>
            </a:r>
          </a:p>
          <a:p>
            <a:r>
              <a:t>next data campaign is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classes. The part I care more about is the confidence framework around them.</a:t>
            </a:r>
          </a:p>
          <a:p>
            <a:r>
              <a:t>The classifier returns a probability and we split it three ways. Below 0.50 we</a:t>
            </a:r>
          </a:p>
          <a:p>
            <a:r>
              <a:t>abstain outright — nothing is raised and the sample goes for review. Between</a:t>
            </a:r>
          </a:p>
          <a:p>
            <a:r>
              <a:t>0.50 and 0.85 we log a warning that does not block the operator. Only above 0.85</a:t>
            </a:r>
          </a:p>
          <a:p>
            <a:r>
              <a:t>do we raise an alert with a corrective action. In a safety-critical system a</a:t>
            </a:r>
          </a:p>
          <a:p>
            <a:r>
              <a:t>confidently wrong prediction is worse than none: an abstention sends someone to</a:t>
            </a:r>
          </a:p>
          <a:p>
            <a:r>
              <a:t>look, a false alert teaches them to ignore the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is a failure mode every classifier has: give it something it has never</a:t>
            </a:r>
          </a:p>
          <a:p>
            <a:r>
              <a:t>seen, and it will still return one of its six labels, often confidently. So</a:t>
            </a:r>
          </a:p>
          <a:p>
            <a:r>
              <a:t>before the classifier runs, an IsolationForest scores the window. If that score</a:t>
            </a:r>
          </a:p>
          <a:p>
            <a:r>
              <a:t>falls below threshold, we do not classify at all — we flag it as an unknown</a:t>
            </a:r>
          </a:p>
          <a:p>
            <a:r>
              <a:t>fault and escalate. Tested on forty-nine in-distribution and forty-nine</a:t>
            </a:r>
          </a:p>
          <a:p>
            <a:r>
              <a:t>synthetic-unknown windows: AUROC of 0.913, one hundred percent precision, zero</a:t>
            </a:r>
          </a:p>
          <a:p>
            <a:r>
              <a:t>false positives. It catches one unknown in four. We tuned it that way</a:t>
            </a:r>
          </a:p>
          <a:p>
            <a:r>
              <a:t>deliberately — on a safety dashboard, never crying wolf matters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tiers, each doing what the others cannot. The JBD BMS senses: eight taps,</a:t>
            </a:r>
          </a:p>
          <a:p>
            <a:r>
              <a:t>four thermistors, pack voltage and current. The Pi 5 runs the logger and the</a:t>
            </a:r>
          </a:p>
          <a:p>
            <a:r>
              <a:t>inference. Inference sits at the edge deliberately — push it</a:t>
            </a:r>
          </a:p>
          <a:p>
            <a:r>
              <a:t>to a server and every network hiccup becomes an unmonitored window. The third</a:t>
            </a:r>
          </a:p>
          <a:p>
            <a:r>
              <a:t>tier exists because general-purpose computers hang. An Arduino on its own rail</a:t>
            </a:r>
          </a:p>
          <a:p>
            <a:r>
              <a:t>watches for a heartbeat and pulls the Pi's RUN pin if it stops. Zynq-7000 is our</a:t>
            </a:r>
          </a:p>
          <a:p>
            <a:r>
              <a:t>path to take inference off the CPU entirely.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system on one slide. Three columns. On the edge, sampling,</a:t>
            </a:r>
          </a:p>
          <a:p>
            <a:r>
              <a:t>feature engineering and inference all happen on the pack itself — the Pi never</a:t>
            </a:r>
          </a:p>
          <a:p>
            <a:r>
              <a:t>needs the network to keep the battery safe. In the middle, Railway hosts the Flask</a:t>
            </a:r>
          </a:p>
          <a:p>
            <a:r>
              <a:t>dashboard — REST and server-sent events — with PostgreSQL holding telemetry,</a:t>
            </a:r>
          </a:p>
          <a:p>
            <a:r>
              <a:t>cycle history and the active chemistry profile. On the right, three browser surfaces.</a:t>
            </a:r>
          </a:p>
          <a:p>
            <a:r>
              <a:t>The Pi pushes results up to Railway, which means we never open an</a:t>
            </a:r>
          </a:p>
          <a:p>
            <a:r>
              <a:t>inbound port on the pack — a reviewer can open the dashboard from anywhere and</a:t>
            </a:r>
          </a:p>
          <a:p>
            <a:r>
              <a:t>the attack surface on the hardware stays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dashboard is a Flask service on Railway, fed by the Pi. It is</a:t>
            </a:r>
          </a:p>
          <a:p>
            <a:r>
              <a:t>operator-facing, not engineer-facing: live per-cell voltages, pack current with</a:t>
            </a:r>
          </a:p>
          <a:p>
            <a:r>
              <a:t>direction, four thermal zones, and a charge or discharge ETA smoothed with an</a:t>
            </a:r>
          </a:p>
          <a:p>
            <a:r>
              <a:t>EMA so it does not jitter. The piece worth noting is driving context. Four modes</a:t>
            </a:r>
          </a:p>
          <a:p>
            <a:r>
              <a:t>from the change in current magnitude between samples — because a voltage sag</a:t>
            </a:r>
          </a:p>
          <a:p>
            <a:r>
              <a:t>under hard acceleration is normal, and the same sag at idle is a fault.</a:t>
            </a:r>
          </a:p>
          <a:p>
            <a:r>
              <a:t>Thresholds follow the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 the model leans on that are easy to overlook. First, thermal</a:t>
            </a:r>
          </a:p>
          <a:p>
            <a:r>
              <a:t>resolution: the four thermistors diverge by as much as eight point three degrees</a:t>
            </a:r>
          </a:p>
          <a:p>
            <a:r>
              <a:t>within a single pack, and that spread goes into the model as a feature rather</a:t>
            </a:r>
          </a:p>
          <a:p>
            <a:r>
              <a:t>than just onto the dashboard. Second, operating mode, set from the change in</a:t>
            </a:r>
          </a:p>
          <a:p>
            <a:r>
              <a:t>current magnitude with a five-sample hysteresis so it does not flap on noise.</a:t>
            </a:r>
          </a:p>
          <a:p>
            <a:r>
              <a:t>Together, the mode flags and the thermal spread account for nearly a fifth of</a:t>
            </a:r>
          </a:p>
          <a:p>
            <a:r>
              <a:t>the model's total gain. That is context the pack-level sensors alone could never</a:t>
            </a:r>
          </a:p>
          <a:p>
            <a:r>
              <a:t>give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analytical layer is prognosis. We keep a history of every cycle the</a:t>
            </a:r>
          </a:p>
          <a:p>
            <a:r>
              <a:t>pack has run — thirty-nine so far, twenty-one discharge and eighteen charge, all</a:t>
            </a:r>
          </a:p>
          <a:p>
            <a:r>
              <a:t>scoring one point zero on data quality. For each live cycle the system computes</a:t>
            </a:r>
          </a:p>
          <a:p>
            <a:r>
              <a:t>an expected voltage sag from the load, then compares it to the actual sag. A</a:t>
            </a:r>
          </a:p>
          <a:p>
            <a:r>
              <a:t>cycle that sags worse than its own history is degrading, and we can say that</a:t>
            </a:r>
          </a:p>
          <a:p>
            <a:r>
              <a:t>long before any absolute threshold is breached. The chart on the right also</a:t>
            </a:r>
          </a:p>
          <a:p>
            <a:r>
              <a:t>shows the balancing working: end-of-cycle spread is consistently below</a:t>
            </a:r>
          </a:p>
          <a:p>
            <a:r>
              <a:t>start-of-cycle spread.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onboarding flow in full. Two upload targets. Drop the manufacturer</a:t>
            </a:r>
          </a:p>
          <a:p>
            <a:r>
              <a:t>PDF and the parser pulls out chemistry, nominal, maximum and minimum voltage,</a:t>
            </a:r>
          </a:p>
          <a:p>
            <a:r>
              <a:t>capacity, current limits and thermal envelopes. Drop a CSV or spreadsheet and</a:t>
            </a:r>
          </a:p>
          <a:p>
            <a:r>
              <a:t>the dataset gets profiled and previewed. There is no YAML file, no redeploy and</a:t>
            </a:r>
          </a:p>
          <a:p>
            <a:r>
              <a:t>no developer in the loop. The parsed values land in an editable form — shown</a:t>
            </a:r>
          </a:p>
          <a:p>
            <a:r>
              <a:t>underneath — so an engineer can correct anything the parser got wrong before it</a:t>
            </a:r>
          </a:p>
          <a:p>
            <a:r>
              <a:t>becomes the active profile. That same screen feeds both the threshold matrix and</a:t>
            </a:r>
          </a:p>
          <a:p>
            <a:r>
              <a:t>the retrainer.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makes it reusable. The parser pulls the limits, pack sizing derives</a:t>
            </a:r>
          </a:p>
          <a:p>
            <a:r>
              <a:t>the series and parallel counts, and then the chemistry gets tiered. NMC is</a:t>
            </a:r>
          </a:p>
          <a:p>
            <a:r>
              <a:t>direct reuse because that is what we characterised. NCA and LCO share the 4.2</a:t>
            </a:r>
          </a:p>
          <a:p>
            <a:r>
              <a:t>volt ceiling, so they only need a threshold shift. LFP needs a real remap to a</a:t>
            </a:r>
          </a:p>
          <a:p>
            <a:r>
              <a:t>2.50 to 3.65 volt window — remember that flat OCV curve. And LTO, at 2.4 volts</a:t>
            </a:r>
          </a:p>
          <a:p>
            <a:r>
              <a:t>nominal, needs every limit rescaled. Thresholds are two-tier, and the active</a:t>
            </a:r>
          </a:p>
          <a:p>
            <a:r>
              <a:t>profile syncs to PostgreSQL live with no server restart.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want to close on what is not finished. Cell Imbalance recall sits at sixty-five</a:t>
            </a:r>
          </a:p>
          <a:p>
            <a:r>
              <a:t>percent — that is the weakest number in the deck and it needs real imbalance</a:t>
            </a:r>
          </a:p>
          <a:p>
            <a:r>
              <a:t>events, not more synthetic ones. The unknown-fault gate never raises a false</a:t>
            </a:r>
          </a:p>
          <a:p>
            <a:r>
              <a:t>alarm but only catches one unknown in four. The Zynq path would take inference</a:t>
            </a:r>
          </a:p>
          <a:p>
            <a:r>
              <a:t>off the CPU. LFP is remapped from a datasheet, not characterised on a bench.</a:t>
            </a:r>
          </a:p>
          <a:p>
            <a:r>
              <a:t>And state of health is the natural next model. Everything you have seen rebuilds</a:t>
            </a:r>
          </a:p>
          <a:p>
            <a:r>
              <a:t>from the repository — the figures, the model evaluation and this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papers shaped the approach. The first four are the state-of-the-art we</a:t>
            </a:r>
          </a:p>
          <a:p>
            <a:r>
              <a:t>benchmarked our thinking against for state-of-charge and remaining-useful-life</a:t>
            </a:r>
          </a:p>
          <a:p>
            <a:r>
              <a:t>prediction — bimodal image encoding, single-cycle charging features, multidomain</a:t>
            </a:r>
          </a:p>
          <a:p>
            <a:r>
              <a:t>features with CatBoost, and the CNN-BiLSTM-BiGRU attention stack. The fifth,</a:t>
            </a:r>
          </a:p>
          <a:p>
            <a:r>
              <a:t>Yang, Xu and Peng in Electronics, is where our confidence-scoring and fault</a:t>
            </a:r>
          </a:p>
          <a:p>
            <a:r>
              <a:t>grading framework comes from — that is the source of the three-tier abstain,</a:t>
            </a:r>
          </a:p>
          <a:p>
            <a:r>
              <a:t>warn, alert structure on slide five. On the right are the primary sources: the</a:t>
            </a:r>
          </a:p>
          <a:p>
            <a:r>
              <a:t>manufacturer datasheets the threshold matrix is parsed from, and the JBD</a:t>
            </a:r>
          </a:p>
          <a:p>
            <a:r>
              <a:t>protocol spec the logger was written against.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jp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77824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CATERPILLAR TECH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43584"/>
            <a:ext cx="5669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E7490"/>
                </a:solidFill>
                <a:latin typeface="Inter"/>
              </a:rPr>
              <a:t>AI-PBMS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20240"/>
            <a:ext cx="5669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900" b="1">
                <a:solidFill>
                  <a:srgbClr val="0F172A"/>
                </a:solidFill>
                <a:latin typeface="Inter"/>
              </a:rPr>
              <a:t>AI-Powered Predictive
Battery Management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675887"/>
            <a:ext cx="1965960" cy="4114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3950208"/>
            <a:ext cx="5532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50" b="0">
                <a:solidFill>
                  <a:srgbClr val="475569"/>
                </a:solidFill>
                <a:latin typeface="Inter"/>
              </a:rPr>
              <a:t>An 8S2P lithium-ion pack, 155,000 rows of our own telemetry, and a six-class fault classifier running at the edge.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30368"/>
            <a:ext cx="5532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Team ANS_4X  ·  PSG Institute of Technology and Applied Research, Coimbatore</a:t>
            </a:r>
          </a:p>
        </p:txBody>
      </p:sp>
      <p:pic>
        <p:nvPicPr>
          <p:cNvPr id="8" name="Picture 7" descr="mock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74604"/>
            <a:ext cx="5193792" cy="32344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30975" y="5577840"/>
            <a:ext cx="5193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The delivered platform — live monitor and configuration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could not buy this dataset, so we built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5797296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Public BMS datasets hide per-cell voltages behind pack totals.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Imbalance and weak-cell faults are invisible at pack level.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So we instrumented a physical 8S2P NMC pack end to end.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Programmable DC supply charges; electronic load drives discharge profiles.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Every row the model ever sees came from this rig.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charge–discharge cycles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~3 hrs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per cycle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&gt;100 hrs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supervised logging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~155,000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rows logged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93408" y="1682610"/>
            <a:ext cx="4931359" cy="374881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p03_img1_x3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801482"/>
            <a:ext cx="4693615" cy="351106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93408" y="5614416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8S2P pack, JBD BMS and programmable electronic load on the bench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What a hundred hours of logging actually showed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Cell 1 runs 289 mV below its neighbours, every cycle.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Not noise, not a sensor fault — a genuinely weaker cell.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The gap widens under load and never fully recovers.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This one defect defined the whole labelling problem.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4528"/>
            <a:ext cx="5797296" cy="17556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352544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WHY THIS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626864"/>
            <a:ext cx="5394959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A pack-level voltmeter reads 30.5 V and reports a healthy pack. The same instant, cell 1 is 289 mV down and heading for the undervoltage cutoff first. Per-cell resolution is the difference between noticing and not noticing.</a:t>
            </a:r>
          </a:p>
        </p:txBody>
      </p:sp>
      <p:pic>
        <p:nvPicPr>
          <p:cNvPr id="11" name="Picture 10" descr="fig_cell_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98048"/>
            <a:ext cx="4931359" cy="35031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Why 8S2P, specifically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09344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8S sets the 33.6 V nominal bus the drivetrain expects.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2P buys 8 Ah capacity and the current headroom.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Sixteen LG INR21700-M50 cells, 5000 mAh each.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Eight sense taps make imbalance observable, not inferred.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Four NTC thermistors give spatial thermal resolution.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33.6 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nominal bus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8 Ah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usable capacity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cells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45309"/>
                </a:solidFill>
                <a:latin typeface="Inter"/>
              </a:rPr>
              <a:t>8 + 4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V taps + NTCs</a:t>
            </a:r>
          </a:p>
        </p:txBody>
      </p:sp>
      <p:pic>
        <p:nvPicPr>
          <p:cNvPr id="20" name="Picture 19" descr="diag_pack_8s2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439782"/>
            <a:ext cx="4931359" cy="254536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1RC to 2RC, and what OCV buys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63040"/>
            <a:ext cx="5797296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1RC caught the instant drop but missed slow recovery.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A second branch separates fast transient from slow relaxation.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Parameters fitted on a clean 0–4000 s HPPC segment.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93008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475569"/>
                </a:solidFill>
                <a:latin typeface="Inter"/>
              </a:rPr>
              <a:t>2RC PARAMETERS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85615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877055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R₀ 0.06142 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ohmic drop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48128" y="3785615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548128" y="3877055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R₁ 0.00820 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8128" y="4242816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fast branch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29328" y="3785615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29328" y="3877055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C₁ 22.268 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328" y="4242816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τ₁ ≈ 0.18 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68172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66928" y="477316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R₂ 0.00882 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13892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slow branch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8128" y="468172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548128" y="477316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C₂ 119.37 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8128" y="513892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τ₂ ≈ 1.05 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9328" y="468172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29328" y="477316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2RC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9328" y="513892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Vt = OCV − IR₀ − V₁ − V₂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687568"/>
            <a:ext cx="57972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Measured OCV moves 13.4 mV per 1% SOC — enough to observe charge state.</a:t>
            </a:r>
          </a:p>
        </p:txBody>
      </p:sp>
      <p:pic>
        <p:nvPicPr>
          <p:cNvPr id="28" name="Picture 27" descr="diag_2rc_ec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448" y="1389888"/>
            <a:ext cx="3921278" cy="2103120"/>
          </a:xfrm>
          <a:prstGeom prst="rect">
            <a:avLst/>
          </a:prstGeom>
        </p:spPr>
      </p:pic>
      <p:pic>
        <p:nvPicPr>
          <p:cNvPr id="29" name="Picture 28" descr="fig_ocv_s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694" y="3529584"/>
            <a:ext cx="2510786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BLE frames to labelled rows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JBD BMS → BLE via bleak → jbd_logger v9 on the Pi.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BLE fragmented long responses; frames reassembled before any parsing.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NTC byte-offset fix realigned all four thermistor channels.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cell_v1 sat ~0.25 V below pack median in every cycle.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That one weak cell labelled 70.2% of rows Cell Imbalance.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590288"/>
            <a:ext cx="5797296" cy="14813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736592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HANDLING THE SKEW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010912"/>
            <a:ext cx="5394959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Physics-informed synthetic faults generated against datasheet limits, then down-sampled to an equal count per class — a 50/50 real-to-synthetic split that removes the normalcy bias without discarding real rows.</a:t>
            </a:r>
          </a:p>
        </p:txBody>
      </p:sp>
      <p:pic>
        <p:nvPicPr>
          <p:cNvPr id="11" name="Picture 10" descr="fig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783391"/>
            <a:ext cx="4931359" cy="395872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Fifty-one features, and which ones matter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Raw frame gives 17 channels; we derive 51 features.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Rolling mean and std over a ten-sample window.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First derivatives: dV/dt, dI/dt, dSOC/dt, dT/dt.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Per-cell rise and drop rates — sixteen directional features.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Four one-hot driving modes and the NTC spread.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700016"/>
            <a:ext cx="5797296" cy="131673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828032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LEAKAGE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102352"/>
            <a:ext cx="539495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Rolling windows and derivatives are computed inside each (split, label) group, so no window ever straddles a train/test boundary.</a:t>
            </a:r>
          </a:p>
        </p:txBody>
      </p:sp>
      <p:pic>
        <p:nvPicPr>
          <p:cNvPr id="11" name="Picture 10" descr="fig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986798"/>
            <a:ext cx="4931359" cy="36250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Building a training set that is not 70% one class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Real Normal rows anchor the healthy operating baseline.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Synthetic faults generated against datasheet safety limits.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Balanced to roughly 50/50 real-to-synthetic across six classes.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Stratified 70/15/15 train, validation and test split.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Test split never touched until final evaluation.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208,010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total rows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140,000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train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30,000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validation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30,000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test</a:t>
            </a:r>
          </a:p>
        </p:txBody>
      </p:sp>
      <p:pic>
        <p:nvPicPr>
          <p:cNvPr id="20" name="Picture 19" descr="fig_dataset_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01641"/>
            <a:ext cx="4931359" cy="32045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benchmarked all six — XGBoost still ships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9224" y="1444752"/>
            <a:ext cx="186903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2849" y="1444752"/>
            <a:ext cx="116997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17416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Macro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8432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9448" y="1444752"/>
            <a:ext cx="104287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66913" y="1444752"/>
            <a:ext cx="8522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726" y="1444752"/>
            <a:ext cx="27587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Verdict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828800"/>
            <a:ext cx="11057839" cy="420624"/>
          </a:xfrm>
          <a:prstGeom prst="rect">
            <a:avLst/>
          </a:prstGeom>
          <a:solidFill>
            <a:srgbClr val="E6F4F6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" y="1828800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F172A"/>
                </a:solidFill>
                <a:latin typeface="Inter"/>
              </a:rPr>
              <a:t>XGBoost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2849" y="1828800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94.19%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7416" y="182880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8432" y="182880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0.462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9448" y="1828800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1.40 MB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6913" y="1828800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83726" y="1828800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Deployed — 1-row input, 10-row context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670048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9224" y="2249424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Transformer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2849" y="2249424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95.11%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17416" y="2249424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8432" y="2249424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0.419 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9448" y="2249424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0.31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6913" y="2249424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83726" y="2249424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+0.92% acc; 60 rows locked 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090672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9224" y="2670048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LSTM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82849" y="2670048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87.03%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7416" y="2670048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0.776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8432" y="2670048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0.532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9448" y="2670048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0.28 MB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6913" y="2670048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3726" y="2670048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Sequential, weakest F1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511296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9224" y="3090672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Random Forest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82849" y="3090672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89.37%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17416" y="3090672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8432" y="3090672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33.770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59448" y="3090672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176.41 MB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6913" y="3090672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3726" y="3090672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176 MB, 73× the latency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3931920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49224" y="3511296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SVM (RBF)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82849" y="3511296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88.53%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17416" y="3511296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88432" y="3511296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0.568 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59448" y="3511296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2.82 MB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6913" y="3511296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83726" y="3511296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Would not scale past 20k rows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435254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49224" y="3931920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Rule-based BMS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82849" y="3931920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22.09%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17416" y="393192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88432" y="393192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5 µs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59448" y="3931920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~0 MB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66913" y="3931920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83726" y="3931920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0% recall on Weak Cell</a:t>
            </a:r>
          </a:p>
        </p:txBody>
      </p:sp>
      <p:pic>
        <p:nvPicPr>
          <p:cNvPr id="63" name="Picture 62" descr="fig_deployment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7213" y="4443983"/>
            <a:ext cx="3977268" cy="14630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566928" y="5980176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nter"/>
              </a:rPr>
              <a:t>All six trained and scored on the identical 30,000-row held-out split with the same 51 features; latency is the median single-row prediction on a 4-core CPU, not a Pi 5. Both models sit behind the same 60-row pipeline buffer, but XGBoost consumes only the last row and its deepest feature is a 10-sample rolling window, so that 60 is a constant we chose; the Transformer consumes all 60 and its positional encoding fixes the length in the weights. SVM trained on a stratified 20k subsample: full-data RBF did not converge.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Where the model is strong, and where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Normal, Overvoltage, Overtemperature all clear 97% F1.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Cell Imbalance recall is 65% — the weakest number here.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Its misses land on Undervoltage, which is physically adjacent.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A sagging weak cell looks like an undervoltage event.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77056"/>
            <a:ext cx="5797296" cy="21396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005072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91C1C"/>
                </a:solidFill>
                <a:latin typeface="Inter"/>
              </a:rPr>
              <a:t>WE ARE NOT HIDING THIS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297680"/>
            <a:ext cx="5394959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28.7% of true Cell Imbalance samples are predicted Undervoltage. The two share a signature: one cell drops, pack voltage follows. Separating them needs more real imbalance events, not more synthetic ones — which is exactly what the next data campaign is for.</a:t>
            </a:r>
          </a:p>
        </p:txBody>
      </p:sp>
      <p:pic>
        <p:nvPicPr>
          <p:cNvPr id="11" name="Picture 10" descr="fig_per_cla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650" y="1444752"/>
            <a:ext cx="3190873" cy="2240280"/>
          </a:xfrm>
          <a:prstGeom prst="rect">
            <a:avLst/>
          </a:prstGeom>
        </p:spPr>
      </p:pic>
      <p:pic>
        <p:nvPicPr>
          <p:cNvPr id="12" name="Picture 11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379" y="3730752"/>
            <a:ext cx="2773416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Six classes, and the confidence to say “I don't know”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THE SIX FAULT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92224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13232" y="1952243"/>
            <a:ext cx="100584" cy="10058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1792224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Normal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8728" y="1792224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85032" y="1952243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904488" y="1792224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Cell Imbalance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304288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13232" y="2464308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2304288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Weak Cell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38728" y="2304288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685032" y="2464308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904488" y="2304288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Overvoltage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816352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13232" y="2976372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2816352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Undervoltage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38728" y="2816352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3685032" y="2976372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904488" y="2816352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Overtemperature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364992"/>
            <a:ext cx="5797296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Below 0.50 the model abstains — no alert is raised.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0.50–0.85 raises a logged warning, non-blocking for the operator.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Above 0.85 becomes an alert with a corrective action.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 confident wrong answer is worse than an honest abstention.</a:t>
            </a:r>
          </a:p>
        </p:txBody>
      </p:sp>
      <p:pic>
        <p:nvPicPr>
          <p:cNvPr id="27" name="Picture 26" descr="fig_confidence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8794" y="1572768"/>
            <a:ext cx="3260585" cy="1417320"/>
          </a:xfrm>
          <a:prstGeom prst="rect">
            <a:avLst/>
          </a:prstGeom>
        </p:spPr>
      </p:pic>
      <p:pic>
        <p:nvPicPr>
          <p:cNvPr id="28" name="Picture 27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221" y="3182112"/>
            <a:ext cx="3389731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seventh case: a fault we have never seen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 six-class model will force every input into one of six.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An unseen failure mode gets a confident, wrong label.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An IsolationForest gate sits in front of the classifier.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Score below threshold routes the window to UNKNOWN_FAULT_OOD.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Tested on 49 in-distribution and 49 synthetic-unknown windows.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63440"/>
            <a:ext cx="5797296" cy="13533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791456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THE TRADE WE CHOSE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065776"/>
            <a:ext cx="5394959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We tuned the gate for zero false positives. It never wrongly rejects a known-good window — and it only catches one unknown in four. On a safety dashboard, that is the right way round.</a:t>
            </a:r>
          </a:p>
        </p:txBody>
      </p:sp>
      <p:pic>
        <p:nvPicPr>
          <p:cNvPr id="11" name="Picture 10" descr="fig_ood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3512" y="1929384"/>
            <a:ext cx="4271151" cy="2148840"/>
          </a:xfrm>
          <a:prstGeom prst="rect">
            <a:avLst/>
          </a:prstGeom>
        </p:spPr>
      </p:pic>
      <p:pic>
        <p:nvPicPr>
          <p:cNvPr id="12" name="Picture 11" descr="diag_confidence_lad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7357" y="4215383"/>
            <a:ext cx="4683459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Three tiers, no single point of failure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Tier 1 — JBD BMS senses eight cell taps and four NTCs.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Tier 2 — Pi 5 runs logger, XGBoost inference and dashboard.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Tier 3 — Arduino Uno R4 watches the Pi's heartbeat.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Missed heartbeat pulls the RUN pin and resets the Pi.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Inference stays at the edge: no link, no safety gap.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718304"/>
            <a:ext cx="5797296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846320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ACCELERATION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120640"/>
            <a:ext cx="5394959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0F172A"/>
                </a:solidFill>
                <a:latin typeface="Inter"/>
              </a:rPr>
              <a:t>Zynq-7000 SoC moves the same tree traversal into programmable logic, freeing the CPU for the logger and the BLE link.</a:t>
            </a:r>
          </a:p>
        </p:txBody>
      </p:sp>
      <p:pic>
        <p:nvPicPr>
          <p:cNvPr id="11" name="Picture 10" descr="diag_hard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467953"/>
            <a:ext cx="4931359" cy="27425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086990" y="4352544"/>
            <a:ext cx="158707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06_img1_x5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862" y="4471416"/>
            <a:ext cx="1349330" cy="117957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542320" y="4352544"/>
            <a:ext cx="1790653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p06_img2_x52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1192" y="4471416"/>
            <a:ext cx="1552909" cy="11795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93408" y="5797296"/>
            <a:ext cx="2374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Raspberry Pi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0527" y="5797296"/>
            <a:ext cx="2374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Arduino Uno R4 WiFi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How the whole thing fits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14</a:t>
            </a:r>
          </a:p>
        </p:txBody>
      </p:sp>
      <p:pic>
        <p:nvPicPr>
          <p:cNvPr id="7" name="Picture 6" descr="diag_syste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5340" y="1536192"/>
            <a:ext cx="7261013" cy="3063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4754880"/>
            <a:ext cx="3539642" cy="12984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66928" y="4754880"/>
            <a:ext cx="3539642" cy="594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4901184"/>
            <a:ext cx="313730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E7490"/>
                </a:solidFill>
                <a:latin typeface="Inter"/>
              </a:rPr>
              <a:t>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175504"/>
            <a:ext cx="313730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Sampling, feature engineering and inference all happen on the pack. The Pi never needs the network to keep the pack safe.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6026" y="4754880"/>
            <a:ext cx="3539642" cy="12984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26026" y="4754880"/>
            <a:ext cx="3539642" cy="594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27194" y="4901184"/>
            <a:ext cx="313730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E7490"/>
                </a:solidFill>
                <a:latin typeface="Inter"/>
              </a:rPr>
              <a:t>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7194" y="5175504"/>
            <a:ext cx="313730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Railway hosts the Flask dashboard — REST and server-sent events — with PostgreSQL for telemetry, cycle history and the active profile.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5124" y="4754880"/>
            <a:ext cx="3539642" cy="12984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85124" y="4754880"/>
            <a:ext cx="3539642" cy="5943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86292" y="4901184"/>
            <a:ext cx="313730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B91C1C"/>
                </a:solidFill>
                <a:latin typeface="Inter"/>
              </a:rPr>
              <a:t>INTERFACE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292" y="5175504"/>
            <a:ext cx="313730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Three browser surfaces served from Railway; the Pi only ever dials out, so no inbound port is opened on the pack.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dashboard an operator actually reads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Flask dashboard deployed on Railway.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Live per-cell voltages, pack current and four temperature zones.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Charge and discharge ETA smoothed with an EMA filter.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Driving context from current magnitude at T versus T-1.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Alert history logs value, threshold, severity and resolution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36592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FOUR-MODE DRIVING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475569"/>
                </a:solidFill>
                <a:latin typeface="Inter"/>
              </a:rPr>
              <a:t>IDLE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48256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48256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B91C1C"/>
                </a:solidFill>
                <a:latin typeface="Inter"/>
              </a:rPr>
              <a:t>ACCEL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9584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9584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E7490"/>
                </a:solidFill>
                <a:latin typeface="Inter"/>
              </a:rPr>
              <a:t>CRUISE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10912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Inter"/>
              </a:rPr>
              <a:t>DECEL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724144"/>
            <a:ext cx="5797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Thresholds follow the mode — a sag under ACCEL is not a sag at IDLE.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93408" y="1610461"/>
            <a:ext cx="4931359" cy="20094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p07_img1_x6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729333"/>
            <a:ext cx="4693615" cy="17717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693408" y="3853669"/>
            <a:ext cx="4931359" cy="1857285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p08_img2_x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3972541"/>
            <a:ext cx="4693615" cy="161954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93408" y="5797296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Live sensing tiles (top) and the critical-alarm path (bottom)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Context is a feature, not a label on a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Four NTCs diverge by up to 8.3 °C within one pack.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That spread is fed to the model as ntc_spread.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Mode is set from |I(T)| versus |I(T-1)|, with hysteresis.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Five-sample hysteresis stops mode flapping on noise.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986784"/>
            <a:ext cx="5797296" cy="20299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114800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WHY THE MODEL CARES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389120"/>
            <a:ext cx="5394959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mode_IDLE, mode_DECEL and mode_CRUISE together carry 12.4% of the model's total gain, and ntc_spread another 5.0%. Nearly a fifth of the decision comes from context the pack-level sensors alone could never provide.</a:t>
            </a:r>
          </a:p>
        </p:txBody>
      </p:sp>
      <p:pic>
        <p:nvPicPr>
          <p:cNvPr id="11" name="Picture 10" descr="fig_thermal_z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336" y="1444752"/>
            <a:ext cx="3615503" cy="2834640"/>
          </a:xfrm>
          <a:prstGeom prst="rect">
            <a:avLst/>
          </a:prstGeom>
        </p:spPr>
      </p:pic>
      <p:pic>
        <p:nvPicPr>
          <p:cNvPr id="12" name="Picture 11" descr="fig_driving_m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6681" y="4352544"/>
            <a:ext cx="2644811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Comparing this cycle against every cycle before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39 cycles logged: 21 discharge, 18 charge.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Every cycle scored 1.0 on data quality; zero alerts raised.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Expected sag is computed from load, then compared to actual.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Deviation from history flags degradation before a threshold breaks.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Balancing is visible: end-of-cycle spread falls below start.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cycles logged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21 / 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discharge / charge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data quality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alerts raised</a:t>
            </a:r>
          </a:p>
        </p:txBody>
      </p:sp>
      <p:pic>
        <p:nvPicPr>
          <p:cNvPr id="20" name="Picture 19" descr="fig_cycle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969675"/>
            <a:ext cx="4931359" cy="2754057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879732" y="5010912"/>
            <a:ext cx="255871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07_img2_x6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8604" y="5129784"/>
            <a:ext cx="2320966" cy="99669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Two uploads is the entire onboarding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Drop the manufacturer PDF: chemistry and limits are parsed out.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Drop a CSV or XLSX: the dataset is profiled and previewed.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No YAML, no config file, no redeploy, no developer.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Parsed values are editable before they become the active profile.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The same screen feeds both the thresholds and the retrainer.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8032"/>
            <a:ext cx="5797296" cy="12070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956048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WHAT GETS EXTRACTED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230368"/>
            <a:ext cx="539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Manufacturer · cell model · chemistry · V_nom · V_max · V_min · nominal capacity · charge and discharge current limits · thermal envelopes.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84730" y="1929384"/>
            <a:ext cx="4148715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mock_battery_pa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3602" y="2048256"/>
            <a:ext cx="3910971" cy="209397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530788" y="4443983"/>
            <a:ext cx="3256597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09_img1_x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9660" y="4562855"/>
            <a:ext cx="3018853" cy="1453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693408" y="6181344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Upload screen, and the parsed result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Swap the chemistry, not the codebase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5797296" cy="3035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Upload a datasheet PDF; the parser reads the limits.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Extracts V_nom, V_max, V_min, capacity, current, thermal.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Pack sizing derives S and P from the bus target.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Tiering: NMC reuse, NCA/LCO shift, LFP remap, LTO rescale.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Overvoltage warns 95%, critical 100%; overcurrent 90%.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active_profile.json and PostgreSQL sync live, no restart.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82896"/>
            <a:ext cx="5797296" cy="10607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992624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IN-BROWSER RETRAINING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248656"/>
            <a:ext cx="539495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0F172A"/>
                </a:solidFill>
                <a:latin typeface="Inter"/>
              </a:rPr>
              <a:t>Upload field telemetry from the new pack and retrain XGBoost from the dashboard — the adaptation loop closes without a developer.</a:t>
            </a:r>
          </a:p>
        </p:txBody>
      </p:sp>
      <p:pic>
        <p:nvPicPr>
          <p:cNvPr id="11" name="Picture 10" descr="diag_configu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52450"/>
            <a:ext cx="2212848" cy="2935978"/>
          </a:xfrm>
          <a:prstGeom prst="rect">
            <a:avLst/>
          </a:prstGeom>
        </p:spPr>
      </p:pic>
      <p:pic>
        <p:nvPicPr>
          <p:cNvPr id="12" name="Picture 11" descr="diag_chemistry_tie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36" y="1489041"/>
            <a:ext cx="2535631" cy="406279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What we would build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63040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463040"/>
            <a:ext cx="68580" cy="74980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1545336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Close the Cell Imbalance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8" y="1536192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65% recall is the weakest class. More real imbalance events, not more synthetic ones.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322576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66928" y="2322576"/>
            <a:ext cx="68580" cy="74980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2404872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Lift OOD 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395728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The gate never cries wolf, but catches one unknown in four. A tighter score threshold trades that off.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182112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182112"/>
            <a:ext cx="68580" cy="74980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77824" y="3264408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Move inference to the Zynq-7000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3255264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Tree traversal in programmable logic frees the CPU for the logger and the BLE link.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041648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66928" y="4041648"/>
            <a:ext cx="68580" cy="74980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77824" y="4123944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Characterise a second chemistry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4114800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LFP is remapped from its datasheet; it has not been driven on a bench the way NMC has.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901183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66928" y="4901183"/>
            <a:ext cx="68580" cy="74980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77824" y="4983479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SOH and remaining useful life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4608" y="4974336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dV/dt during CC-CV charging is the signal; the 39-cycle history is the starting corpus.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815583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Everything shown today is reproducible from this repository — figures, model and deck all rebuild from source.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LITERATURE — SOC, RUL AND FAULT GRADING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69363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17693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755648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Bimodal images + BFRN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Energy, 2024  ·  doi.org/10.1016/j.energy.2024.131700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91156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66928" y="239115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377439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Single-cycle charging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633472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Energy, 2025  ·  doi.org/10.1016/j.energy.2025.138351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012947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66928" y="301294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2999231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Multidomain features + CatBoost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255263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 Science &amp; Engineering, 2023  ·  doi.org/10.1002/ese3.1506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634739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6928" y="3634739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621023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CNN-BiLSTM-BiGRU with attention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877055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Journal of Energy Storage, 2024  ·  doi.org/10.1016/j.est.2024.113074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256531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66928" y="4256531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4242815"/>
            <a:ext cx="543153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Yang, S., Xu, B., Peng, H. — “Isolation and Grading of Faults in
Battery Packs Based on Machine Learning Methods”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4718303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Electronics, 11(9), 1494, 2022  ·  mdpi.com/2079-9292/11/9/1494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93408" y="1444752"/>
            <a:ext cx="4931359" cy="21396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94576" y="1572768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PRIMARY SOURCES — MANUFACTURER DATASHEETS</a:t>
            </a:r>
          </a:p>
        </p:txBody>
      </p:sp>
      <p:sp>
        <p:nvSpPr>
          <p:cNvPr id="30" name="Oval 29"/>
          <p:cNvSpPr/>
          <p:nvPr/>
        </p:nvSpPr>
        <p:spPr>
          <a:xfrm>
            <a:off x="6912864" y="1947672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14032" y="186537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LG Energy Solution INR21700-M50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93808" y="1874519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cell used in the 8S2P pack</a:t>
            </a:r>
          </a:p>
        </p:txBody>
      </p:sp>
      <p:sp>
        <p:nvSpPr>
          <p:cNvPr id="33" name="Oval 32"/>
          <p:cNvSpPr/>
          <p:nvPr/>
        </p:nvSpPr>
        <p:spPr>
          <a:xfrm>
            <a:off x="6912864" y="2295144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114032" y="2212848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DMEGC INR21700-45E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8" y="2221991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alternate NMC cell, parsed</a:t>
            </a:r>
          </a:p>
        </p:txBody>
      </p:sp>
      <p:sp>
        <p:nvSpPr>
          <p:cNvPr id="36" name="Oval 35"/>
          <p:cNvSpPr/>
          <p:nvPr/>
        </p:nvSpPr>
        <p:spPr>
          <a:xfrm>
            <a:off x="6912864" y="2642615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114032" y="2560320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Panasonic NCR18650B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93808" y="2569463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NCA tier reference</a:t>
            </a:r>
          </a:p>
        </p:txBody>
      </p:sp>
      <p:sp>
        <p:nvSpPr>
          <p:cNvPr id="39" name="Oval 38"/>
          <p:cNvSpPr/>
          <p:nvPr/>
        </p:nvSpPr>
        <p:spPr>
          <a:xfrm>
            <a:off x="6912864" y="2990087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114032" y="2907791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P3 3232 LFP 26650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8" y="2916935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LFP tier reference</a:t>
            </a:r>
          </a:p>
        </p:txBody>
      </p:sp>
      <p:sp>
        <p:nvSpPr>
          <p:cNvPr id="42" name="Oval 41"/>
          <p:cNvSpPr/>
          <p:nvPr/>
        </p:nvSpPr>
        <p:spPr>
          <a:xfrm>
            <a:off x="6912864" y="3337559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114032" y="3255263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JBD SP24S007 V1.1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93808" y="3264407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BMS protocol + registers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93408" y="3730752"/>
            <a:ext cx="4931359" cy="18836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894576" y="3858768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METHODS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12864" y="415137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Chen, T. &amp; Guestrin, C.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12864" y="432511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“XGBoost: A Scalable Tree Boosting System”, KDD 2016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12864" y="451713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Liu, F. T., Ting, K. M. &amp; Zhou, Z.-H.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12864" y="469087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“Isolation Forest”, ICDM 2008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12864" y="488289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Vaswani, A. et 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12864" y="505663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“Attention Is All You Need”, NeurIPS 2017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12864" y="524865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Pedregosa, F. et al.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12864" y="542239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“Scikit-learn: Machine Learning in Python”, JMLR 12, 2011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93408" y="5760720"/>
            <a:ext cx="49313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STACK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93408" y="5998464"/>
            <a:ext cx="493135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xgboost 3.2.0  ·  scikit-learn 1.9.1  ·  torch 2.14.0  ·  numpy 2.4.6
bleak  ·  Flask  ·  PostgreSQL  ·  Railway  ·  MATLAB / Simulink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