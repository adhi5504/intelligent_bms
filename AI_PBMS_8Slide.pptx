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problem, not with us. A battery management system reports one</a:t>
            </a:r>
          </a:p>
          <a:p>
            <a:r>
              <a:t>voltage for the whole string. That is the number a technician sees, and it looks</a:t>
            </a:r>
          </a:p>
          <a:p>
            <a:r>
              <a:t>fine right up until a cell takes the pack down. In a series string one weak cell</a:t>
            </a:r>
          </a:p>
          <a:p>
            <a:r>
              <a:t>caps all sixteen, so a single failing cell can retire an otherwise healthy pack.</a:t>
            </a:r>
          </a:p>
          <a:p>
            <a:r>
              <a:t>The person who has to catch that is a fleet technician servicing packs already</a:t>
            </a:r>
          </a:p>
          <a:p>
            <a:r>
              <a:t>out in the field. Today they get pack voltage, current and a fault light. They</a:t>
            </a:r>
          </a:p>
          <a:p>
            <a:r>
              <a:t>cannot tell you which cell is going, how far gone it is, or how long they have.</a:t>
            </a:r>
          </a:p>
          <a:p>
            <a:r>
              <a:t>We could not buy data at the resolution needed to answer that, so we built it:</a:t>
            </a:r>
          </a:p>
          <a:p>
            <a:r>
              <a:t>fifty cycles, over a hundred hours, a hundred and fifty-five thousand rows off a</a:t>
            </a:r>
          </a:p>
          <a:p>
            <a:r>
              <a:t>physical 8S2P pack. And the first thing it showed us is on the right — cell one,</a:t>
            </a:r>
          </a:p>
          <a:p>
            <a:r>
              <a:t>two hundred and eighty-nine millivolts below its neighbours, every single cycle,</a:t>
            </a:r>
          </a:p>
          <a:p>
            <a:r>
              <a:t>completely invisible to the pack-level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fault path on one slide. Five stages. Acquisition: the BMS</a:t>
            </a:r>
          </a:p>
          <a:p>
            <a:r>
              <a:t>senses, BLE carries it at one hertz, and we reject any row that is NaN or all</a:t>
            </a:r>
          </a:p>
          <a:p>
            <a:r>
              <a:t>zeros before it reaches the model. Context: we resolve the operating mode first,</a:t>
            </a:r>
          </a:p>
          <a:p>
            <a:r>
              <a:t>because a voltage sag under acceleration is normal and the same sag at idle is a</a:t>
            </a:r>
          </a:p>
          <a:p>
            <a:r>
              <a:t>fault — the mode flags are twelve percent of the model's gain. Detection: the</a:t>
            </a:r>
          </a:p>
          <a:p>
            <a:r>
              <a:t>IsolationForest gate runs before the classifier, so an unfamiliar window is</a:t>
            </a:r>
          </a:p>
          <a:p>
            <a:r>
              <a:t>escalated rather than forced into one of six labels. Risk: the class probability</a:t>
            </a:r>
          </a:p>
          <a:p>
            <a:r>
              <a:t>is multiplied by a physical severity derived from how far past the datasheet</a:t>
            </a:r>
          </a:p>
          <a:p>
            <a:r>
              <a:t>warning limit we are, raised further if the fault persists. Action: corrective</a:t>
            </a:r>
          </a:p>
          <a:p>
            <a:r>
              <a:t>instruction, logged alert, and comparison against the cycle history. And</a:t>
            </a:r>
          </a:p>
          <a:p>
            <a:r>
              <a:t>underneath all of it, the lane that does not depend on any of this — the JBD</a:t>
            </a:r>
          </a:p>
          <a:p>
            <a:r>
              <a:t>protection logic switching the MOSFETs at the pack. If every line of our</a:t>
            </a:r>
          </a:p>
          <a:p>
            <a:r>
              <a:t>software failed, that lane still opens the</a:t>
            </a:r>
          </a:p>
          <a:p>
            <a:r>
              <a:t>contactor. That lane is the BMS's own protection logic, not something we wrote.</a:t>
            </a:r>
          </a:p>
          <a:p>
            <a:r>
              <a:t>And the honest caveat, bottom right: this model has seen one physical</a:t>
            </a:r>
          </a:p>
          <a:p>
            <a:r>
              <a:t>pack with one chronic defect, so generalisation to other packs is unproven. The</a:t>
            </a:r>
          </a:p>
          <a:p>
            <a:r>
              <a:t>datasheet configurator and the in-browser retraining loop are how an operator</a:t>
            </a:r>
          </a:p>
          <a:p>
            <a:r>
              <a:t>adapts it to their own pack, and their telemetry stays in their own</a:t>
            </a:r>
          </a:p>
          <a:p>
            <a:r>
              <a:t>instance — we never pool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tiers at the edge, and I want to be precise about what exists. The JBD BMS</a:t>
            </a:r>
          </a:p>
          <a:p>
            <a:r>
              <a:t>is the sensing layer — eight cell taps, four thermistors, pack voltage and</a:t>
            </a:r>
          </a:p>
          <a:p>
            <a:r>
              <a:t>current. The Raspberry Pi 5 is the inference layer: it runs the logger, the</a:t>
            </a:r>
          </a:p>
          <a:p>
            <a:r>
              <a:t>feature engineering and the classifier. That is what is built and that is what</a:t>
            </a:r>
          </a:p>
          <a:p>
            <a:r>
              <a:t>you will see in the demo. Inference sits on the Pi deliberately — push it to a</a:t>
            </a:r>
          </a:p>
          <a:p>
            <a:r>
              <a:t>server and every network hiccup becomes a window where the pack is unmonitored.</a:t>
            </a:r>
          </a:p>
          <a:p>
            <a:r>
              <a:t>A third tier, an independent hardware watchdog on its own power rail, is</a:t>
            </a:r>
          </a:p>
          <a:p>
            <a:r>
              <a:t>specified and on our roadmap, but we have not built it, so it is not in this</a:t>
            </a:r>
          </a:p>
          <a:p>
            <a:r>
              <a:t>architecture. The lower diagram is the whole data path: the Pi pushes results up</a:t>
            </a:r>
          </a:p>
          <a:p>
            <a:r>
              <a:t>to a Flask dashboard on Railway, and because the Pi only ever dials out we never</a:t>
            </a:r>
          </a:p>
          <a:p>
            <a:r>
              <a:t>open an inbound port on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 runs the classifier locally and pushes results to a Flask</a:t>
            </a:r>
          </a:p>
          <a:p>
            <a:r>
              <a:t>dashboard deployed on Railway, which is what you open in a browser.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finished,</a:t>
            </a:r>
          </a:p>
          <a:p>
            <a:r>
              <a:t>and I want to be straight about it: imbalance recall, unknown-fault recall, the</a:t>
            </a:r>
          </a:p>
          <a:p>
            <a:r>
              <a:t>independent hardware watchdog on its own rail — designed and specified but not</a:t>
            </a:r>
          </a:p>
          <a:p>
            <a:r>
              <a:t>yet built — the Zynq path, a real LFP bench, and state of health. Thank you,</a:t>
            </a:r>
          </a:p>
          <a:p>
            <a:r>
              <a:t>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first, and these are our actual numbers. A Raspberry Pi 5 with cooler and</a:t>
            </a:r>
          </a:p>
          <a:p>
            <a:r>
              <a:t>supply, fifteen thousand rupees. The 8S2P pack with its JBD BMS, bought together</a:t>
            </a:r>
          </a:p>
          <a:p>
            <a:r>
              <a:t>at thirteen thousand, thermistors included. Twenty-eight thousand for the whole</a:t>
            </a:r>
          </a:p>
          <a:p>
            <a:r>
              <a:t>retrofit unit, and it sits alongside a pack already in service — no redesign, no</a:t>
            </a:r>
          </a:p>
          <a:p>
            <a:r>
              <a:t>recertification. Now the economics, and note what I am not claiming. I have no</a:t>
            </a:r>
          </a:p>
          <a:p>
            <a:r>
              <a:t>field savings figure to show you. What I can show you is the arithmetic on those</a:t>
            </a:r>
          </a:p>
          <a:p>
            <a:r>
              <a:t>two lines: the unit is twenty-eight thousand and it is not consumed, it moves to</a:t>
            </a:r>
          </a:p>
          <a:p>
            <a:r>
              <a:t>the next pack. A replacement pack is thirteen thousand and it is consumed. Three</a:t>
            </a:r>
          </a:p>
          <a:p>
            <a:r>
              <a:t>replacements deferred covers the unit, and you still own the unit. At volume the</a:t>
            </a:r>
          </a:p>
          <a:p>
            <a:r>
              <a:t>same logic moves onto a Zynq on the BMS board and the per-unit cost drops. Who pays: the fleet operator,</a:t>
            </a:r>
          </a:p>
          <a:p>
            <a:r>
              <a:t>because catching one weak cell early avoids replacing an otherwise healthy pack;</a:t>
            </a:r>
          </a:p>
          <a:p>
            <a:r>
              <a:t>and the OEM, because the same signal cuts warranty claims. Now the table on the</a:t>
            </a:r>
          </a:p>
          <a:p>
            <a:r>
              <a:t>right, compiled from their public product pages, and I want to be precise about</a:t>
            </a:r>
          </a:p>
          <a:p>
            <a:r>
              <a:t>this. Orion, Nuvation and the JBD-class boards all do per-cell sensing — we are not claiming otherwise. What none of</a:t>
            </a:r>
          </a:p>
          <a:p>
            <a:r>
              <a:t>them does is classify what kind of fault it is, tell you how confident it is, or</a:t>
            </a:r>
          </a:p>
          <a:p>
            <a:r>
              <a:t>let you point it at a different chemistry by uploading a datasheet. They protect</a:t>
            </a:r>
          </a:p>
          <a:p>
            <a:r>
              <a:t>the pack after a threshold breaks. We tell a technician which cell, what is wrong</a:t>
            </a:r>
          </a:p>
          <a:p>
            <a:r>
              <a:t>with it, and how sure we are — and we abstain when we are not sure. That is the</a:t>
            </a:r>
          </a:p>
          <a:p>
            <a:r>
              <a:t>axis we compete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One weak cell is invisible to a pack-level BMS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81328"/>
            <a:ext cx="11057839" cy="1097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57276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810512"/>
            <a:ext cx="804672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pack BMS reports one voltage for the whole string. A single degrading cell stays hidden until it forces a shutdown — or an early pack replacement.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38767" y="1609344"/>
            <a:ext cx="2103120" cy="859536"/>
          </a:xfrm>
          <a:prstGeom prst="rect">
            <a:avLst/>
          </a:prstGeom>
          <a:solidFill>
            <a:srgbClr val="FFFFFF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38767" y="166420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E7490"/>
                </a:solidFill>
                <a:latin typeface="Inter"/>
              </a:rPr>
              <a:t>1 of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1919" y="1975104"/>
            <a:ext cx="19568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a weak cell caps the whole string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1919" y="2212848"/>
            <a:ext cx="195681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475569"/>
                </a:solidFill>
                <a:latin typeface="Inter"/>
              </a:rPr>
              <a:t>derived from our 8S2P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493008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WHO OPERATES THIS, AND WHAT THEY HAVE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579729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13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A fleet technician servicing packs already in the field.</a:t>
            </a:r>
          </a:p>
          <a:p>
            <a:pPr marL="274320" indent="-274320">
              <a:lnSpc>
                <a:spcPct val="116000"/>
              </a:lnSpc>
              <a:spcAft>
                <a:spcPts val="13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Today they see pack voltage, current, and a fault LED.</a:t>
            </a:r>
          </a:p>
          <a:p>
            <a:pPr marL="274320" indent="-274320">
              <a:lnSpc>
                <a:spcPct val="116000"/>
              </a:lnSpc>
              <a:spcAft>
                <a:spcPts val="13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They cannot see which cell, how degraded, or how soon.</a:t>
            </a:r>
          </a:p>
        </p:txBody>
      </p:sp>
      <p:pic>
        <p:nvPicPr>
          <p:cNvPr id="17" name="Picture 16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2863" y="2615184"/>
            <a:ext cx="3372447" cy="2395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3408" y="506577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289 mV below its neighbours, every cycle — invisible at pack level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2180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SO WE BUILT THE DATASET OURSELVES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596128"/>
            <a:ext cx="2668447" cy="566928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5650992"/>
            <a:ext cx="2668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925312"/>
            <a:ext cx="266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3391" y="5596128"/>
            <a:ext cx="2668447" cy="566928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63391" y="5650992"/>
            <a:ext cx="2668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3391" y="5925312"/>
            <a:ext cx="266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59855" y="5596128"/>
            <a:ext cx="2668447" cy="566928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59855" y="5650992"/>
            <a:ext cx="2668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9855" y="5925312"/>
            <a:ext cx="266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56319" y="5596128"/>
            <a:ext cx="2668447" cy="566928"/>
          </a:xfrm>
          <a:prstGeom prst="rect">
            <a:avLst/>
          </a:prstGeom>
          <a:solidFill>
            <a:srgbClr val="F1F5F9"/>
          </a:solidFill>
          <a:ln w="889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956319" y="5650992"/>
            <a:ext cx="2668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6319" y="5925312"/>
            <a:ext cx="2668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NMC cells in 8S2P.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334256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Fault detection,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pic>
        <p:nvPicPr>
          <p:cNvPr id="7" name="Picture 6" descr="diag_faul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340" y="1353312"/>
            <a:ext cx="7107013" cy="37673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5193792"/>
            <a:ext cx="2627299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0E7490"/>
                </a:solidFill>
                <a:latin typeface="Inter"/>
              </a:rPr>
              <a:t>FIVE STAGES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Acquire → establish context → detect → score risk → act. Every block maps to a module in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710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77107" y="5193792"/>
            <a:ext cx="2627299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341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45309"/>
                </a:solidFill>
                <a:latin typeface="Inter"/>
              </a:rPr>
              <a:t>MODE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41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Context is resolved before detection: the same voltage sag means different things in ACCEL and IDLE.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3359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TWO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59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The ML lane can abstain or be wrong. The hardware lane cannot — it runs at the pack, with no software in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97467" y="5193792"/>
            <a:ext cx="2627299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97467" y="5193792"/>
            <a:ext cx="2627299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3771" y="5312664"/>
            <a:ext cx="23346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1">
                <a:solidFill>
                  <a:srgbClr val="B91C1C"/>
                </a:solidFill>
                <a:latin typeface="Inter"/>
              </a:rPr>
              <a:t>KNOWN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771" y="5541264"/>
            <a:ext cx="233469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0F172A"/>
                </a:solidFill>
                <a:latin typeface="Inter"/>
              </a:rPr>
              <a:t>Trained on one pack with one chronic defect (cell_v1), so generalisation is unproven. The datasheet configurator and in-browser retraining are the mitigation. Telemetry stays in the operator's own instance.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the logger and XGBoost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dials out to Railway —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387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259" y="4928616"/>
            <a:ext cx="878633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31136" y="5843016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pic>
        <p:nvPicPr>
          <p:cNvPr id="15" name="Picture 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064" y="1481328"/>
            <a:ext cx="4522046" cy="2240280"/>
          </a:xfrm>
          <a:prstGeom prst="rect">
            <a:avLst/>
          </a:prstGeom>
        </p:spPr>
      </p:pic>
      <p:pic>
        <p:nvPicPr>
          <p:cNvPr id="16" name="Picture 15" descr="diag_system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dashboard on Railway,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5371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4"/>
            <a:ext cx="54864" cy="1828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7823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038344"/>
            <a:ext cx="54864" cy="1828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0109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54864" cy="1828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2395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Independent hardware watchdog on a separate rail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955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4681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7241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6967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952744"/>
            <a:ext cx="54864" cy="1828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68096" y="592531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5" name="Picture 24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6" name="Picture 25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it costs, who pays, and why they switch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BOM — THE UNIT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737360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Raspberry Pi 5 (8 GB) + cooler + PSU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37360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₹15,000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02536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3504" y="2121408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8S2P NMC pack + JBD 8S BMS (NTCs included)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121408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Inter"/>
              </a:rPr>
              <a:t>₹13,000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386584"/>
            <a:ext cx="5797296" cy="731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2560320"/>
            <a:ext cx="5797296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3504" y="2660904"/>
            <a:ext cx="42428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Inter"/>
              </a:rPr>
              <a:t>Total, one retrofit 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60904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B91C1C"/>
                </a:solidFill>
                <a:latin typeface="Inter"/>
              </a:rPr>
              <a:t>₹28,000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602736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TWO ROUTES 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2807208" cy="1335024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RETROFIT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279392"/>
            <a:ext cx="2514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Pi 5 alongside the BMS already in the pack.
No redesign, no recertification.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57016" y="3877056"/>
            <a:ext cx="2807208" cy="1335024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703320" y="4023360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OEM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279392"/>
            <a:ext cx="2514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Zynq-7000 on the BMS board itself.
Per-unit cost falls at volume.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1444752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WHERE WE ARE DIFFERENT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93408" y="1700784"/>
            <a:ext cx="4931359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775704" y="1700784"/>
            <a:ext cx="112004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0343" y="1700784"/>
            <a:ext cx="6227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Per-cell
sensing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7703" y="1700784"/>
            <a:ext cx="788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Learned
fault classes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0823" y="1700784"/>
            <a:ext cx="74708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Abstains
when unsure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2503" y="1700784"/>
            <a:ext cx="829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  <a:latin typeface="Inter"/>
              </a:rPr>
              <a:t>Datasheet
reconfig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3408" y="2633472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775704" y="2212848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Orion BMS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0343" y="2212848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7703" y="2212848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0823" y="2212848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12503" y="2212848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93408" y="3054096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75704" y="2633472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Nuvation BMS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0343" y="2633472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7703" y="2633472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0823" y="2633472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2503" y="2633472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93408" y="3474720"/>
            <a:ext cx="493135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775704" y="3054096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JBD-class BMS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0343" y="3054096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7703" y="3054096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00823" y="3054096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12503" y="3054096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93408" y="3474720"/>
            <a:ext cx="493135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775704" y="3474720"/>
            <a:ext cx="112004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F172A"/>
                </a:solidFill>
                <a:latin typeface="Inter"/>
              </a:rPr>
              <a:t>AI-PBMS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0343" y="3474720"/>
            <a:ext cx="6227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47703" y="3474720"/>
            <a:ext cx="78852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6 classes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0823" y="3474720"/>
            <a:ext cx="74708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3 bands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12503" y="3474720"/>
            <a:ext cx="82996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PDF → profile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3986783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Compiled from public product pages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93408" y="4389120"/>
            <a:ext cx="4931359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894576" y="4480560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THE ARGUMENT IN ONE 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94576" y="4700016"/>
            <a:ext cx="45290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Every product there protects the pack once a threshold breaks. None tells a technician which cell is failing, how confident that call is, or adapts to a new chemistry from a PDF.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93408" y="548640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WHO PAYS, AND WHY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93408" y="5724144"/>
            <a:ext cx="49313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The ₹28,000 unit is not consumed — it moves to the next pack. A replacement pack is ₹13,000 and is. Three replacements deferred covers the unit, and the unit is still in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NMC tier reference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80176"/>
            <a:ext cx="493135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8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