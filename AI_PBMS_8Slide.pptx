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problem, not with us. A battery management system reports one</a:t>
            </a:r>
          </a:p>
          <a:p>
            <a:r>
              <a:t>voltage for the whole string. That is the number a technician sees, and it looks</a:t>
            </a:r>
          </a:p>
          <a:p>
            <a:r>
              <a:t>fine right up until a cell takes the pack down. The battery is thirty to forty</a:t>
            </a:r>
          </a:p>
          <a:p>
            <a:r>
              <a:t>percent of what the vehicle costs, and in a series string one weak cell caps all</a:t>
            </a:r>
          </a:p>
          <a:p>
            <a:r>
              <a:t>sixteen — so a single failing cell can retire an otherwise healthy pack. Today</a:t>
            </a:r>
          </a:p>
          <a:p>
            <a:r>
              <a:t>the operator gets pack voltage, current and a fault light. They cannot tell you</a:t>
            </a:r>
          </a:p>
          <a:p>
            <a:r>
              <a:t>which cell, how far gone it is, or how long they have. We could not buy data at</a:t>
            </a:r>
          </a:p>
          <a:p>
            <a:r>
              <a:t>that resolution, so we built it: fifty cycles, a hundred hours, a hundred and</a:t>
            </a:r>
          </a:p>
          <a:p>
            <a:r>
              <a:t>fifty-five thousand rows off a physical 8S2P pack. And the first thing it showed</a:t>
            </a:r>
          </a:p>
          <a:p>
            <a:r>
              <a:t>us is on the right — cell one, two hundred and eighty-nine millivolts below its</a:t>
            </a:r>
          </a:p>
          <a:p>
            <a:r>
              <a:t>neighbours, every single cycle, completely invisible to the pack-level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wants; two in parallel</a:t>
            </a:r>
          </a:p>
          <a:p>
            <a:r>
              <a:t>gives eight amp-hours and the current headroom for realistic profiles. Eight</a:t>
            </a:r>
          </a:p>
          <a:p>
            <a:r>
              <a:t>series groups means eight sense taps, so imbalance is measured rather than</a:t>
            </a:r>
          </a:p>
          <a:p>
            <a:r>
              <a:t>inferred. On modelling, one RC branch caught the instant ohmic drop but missed</a:t>
            </a:r>
          </a:p>
          <a:p>
            <a:r>
              <a:t>the slow recovery after a load step, so we went to two — fast at 0.18 seconds,</a:t>
            </a:r>
          </a:p>
          <a:p>
            <a:r>
              <a:t>slow at 1.05. All five parameters were fitted on a clean HPPC segment, and the</a:t>
            </a:r>
          </a:p>
          <a:p>
            <a:r>
              <a:t>same estimation gave us the OCV curve: 13.4 millivolts per percent of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purpose. Two things bit us: BLE fragments long</a:t>
            </a:r>
          </a:p>
          <a:p>
            <a:r>
              <a:t>responses across frames, so early logs were silently truncated, and the four</a:t>
            </a:r>
          </a:p>
          <a:p>
            <a:r>
              <a:t>thermistors were read at the wrong byte offset. From seventeen raw channels we</a:t>
            </a:r>
          </a:p>
          <a:p>
            <a:r>
              <a:t>derive fifty-one features — rolling statistics, first derivatives, per-cell rise</a:t>
            </a:r>
          </a:p>
          <a:p>
            <a:r>
              <a:t>and drop rates, driving-mode flags. The chart top right is read out of the</a:t>
            </a:r>
          </a:p>
          <a:p>
            <a:r>
              <a:t>trained model, not our opinion. Because cell one is chronically low, a</a:t>
            </a:r>
          </a:p>
          <a:p>
            <a:r>
              <a:t>rule-based labeller marked seventy percent of rows as imbalance, so we balanced</a:t>
            </a:r>
          </a:p>
          <a:p>
            <a:r>
              <a:t>with physics-informed synthetic faults rather than discarding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look at what it costs. Both models</a:t>
            </a:r>
          </a:p>
          <a:p>
            <a:r>
              <a:t>sit behind the same sixty-row buffer in our pipeline. The difference is that</a:t>
            </a:r>
          </a:p>
          <a:p>
            <a:r>
              <a:t>XGBoost only eats the last row of it, and its deepest feature is a ten-sample</a:t>
            </a:r>
          </a:p>
          <a:p>
            <a:r>
              <a:t>rolling window, so that sixty is a constant we chose and could shorten to ten</a:t>
            </a:r>
          </a:p>
          <a:p>
            <a:r>
              <a:t>tomorrow. The Transformer eats all sixty, and its positional encoding fixes that</a:t>
            </a:r>
          </a:p>
          <a:p>
            <a:r>
              <a:t>length inside the weights — you cannot shorten it without retraining. On top of</a:t>
            </a:r>
          </a:p>
          <a:p>
            <a:r>
              <a:t>that, torch is five times the runtime footprint of xgboost on the Pi, it gives no</a:t>
            </a:r>
          </a:p>
          <a:p>
            <a:r>
              <a:t>per-feature attribution an engineer can audit, and it cannot be retrained from</a:t>
            </a:r>
          </a:p>
          <a:p>
            <a:r>
              <a:t>the browser the way our configurator retrains XGBoost today. That is why it</a:t>
            </a:r>
          </a:p>
          <a:p>
            <a:r>
              <a:t>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Normal, Overvoltage and Overtemperature all clear ninety-seven percent F1. Cell</a:t>
            </a:r>
          </a:p>
          <a:p>
            <a:r>
              <a:t>Imbalance recall is sixty-five, and that is the weakest number here — its misses</a:t>
            </a:r>
          </a:p>
          <a:p>
            <a:r>
              <a:t>go to Undervoltage, which is physically sensible: one cell drops and pack</a:t>
            </a:r>
          </a:p>
          <a:p>
            <a:r>
              <a:t>voltage follows. Around the classifier we wrap two things. A confidence band:</a:t>
            </a:r>
          </a:p>
          <a:p>
            <a:r>
              <a:t>below zero-point-five we abstain, up to zero-eight-five we warn, above that we</a:t>
            </a:r>
          </a:p>
          <a:p>
            <a:r>
              <a:t>alert. And in front of it, an IsolationForest gate for failure modes we have</a:t>
            </a:r>
          </a:p>
          <a:p>
            <a:r>
              <a:t>never seen — AUROC nine-one-three, a hundred percent precision, zero false</a:t>
            </a:r>
          </a:p>
          <a:p>
            <a:r>
              <a:t>positives, catching one unknown in four. Tuned that way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fault path on one slide. Five stages. Acquisition: the BMS</a:t>
            </a:r>
          </a:p>
          <a:p>
            <a:r>
              <a:t>senses, BLE carries it at one hertz, and we reject any row that is NaN or all</a:t>
            </a:r>
          </a:p>
          <a:p>
            <a:r>
              <a:t>zeros before it reaches the model. Context: we resolve the operating mode first,</a:t>
            </a:r>
          </a:p>
          <a:p>
            <a:r>
              <a:t>because a voltage sag under acceleration is normal and the same sag at idle is a</a:t>
            </a:r>
          </a:p>
          <a:p>
            <a:r>
              <a:t>fault — the mode flags are twelve percent of the model's gain. Detection: the</a:t>
            </a:r>
          </a:p>
          <a:p>
            <a:r>
              <a:t>IsolationForest gate runs before the classifier, so an unfamiliar window is</a:t>
            </a:r>
          </a:p>
          <a:p>
            <a:r>
              <a:t>escalated rather than forced into one of six labels. Risk: the class probability</a:t>
            </a:r>
          </a:p>
          <a:p>
            <a:r>
              <a:t>is multiplied by a physical severity derived from how far past the datasheet</a:t>
            </a:r>
          </a:p>
          <a:p>
            <a:r>
              <a:t>warning limit we are, raised further if the fault persists. Action: corrective</a:t>
            </a:r>
          </a:p>
          <a:p>
            <a:r>
              <a:t>instruction, logged alert, and comparison against the cycle history. And</a:t>
            </a:r>
          </a:p>
          <a:p>
            <a:r>
              <a:t>underneath all of it, the lane that does not depend on any of this — the JBD</a:t>
            </a:r>
          </a:p>
          <a:p>
            <a:r>
              <a:t>protection logic switching the MOSFETs at the pack. If every line of our</a:t>
            </a:r>
          </a:p>
          <a:p>
            <a:r>
              <a:t>software failed, that lane still opens the</a:t>
            </a:r>
          </a:p>
          <a:p>
            <a:r>
              <a:t>contactor. That lane is the BMS's own protection logic, not something we wrote.</a:t>
            </a:r>
          </a:p>
          <a:p>
            <a:r>
              <a:t>And the honest caveat, bottom right: this model has seen one physical</a:t>
            </a:r>
          </a:p>
          <a:p>
            <a:r>
              <a:t>pack with one chronic defect, so generalisation to other packs is unproven. The</a:t>
            </a:r>
          </a:p>
          <a:p>
            <a:r>
              <a:t>datasheet configurator and the in-browser retraining loop are how an operator</a:t>
            </a:r>
          </a:p>
          <a:p>
            <a:r>
              <a:t>adapts it to their own pack, and their telemetry stays in their own</a:t>
            </a:r>
          </a:p>
          <a:p>
            <a:r>
              <a:t>instance — we never pool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tiers at the edge, and I want to be precise about what exists. The JBD BMS</a:t>
            </a:r>
          </a:p>
          <a:p>
            <a:r>
              <a:t>is the sensing layer — eight cell taps, four thermistors, pack voltage and</a:t>
            </a:r>
          </a:p>
          <a:p>
            <a:r>
              <a:t>current. The Raspberry Pi 5 is the inference layer: it runs the logger, the</a:t>
            </a:r>
          </a:p>
          <a:p>
            <a:r>
              <a:t>feature engineering and the classifier. That is what is built and that is what</a:t>
            </a:r>
          </a:p>
          <a:p>
            <a:r>
              <a:t>you will see in the demo. Inference sits on the Pi deliberately — push it to a</a:t>
            </a:r>
          </a:p>
          <a:p>
            <a:r>
              <a:t>server and every network hiccup becomes a window where the pack is unmonitored.</a:t>
            </a:r>
          </a:p>
          <a:p>
            <a:r>
              <a:t>A third tier, an independent hardware watchdog on its own power rail, is</a:t>
            </a:r>
          </a:p>
          <a:p>
            <a:r>
              <a:t>specified and on our roadmap, but we have not built it, so it is not in this</a:t>
            </a:r>
          </a:p>
          <a:p>
            <a:r>
              <a:t>architecture. The lower diagram is the whole data path: the Pi pushes results up</a:t>
            </a:r>
          </a:p>
          <a:p>
            <a:r>
              <a:t>to a Flask dashboard on Railway, and because the Pi only ever dials out we never</a:t>
            </a:r>
          </a:p>
          <a:p>
            <a:r>
              <a:t>open an inbound port on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 runs the classifier locally and pushes results to a Flask</a:t>
            </a:r>
          </a:p>
          <a:p>
            <a:r>
              <a:t>dashboard deployed on Railway, which is what you open in a browser. It is</a:t>
            </a:r>
          </a:p>
          <a:p>
            <a:r>
              <a:t>operator-facing: live per-cell voltages, pack current with direction, four</a:t>
            </a:r>
          </a:p>
          <a:p>
            <a:r>
              <a:t>thermal zones, and an ETA smoothed with an EMA so it does not jitter. The piece</a:t>
            </a:r>
          </a:p>
          <a:p>
            <a:r>
              <a:t>worth calling out is driving context — four modes derived from the change in</a:t>
            </a:r>
          </a:p>
          <a:p>
            <a:r>
              <a:t>current magnitude, because a voltage sag under hard acceleration is normal and</a:t>
            </a:r>
          </a:p>
          <a:p>
            <a:r>
              <a:t>the same sag at idle is a fault. And the cycle engine compares each live cycle</a:t>
            </a:r>
          </a:p>
          <a:p>
            <a:r>
              <a:t>against the average of all thirty-nine before it, so degradation shows up before</a:t>
            </a:r>
          </a:p>
          <a:p>
            <a:r>
              <a:t>any absolute threshold is breached.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piece is what makes this reusable. Upload the manufacturer datasheet,</a:t>
            </a:r>
          </a:p>
          <a:p>
            <a:r>
              <a:t>the parser pulls chemistry and every limit, pack sizing derives the series and</a:t>
            </a:r>
          </a:p>
          <a:p>
            <a:r>
              <a:t>parallel counts, and the chemistry gets tiered: NMC is direct reuse, NCA and LCO</a:t>
            </a:r>
          </a:p>
          <a:p>
            <a:r>
              <a:t>share the ceiling so they only shift, LFP needs a genuine remap to 2.50 to 3.65</a:t>
            </a:r>
          </a:p>
          <a:p>
            <a:r>
              <a:t>volts because of that flat OCV curve, and LTO needs everything rescaled. And you</a:t>
            </a:r>
          </a:p>
          <a:p>
            <a:r>
              <a:t>can retrain on your own field telemetry from the browser. What is not finished,</a:t>
            </a:r>
          </a:p>
          <a:p>
            <a:r>
              <a:t>and I want to be straight about it: imbalance recall, unknown-fault recall, the</a:t>
            </a:r>
          </a:p>
          <a:p>
            <a:r>
              <a:t>independent hardware watchdog on its own rail — designed and specified but not</a:t>
            </a:r>
          </a:p>
          <a:p>
            <a:r>
              <a:t>yet built — the Zynq path, a real LFP bench, and state of health. Thank you,</a:t>
            </a:r>
          </a:p>
          <a:p>
            <a:r>
              <a:t>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first. The unit we built is a Raspberry Pi 5 with its cooler and supply at</a:t>
            </a:r>
          </a:p>
          <a:p>
            <a:r>
              <a:t>fifteen thousand rupees, and the 8S2P pack with its JBD BMS — bought together at</a:t>
            </a:r>
          </a:p>
          <a:p>
            <a:r>
              <a:t>thirteen thousand, thermistors included. Add the harness and enclosure and that</a:t>
            </a:r>
          </a:p>
          <a:p>
            <a:r>
              <a:t>is the whole retrofit box: it sits alongside a pack already in service, with no</a:t>
            </a:r>
          </a:p>
          <a:p>
            <a:r>
              <a:t>redesign and no recertification. At volume the same logic moves onto a Zynq on</a:t>
            </a:r>
          </a:p>
          <a:p>
            <a:r>
              <a:t>the BMS board itself and the per-unit cost drops. Who pays: the fleet operator,</a:t>
            </a:r>
          </a:p>
          <a:p>
            <a:r>
              <a:t>because catching one weak cell early avoids replacing an otherwise healthy pack;</a:t>
            </a:r>
          </a:p>
          <a:p>
            <a:r>
              <a:t>and the OEM, because the same signal cuts warranty claims. Now the table on the</a:t>
            </a:r>
          </a:p>
          <a:p>
            <a:r>
              <a:t>right, and I want to be precise about this. Orion, Nuvation and the JBD-class</a:t>
            </a:r>
          </a:p>
          <a:p>
            <a:r>
              <a:t>boards all do per-cell sensing — we are not claiming otherwise. What none of</a:t>
            </a:r>
          </a:p>
          <a:p>
            <a:r>
              <a:t>them does is classify what kind of fault it is, tell you how confident it is, or</a:t>
            </a:r>
          </a:p>
          <a:p>
            <a:r>
              <a:t>let you point it at a different chemistry by uploading a datasheet. They protect</a:t>
            </a:r>
          </a:p>
          <a:p>
            <a:r>
              <a:t>the pack after a threshold breaks. We tell a technician which cell, what is wrong</a:t>
            </a:r>
          </a:p>
          <a:p>
            <a:r>
              <a:t>with it, and how sure we are — and we abstain when we are not sure. That is the</a:t>
            </a:r>
          </a:p>
          <a:p>
            <a:r>
              <a:t>axis we compete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 shaped the approach. The first four are the state-of-the-art we</a:t>
            </a:r>
          </a:p>
          <a:p>
            <a:r>
              <a:t>benchmarked our thinking against for state-of-charge and remaining-useful-life</a:t>
            </a:r>
          </a:p>
          <a:p>
            <a:r>
              <a:t>prediction — bimodal image encoding, single-cycle charging features, multidomain</a:t>
            </a:r>
          </a:p>
          <a:p>
            <a:r>
              <a:t>features with CatBoost, and the CNN-BiLSTM-BiGRU attention stack. The fifth,</a:t>
            </a:r>
          </a:p>
          <a:p>
            <a:r>
              <a:t>Yang, Xu and Peng in Electronics, is where our confidence-scoring and fault</a:t>
            </a:r>
          </a:p>
          <a:p>
            <a:r>
              <a:t>grading framework comes from — that is the source of the three-tier abstain,</a:t>
            </a:r>
          </a:p>
          <a:p>
            <a:r>
              <a:t>warn, alert structure on slide five. On the right are the primary sources: the</a:t>
            </a:r>
          </a:p>
          <a:p>
            <a:r>
              <a:t>manufacturer datasheets the threshold matrix is parsed from, and the JBD</a:t>
            </a:r>
          </a:p>
          <a:p>
            <a:r>
              <a:t>protocol spec the logger was written against.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jp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540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AI-PBMS — AI-Powered Predictive Battery Management System  ·  Team ANS_4X  ·  PSG iTech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One weak cell is invisible to a pack-level BMS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53312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532888" y="1353312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81328"/>
            <a:ext cx="11057839" cy="10972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157276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810512"/>
            <a:ext cx="553212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pack BMS reports one voltage for the whole string. A single degrading cell stays hidden until it forces a shutdown — or an early pack replacement.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6383" y="1609344"/>
            <a:ext cx="1627632" cy="859536"/>
          </a:xfrm>
          <a:prstGeom prst="rect">
            <a:avLst/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66383" y="166420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B91C1C"/>
                </a:solidFill>
                <a:latin typeface="Inter"/>
              </a:rPr>
              <a:t>30–40%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9535" y="1965960"/>
            <a:ext cx="1481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of EV cost is the battery 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9535" y="2231136"/>
            <a:ext cx="1481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B91C1C"/>
                </a:solidFill>
                <a:latin typeface="Inter"/>
              </a:rPr>
              <a:t>[VERIFY — source?]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0319" y="1609344"/>
            <a:ext cx="1627632" cy="859536"/>
          </a:xfrm>
          <a:prstGeom prst="rect">
            <a:avLst/>
          </a:prstGeom>
          <a:solidFill>
            <a:srgbClr val="FFFFFF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0319" y="166420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E7490"/>
                </a:solidFill>
                <a:latin typeface="Inter"/>
              </a:rPr>
              <a:t>1 of 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3471" y="1965960"/>
            <a:ext cx="1481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a weak cell caps the whole string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3471" y="2231136"/>
            <a:ext cx="1481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Inter"/>
              </a:rPr>
              <a:t>derived from our 8S2P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14255" y="1609344"/>
            <a:ext cx="1627632" cy="859536"/>
          </a:xfrm>
          <a:prstGeom prst="rect">
            <a:avLst/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814255" y="1664208"/>
            <a:ext cx="1627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B91C1C"/>
                </a:solidFill>
                <a:latin typeface="Inter"/>
              </a:rPr>
              <a:t>[FILL]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87407" y="1965960"/>
            <a:ext cx="1481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India EV registrations, latest 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87407" y="2231136"/>
            <a:ext cx="1481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B91C1C"/>
                </a:solidFill>
                <a:latin typeface="Inter"/>
              </a:rPr>
              <a:t>[VERIFY — source?]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706624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WHO OPERATES THIS, AND WHAT THEY HAVE TODAY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980944"/>
            <a:ext cx="5797296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6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00">
                <a:solidFill>
                  <a:srgbClr val="0F172A"/>
                </a:solidFill>
                <a:latin typeface="Inter"/>
              </a:rPr>
              <a:t>[EVIDENCE: operator role — fleet technician? depot? OEM service?]</a:t>
            </a:r>
          </a:p>
          <a:p>
            <a:pPr marL="274320" indent="-274320">
              <a:lnSpc>
                <a:spcPct val="116000"/>
              </a:lnSpc>
              <a:spcAft>
                <a:spcPts val="6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00">
                <a:solidFill>
                  <a:srgbClr val="0F172A"/>
                </a:solidFill>
                <a:latin typeface="Inter"/>
              </a:rPr>
              <a:t>Today they see pack voltage, current, and a fault LED.</a:t>
            </a:r>
          </a:p>
          <a:p>
            <a:pPr marL="274320" indent="-274320">
              <a:lnSpc>
                <a:spcPct val="116000"/>
              </a:lnSpc>
              <a:spcAft>
                <a:spcPts val="6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00">
                <a:solidFill>
                  <a:srgbClr val="0F172A"/>
                </a:solidFill>
                <a:latin typeface="Inter"/>
              </a:rPr>
              <a:t>They cannot see which cell, how degraded, or how soon.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315968"/>
            <a:ext cx="5797296" cy="14264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8096" y="442569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FIELD EVIDENCE TO INSERT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681728"/>
            <a:ext cx="5394959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[EVIDENCE: fleet operator interview — what they said]
[EVIDENCE: time or cost to diagnose one pack today]</a:t>
            </a:r>
          </a:p>
        </p:txBody>
      </p:sp>
      <p:pic>
        <p:nvPicPr>
          <p:cNvPr id="28" name="Picture 27" descr="fig_cel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967" y="2651760"/>
            <a:ext cx="3192240" cy="22677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93408" y="4992624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289 mV below its neighbours, every cycle — invisible at pack level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8" y="5285232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SO WE BUILT THE DATASET OURSELVES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3408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693408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cycles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49107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949107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9107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each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04807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204807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04807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logged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60507" y="5541264"/>
            <a:ext cx="1164259" cy="530352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460507" y="5577840"/>
            <a:ext cx="11642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60507" y="5833872"/>
            <a:ext cx="11642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0">
                <a:solidFill>
                  <a:srgbClr val="475569"/>
                </a:solidFill>
                <a:latin typeface="Inter"/>
              </a:rPr>
              <a:t>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pack, and the model of the pack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8S sets the 33.6 V nominal bus voltage.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2P buys 8 Ah and current headroom.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Sixteen LG INR21700-M50 cells.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Eight taps make imbalance observable.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NTCs give thermal resolution.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1RC missed the slow relaxation.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75887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2RC PARAMETERS — FITTED ON THE 0–4000 s HPPC SEGMENT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81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481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81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93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93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69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81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5481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81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93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293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13.4 mV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93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1% SOC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833872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Vt = OCV(SOC) − I·R₀ − V_RC1 − V_RC2</a:t>
            </a:r>
          </a:p>
        </p:txBody>
      </p:sp>
      <p:pic>
        <p:nvPicPr>
          <p:cNvPr id="29" name="Picture 28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245" y="1444752"/>
            <a:ext cx="3755684" cy="1938528"/>
          </a:xfrm>
          <a:prstGeom prst="rect">
            <a:avLst/>
          </a:prstGeom>
        </p:spPr>
      </p:pic>
      <p:pic>
        <p:nvPicPr>
          <p:cNvPr id="30" name="Picture 29" descr="diag_2rc_e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335" y="3639312"/>
            <a:ext cx="4347504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a balanced training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→ BLE (bleak) → jbd_logger v9.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Fragmented BLE frames reassembled first.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NTC byte-offset fix realigned four channels.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17 raw channels become 51 features.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Rolling stats, derivatives, per-cell rates.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cell_v1 skew labelled 70.2% Cell Imbalance.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5797296" cy="11155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89534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151376"/>
            <a:ext cx="53949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Physics-informed synthetic faults generated against datasheet limits, then balanced to an equal count per class — 50/50 real to synthetic.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010912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5120640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LEAKAGE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376672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Windows and derivatives computed inside each (split, label) group, so none straddles a train/test boundary. 208,010 rows, 70/15/15.</a:t>
            </a:r>
          </a:p>
        </p:txBody>
      </p:sp>
      <p:pic>
        <p:nvPicPr>
          <p:cNvPr id="15" name="Picture 14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19" y="1444752"/>
            <a:ext cx="3420735" cy="2514600"/>
          </a:xfrm>
          <a:prstGeom prst="rect">
            <a:avLst/>
          </a:prstGeom>
        </p:spPr>
      </p:pic>
      <p:pic>
        <p:nvPicPr>
          <p:cNvPr id="16" name="Picture 15" descr="fig_data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869" y="4059935"/>
            <a:ext cx="3236436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02336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1-row input, 10-row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334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31136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31136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31136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31136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31136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+0.92% acc; 60 rows locked 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3580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33472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33472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33472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33472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33472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4381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35808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35808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35808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35808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35808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84048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438144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438144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438144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438144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438144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24281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84048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84048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84048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84048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84048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213" y="4334256"/>
            <a:ext cx="397726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87044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Both models sit behind the same 60-row pipeline buffer, but XGBoost consumes only the last row and its deepest feature is a 10-sample rolling window, so that 60 is a constant we chose; the Transformer consumes all 60 and its positional encoding fixes the length in the weights.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honest confidence, one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Normal, Overvoltage, Overtemp clear 97% F1.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 Imbalance recall 65% — the weak spot.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Misses land on Undervoltage, physically adjacent.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Below 0.50 the model abstains outright.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0.50–0.85 warns; above 0.85 alerts.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An IsolationForest gate runs before the classifier.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0.913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AUROC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false positives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24.5%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recall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35424"/>
            <a:ext cx="5797296" cy="15179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645152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01184"/>
            <a:ext cx="539495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28.7% of true Cell Imbalance samples are predicted Undervoltage — one cell drops, pack voltage follows. Separating them needs more real imbalance events, not more synthetic ones. A confident wrong answer is worse than an honest abstention.</a:t>
            </a:r>
          </a:p>
        </p:txBody>
      </p:sp>
      <p:pic>
        <p:nvPicPr>
          <p:cNvPr id="24" name="Picture 23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570" y="1444752"/>
            <a:ext cx="2735034" cy="1920240"/>
          </a:xfrm>
          <a:prstGeom prst="rect">
            <a:avLst/>
          </a:prstGeom>
        </p:spPr>
      </p:pic>
      <p:pic>
        <p:nvPicPr>
          <p:cNvPr id="25" name="Picture 24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014" y="3419856"/>
            <a:ext cx="1592146" cy="1417320"/>
          </a:xfrm>
          <a:prstGeom prst="rect">
            <a:avLst/>
          </a:prstGeom>
        </p:spPr>
      </p:pic>
      <p:pic>
        <p:nvPicPr>
          <p:cNvPr id="26" name="Picture 25" descr="diag_confidence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333" y="4919472"/>
            <a:ext cx="3395508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Fault detection,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pic>
        <p:nvPicPr>
          <p:cNvPr id="7" name="Picture 6" descr="diag_faul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340" y="1353312"/>
            <a:ext cx="7107013" cy="37673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5193792"/>
            <a:ext cx="2627299" cy="5029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0E7490"/>
                </a:solidFill>
                <a:latin typeface="Inter"/>
              </a:rPr>
              <a:t>FIVE STAGES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Acquire → establish context → detect → score risk → act. Every block maps to a module in the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710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77107" y="5193792"/>
            <a:ext cx="2627299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341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45309"/>
                </a:solidFill>
                <a:latin typeface="Inter"/>
              </a:rPr>
              <a:t>MODE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41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Context is resolved before detection: the same voltage sag means different things in ACCEL and IDLE.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87287" y="5193792"/>
            <a:ext cx="2627299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3359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91C1C"/>
                </a:solidFill>
                <a:latin typeface="Inter"/>
              </a:rPr>
              <a:t>TWO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59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The ML lane can abstain or be wrong. The hardware lane cannot — it runs at the pack, with no software in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9746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997467" y="5193792"/>
            <a:ext cx="2627299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377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91C1C"/>
                </a:solidFill>
                <a:latin typeface="Inter"/>
              </a:rPr>
              <a:t>KNOWN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377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Trained on one pack with one chronic defect (cell_v1), so generalisation is unproven. The datasheet configurator and in-browser retraining are the mitigation. Telemetry stays in the operator's own instance.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Two tiers at the edge, three surfaces in the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senses eight taps and four NTCs.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5 runs the logger and XGBoost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Inference stays local: no link, no safety gap.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dials out to Railway — no inbound 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02736"/>
            <a:ext cx="5797296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712463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968496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logger and the BLE link.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387" y="4809744"/>
            <a:ext cx="1116377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259" y="4928616"/>
            <a:ext cx="878633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31136" y="5843016"/>
            <a:ext cx="2468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pic>
        <p:nvPicPr>
          <p:cNvPr id="15" name="Picture 14" descr="diag_hard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8064" y="1481328"/>
            <a:ext cx="4522046" cy="2240280"/>
          </a:xfrm>
          <a:prstGeom prst="rect">
            <a:avLst/>
          </a:prstGeom>
        </p:spPr>
      </p:pic>
      <p:pic>
        <p:nvPicPr>
          <p:cNvPr id="16" name="Picture 15" descr="diag_system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3947843"/>
            <a:ext cx="4931359" cy="20804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platform an operator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Flask dashboard on Railway, live per-cell voltages.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Charge/discharge ETA smoothed by 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driving modes from |I(T)| vs |I(T-1)|.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39 cycles compared against their own history.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Alert log: value, threshold, severity, resolution.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24528"/>
            <a:ext cx="5797296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43342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CONTEXT IS A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90288"/>
            <a:ext cx="539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sag under ACCEL is normal; the same sag at IDLE is a fault, so thresholds follow the mode. The three mode flags carry 12.4% of the model's total gain and ntc_spread another 5.0% — nearly a fifth of the decision comes from context pack-level sensors cannot provide.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9494" y="1463040"/>
            <a:ext cx="2719185" cy="178307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366" y="1581912"/>
            <a:ext cx="2481441" cy="154533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38301" y="3328416"/>
            <a:ext cx="3241571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p07_img1_x6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73" y="3447288"/>
            <a:ext cx="3003827" cy="1133856"/>
          </a:xfrm>
          <a:prstGeom prst="rect">
            <a:avLst/>
          </a:prstGeom>
        </p:spPr>
      </p:pic>
      <p:pic>
        <p:nvPicPr>
          <p:cNvPr id="24" name="Picture 23" descr="fig_cycle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175" y="4791456"/>
            <a:ext cx="2537824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Upload a datasheet PDF; the parser reads limits.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NMC reuse → NCA/LCO shift → LFP remap → LTO rescale.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Overvoltage warns 95%, critical 100%.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active_profile.json + PostgreSQL sync, no restart.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47872"/>
            <a:ext cx="5797296" cy="9692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6484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895344"/>
            <a:ext cx="539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55371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WHAT WE WOULD BUILD 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4"/>
            <a:ext cx="54864" cy="1828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47823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038344"/>
            <a:ext cx="54864" cy="1828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8096" y="50109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Lift OOD recall above 24.5%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54864" cy="1828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52395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Independent hardware watchdog on a separate rail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95544"/>
            <a:ext cx="54864" cy="1828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54681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Move inference onto the Zynq-7000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724144"/>
            <a:ext cx="54864" cy="1828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56967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Characterise LFP on a real bench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952744"/>
            <a:ext cx="54864" cy="1828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68096" y="59253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SOH and remaining useful life from dV/dt</a:t>
            </a:r>
          </a:p>
        </p:txBody>
      </p:sp>
      <p:pic>
        <p:nvPicPr>
          <p:cNvPr id="25" name="Picture 24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7827"/>
            <a:ext cx="2139696" cy="2838921"/>
          </a:xfrm>
          <a:prstGeom prst="rect">
            <a:avLst/>
          </a:prstGeom>
        </p:spPr>
      </p:pic>
      <p:pic>
        <p:nvPicPr>
          <p:cNvPr id="26" name="Picture 25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696" y="1959079"/>
            <a:ext cx="2627071" cy="258322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997696" y="4773168"/>
            <a:ext cx="2627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Why LFP needs a remap, not an offset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it costs, who pays, and why they switch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BOM — THE UNIT WE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737360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Raspberry Pi 5 (8 GB) + cooler + PSU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737360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45309"/>
                </a:solidFill>
                <a:latin typeface="Inter"/>
              </a:rPr>
              <a:t>₹15,000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02536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3504" y="2121408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8S2P NMC pack + JBD 8S BMS (NTCs included)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121408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45309"/>
                </a:solidFill>
                <a:latin typeface="Inter"/>
              </a:rPr>
              <a:t>₹13,000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386584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3504" y="2505456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Harness, enclosure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505456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45309"/>
                </a:solidFill>
                <a:latin typeface="Inter"/>
              </a:rPr>
              <a:t>[FILL: ₹...]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770632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2944368"/>
            <a:ext cx="5797296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03504" y="3044952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Inter"/>
              </a:rPr>
              <a:t>Total, one retrofit unit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044952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91C1C"/>
                </a:solidFill>
                <a:latin typeface="Inter"/>
              </a:rPr>
              <a:t>[FILL: ₹...]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602736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TWO ROUTES 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877056"/>
            <a:ext cx="2807208" cy="1335024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3232" y="4023360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RETROFIT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279392"/>
            <a:ext cx="25146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Pi 5 alongside the BMS already in the pack.
No redesign, no recertification.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57016" y="3877056"/>
            <a:ext cx="2807208" cy="1335024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703320" y="4023360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OEM INTEGRATION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4279392"/>
            <a:ext cx="25146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Zynq-7000 on the BMS board itself.
Per-unit cost falls at volume.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1444752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WHERE WE ARE DIFFERENT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700784"/>
            <a:ext cx="4931359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75704" y="1700784"/>
            <a:ext cx="112004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0343" y="1700784"/>
            <a:ext cx="6227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Per-cell
sensing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7703" y="1700784"/>
            <a:ext cx="788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Learned
fault classes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0823" y="1700784"/>
            <a:ext cx="74708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Abstains
when unsure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12503" y="1700784"/>
            <a:ext cx="829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Datasheet
reconfig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93408" y="2633472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775704" y="2212848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Orion BMS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0343" y="2212848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47703" y="2212848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0823" y="2212848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12503" y="2212848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93408" y="3054096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775704" y="2633472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Nuvation BMS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0343" y="2633472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7703" y="2633472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00823" y="2633472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12503" y="2633472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93408" y="3474720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775704" y="3054096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JBD-class BMS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0343" y="3054096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47703" y="3054096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00823" y="3054096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12503" y="3054096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93408" y="3474720"/>
            <a:ext cx="4931359" cy="420624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775704" y="3474720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F172A"/>
                </a:solidFill>
                <a:latin typeface="Inter"/>
              </a:rPr>
              <a:t>AI-PBMS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60343" y="3474720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47703" y="3474720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6 classes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0823" y="3474720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3 bands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12503" y="3474720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PDF → profile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93408" y="3986783"/>
            <a:ext cx="49313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819" b="0">
                <a:solidFill>
                  <a:srgbClr val="B91C1C"/>
                </a:solidFill>
                <a:latin typeface="Inter"/>
              </a:rPr>
              <a:t>Competitor rows compiled from public product pages — [VERIFY against vendor datasheets]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93408" y="4389120"/>
            <a:ext cx="4931359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4576" y="4480560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THE ARGUMENT IN ONE 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94576" y="4700016"/>
            <a:ext cx="45290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Every product there protects the pack once a threshold breaks. None tells a technician which cell is failing, how confident that call is, or adapts to a new chemistry from a PDF.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93408" y="5522976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WHO PAYS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93408" y="5760720"/>
            <a:ext cx="49313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Fleet operator — avoids an early pack replacement  [FILL: ₹ per pack]
OEM — fewer warranty claims per 1,000 packs  [FILL: ₹ or % exposure]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LITERATURE — SOC, RUL AND FAULT GRADING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55648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Bimodal images + BFRN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2024  ·  doi.org/10.1016/j.energy.2024.131700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Single-cycle charging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2025  ·  doi.org/10.1016/j.energy.2025.138351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999231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Multidomain features + CatBoost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5526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 Science &amp; Engineering, 2023  ·  doi.org/10.1002/ese3.1506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3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CNN-BiLSTM-BiGRU with 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5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Journal of Energy Storage, 2024  ·  doi.org/10.1016/j.est.2024.113074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242815"/>
            <a:ext cx="543153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Yang, S., Xu, B., Peng, H. — “Isolation and Grading of Faults in
Battery Packs Based on Machine Learning Methods”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1830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Electronics, 11(9), 1494, 2022  ·  mdpi.com/2079-9292/11/9/1494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444752"/>
            <a:ext cx="4931359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94576" y="1572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PRIMARY SOURCES — MANUFACTURER DATASHEETS</a:t>
            </a:r>
          </a:p>
        </p:txBody>
      </p:sp>
      <p:sp>
        <p:nvSpPr>
          <p:cNvPr id="30" name="Oval 29"/>
          <p:cNvSpPr/>
          <p:nvPr/>
        </p:nvSpPr>
        <p:spPr>
          <a:xfrm>
            <a:off x="6912864" y="1947672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14032" y="186537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LG Energy Solution INR21700-M50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3808" y="1874519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 used in the 8S2P pack</a:t>
            </a:r>
          </a:p>
        </p:txBody>
      </p:sp>
      <p:sp>
        <p:nvSpPr>
          <p:cNvPr id="33" name="Oval 32"/>
          <p:cNvSpPr/>
          <p:nvPr/>
        </p:nvSpPr>
        <p:spPr>
          <a:xfrm>
            <a:off x="6912864" y="2295144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4032" y="2212848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DMEGC INR21700-45E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2221991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alternate NMC cell, parsed</a:t>
            </a:r>
          </a:p>
        </p:txBody>
      </p:sp>
      <p:sp>
        <p:nvSpPr>
          <p:cNvPr id="36" name="Oval 35"/>
          <p:cNvSpPr/>
          <p:nvPr/>
        </p:nvSpPr>
        <p:spPr>
          <a:xfrm>
            <a:off x="6912864" y="2642615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114032" y="2560320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Panasonic NCR18650B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569463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NCA tier reference</a:t>
            </a:r>
          </a:p>
        </p:txBody>
      </p:sp>
      <p:sp>
        <p:nvSpPr>
          <p:cNvPr id="39" name="Oval 38"/>
          <p:cNvSpPr/>
          <p:nvPr/>
        </p:nvSpPr>
        <p:spPr>
          <a:xfrm>
            <a:off x="6912864" y="2990087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4032" y="2907791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P3 3232 LFP 26650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916935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LFP tier reference</a:t>
            </a:r>
          </a:p>
        </p:txBody>
      </p:sp>
      <p:sp>
        <p:nvSpPr>
          <p:cNvPr id="42" name="Oval 41"/>
          <p:cNvSpPr/>
          <p:nvPr/>
        </p:nvSpPr>
        <p:spPr>
          <a:xfrm>
            <a:off x="6912864" y="3337559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4032" y="3255263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JBD SP24S007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64407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BMS protocol + registers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93408" y="3730752"/>
            <a:ext cx="4931359" cy="18836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94576" y="3858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METHODS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415137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Chen, T. &amp; Guestrin, 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432511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“XGBoost: A Scalable Tree Boosting System”, KDD 2016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451713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Liu, F. T., Ting, K. M. &amp; Zhou, Z.-H.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9087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“Isolation Forest”, ICDM 2008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88289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Vaswani, A. et 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505663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“Attention Is All You Need”, NeurIPS 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524865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Pedregosa, F. et 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42239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“Scikit-learn: Machine Learning in Python”, JMLR 12, 2011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76072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5980176"/>
            <a:ext cx="493135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80" b="0">
                <a:solidFill>
                  <a:srgbClr val="475569"/>
                </a:solidFill>
                <a:latin typeface="Inter"/>
              </a:rPr>
              <a:t>xgboost 3.2.0  ·  scikit-learn 1.9.1  ·  torch 2.14.0  ·  numpy 2.4.6
bleak  ·  Flask  ·  PostgreSQL  ·  Railway  ·  MATLAB / Simulink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