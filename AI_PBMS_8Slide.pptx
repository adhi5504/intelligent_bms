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public battery dataset reports pack-level voltage and current, which is</a:t>
            </a:r>
          </a:p>
          <a:p>
            <a:r>
              <a:t>useless to us: imbalance and weak-cell faults only show in the spread between</a:t>
            </a:r>
          </a:p>
          <a:p>
            <a:r>
              <a:t>individual cells. So we built the dataset — an 8S2P NMC pack, a JBD BMS on all</a:t>
            </a:r>
          </a:p>
          <a:p>
            <a:r>
              <a:t>eight taps, roughly fifty cycles and 155,000 rows. The chart bottom right is</a:t>
            </a:r>
          </a:p>
          <a:p>
            <a:r>
              <a:t>what a hundred hours bought us: seven cells tracking together, and cell one</a:t>
            </a:r>
          </a:p>
          <a:p>
            <a:r>
              <a:t>sitting 289 millivolts below them for the entire discharge. That one defect</a:t>
            </a:r>
          </a:p>
          <a:p>
            <a:r>
              <a:t>shaped everything that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Eight in series gives the 33.6-volt bus the drivetrain wants; two in parallel</a:t>
            </a:r>
          </a:p>
          <a:p>
            <a:r>
              <a:t>gives eight amp-hours and the current headroom for realistic profiles. Eight</a:t>
            </a:r>
          </a:p>
          <a:p>
            <a:r>
              <a:t>series groups means eight sense taps, so imbalance is measured rather than</a:t>
            </a:r>
          </a:p>
          <a:p>
            <a:r>
              <a:t>inferred. On modelling, one RC branch caught the instant ohmic drop but missed</a:t>
            </a:r>
          </a:p>
          <a:p>
            <a:r>
              <a:t>the slow recovery after a load step, so we went to two — fast at 0.18 seconds,</a:t>
            </a:r>
          </a:p>
          <a:p>
            <a:r>
              <a:t>slow at 1.05. All five parameters were fitted on a clean HPPC segment, and the</a:t>
            </a:r>
          </a:p>
          <a:p>
            <a:r>
              <a:t>same estimation gave us the OCV curve: 13.4 millivolts per percent of charge.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pipeline is short on purpose. Two things bit us: BLE fragments long</a:t>
            </a:r>
          </a:p>
          <a:p>
            <a:r>
              <a:t>responses across frames, so early logs were silently truncated, and the four</a:t>
            </a:r>
          </a:p>
          <a:p>
            <a:r>
              <a:t>thermistors were read at the wrong byte offset. From seventeen raw channels we</a:t>
            </a:r>
          </a:p>
          <a:p>
            <a:r>
              <a:t>derive fifty-one features — rolling statistics, first derivatives, per-cell rise</a:t>
            </a:r>
          </a:p>
          <a:p>
            <a:r>
              <a:t>and drop rates, driving-mode flags. The chart top right is read out of the</a:t>
            </a:r>
          </a:p>
          <a:p>
            <a:r>
              <a:t>trained model, not our opinion. Because cell one is chronically low, a</a:t>
            </a:r>
          </a:p>
          <a:p>
            <a:r>
              <a:t>rule-based labeller marked seventy percent of rows as imbalance, so we balanced</a:t>
            </a:r>
          </a:p>
          <a:p>
            <a:r>
              <a:t>with physics-informed synthetic faults rather than discarding real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did not argue about which model to use — we trained all six on the identical</a:t>
            </a:r>
          </a:p>
          <a:p>
            <a:r>
              <a:t>split and measured them. The Transformer is actually the most accurate at 95.11</a:t>
            </a:r>
          </a:p>
          <a:p>
            <a:r>
              <a:t>percent, a point ahead of XGBoost. We still shipped XGBoost, and here is the</a:t>
            </a:r>
          </a:p>
          <a:p>
            <a:r>
              <a:t>honest reason: the Transformer needs a sixty-row lookback, which at one hertz</a:t>
            </a:r>
          </a:p>
          <a:p>
            <a:r>
              <a:t>means a full minute of buffered data before it can say anything, plus a torch</a:t>
            </a:r>
          </a:p>
          <a:p>
            <a:r>
              <a:t>runtime on the Pi and no feature attribution an engineer can interrogate.</a:t>
            </a:r>
          </a:p>
          <a:p>
            <a:r>
              <a:t>XGBoost predicts from a single row, instantly, and tells you which features</a:t>
            </a:r>
          </a:p>
          <a:p>
            <a:r>
              <a:t>drove it. Random Forest is 176 megabytes and seventy-three times slower for</a:t>
            </a:r>
          </a:p>
          <a:p>
            <a:r>
              <a:t>worse accuracy. And look at the bottom row: a conventional rule-based BMS scores</a:t>
            </a:r>
          </a:p>
          <a:p>
            <a:r>
              <a:t>twenty-two percent — because cell one's chronic gap puts eighty-four percent of</a:t>
            </a:r>
          </a:p>
          <a:p>
            <a:r>
              <a:t>healthy rows over the imbalance threshold, so it false-alarms constantly and</a:t>
            </a:r>
          </a:p>
          <a:p>
            <a:r>
              <a:t>still never detects a weak cell.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Normal, Overvoltage and Overtemperature all clear ninety-seven percent F1. Cell</a:t>
            </a:r>
          </a:p>
          <a:p>
            <a:r>
              <a:t>Imbalance recall is sixty-five, and that is the weakest number here — its misses</a:t>
            </a:r>
          </a:p>
          <a:p>
            <a:r>
              <a:t>go to Undervoltage, which is physically sensible: one cell drops and pack</a:t>
            </a:r>
          </a:p>
          <a:p>
            <a:r>
              <a:t>voltage follows. Around the classifier we wrap two things. A confidence band:</a:t>
            </a:r>
          </a:p>
          <a:p>
            <a:r>
              <a:t>below zero-point-five we abstain, up to zero-eight-five we warn, above that we</a:t>
            </a:r>
          </a:p>
          <a:p>
            <a:r>
              <a:t>alert. And in front of it, an IsolationForest gate for failure modes we have</a:t>
            </a:r>
          </a:p>
          <a:p>
            <a:r>
              <a:t>never seen — AUROC nine-one-three, a hundred percent precision, zero false</a:t>
            </a:r>
          </a:p>
          <a:p>
            <a:r>
              <a:t>positives, catching one unknown in four. Tuned that way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tiers, each doing what the others cannot. The BMS senses, the Pi 5 runs</a:t>
            </a:r>
          </a:p>
          <a:p>
            <a:r>
              <a:t>the logger and the inference and the dashboard, and an Arduino on its own power</a:t>
            </a:r>
          </a:p>
          <a:p>
            <a:r>
              <a:t>rail watches for a heartbeat — if it stops, it pulls the Pi's RUN pin and forces</a:t>
            </a:r>
          </a:p>
          <a:p>
            <a:r>
              <a:t>a reset. Inference sits at the edge deliberately: push it to a server and every</a:t>
            </a:r>
          </a:p>
          <a:p>
            <a:r>
              <a:t>network hiccup becomes an unmonitored window. The lower diagram is the whole</a:t>
            </a:r>
          </a:p>
          <a:p>
            <a:r>
              <a:t>data path — edge, service, interface — with everything published through a</a:t>
            </a:r>
          </a:p>
          <a:p>
            <a:r>
              <a:t>Cloudflare tunnel so we never open an inbound port on the 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platform is Flask on the Pi behind a Cloudflare tunnel. It is</a:t>
            </a:r>
          </a:p>
          <a:p>
            <a:r>
              <a:t>operator-facing: live per-cell voltages, pack current with direction, four</a:t>
            </a:r>
          </a:p>
          <a:p>
            <a:r>
              <a:t>thermal zones, and an ETA smoothed with an EMA so it does not jitter. The piece</a:t>
            </a:r>
          </a:p>
          <a:p>
            <a:r>
              <a:t>worth calling out is driving context — four modes derived from the change in</a:t>
            </a:r>
          </a:p>
          <a:p>
            <a:r>
              <a:t>current magnitude, because a voltage sag under hard acceleration is normal and</a:t>
            </a:r>
          </a:p>
          <a:p>
            <a:r>
              <a:t>the same sag at idle is a fault. And the cycle engine compares each live cycle</a:t>
            </a:r>
          </a:p>
          <a:p>
            <a:r>
              <a:t>against the average of all thirty-nine before it, so degradation shows up before</a:t>
            </a:r>
          </a:p>
          <a:p>
            <a:r>
              <a:t>any absolute threshold is breached.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last piece is what makes this reusable. Upload the manufacturer datasheet,</a:t>
            </a:r>
          </a:p>
          <a:p>
            <a:r>
              <a:t>the parser pulls chemistry and every limit, pack sizing derives the series and</a:t>
            </a:r>
          </a:p>
          <a:p>
            <a:r>
              <a:t>parallel counts, and the chemistry gets tiered: NMC is direct reuse, NCA and LCO</a:t>
            </a:r>
          </a:p>
          <a:p>
            <a:r>
              <a:t>share the ceiling so they only shift, LFP needs a genuine remap to 2.50 to 3.65</a:t>
            </a:r>
          </a:p>
          <a:p>
            <a:r>
              <a:t>volts because of that flat OCV curve, and LTO needs everything rescaled. And you</a:t>
            </a:r>
          </a:p>
          <a:p>
            <a:r>
              <a:t>can retrain on your own field telemetry from the browser. What is not finished:</a:t>
            </a:r>
          </a:p>
          <a:p>
            <a:r>
              <a:t>imbalance recall, OOD recall, the Zynq path, a real LFP bench, and state of</a:t>
            </a:r>
          </a:p>
          <a:p>
            <a:r>
              <a:t>health. Thank you —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jp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85404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AI-PBMS — AI-Powered Predictive Battery Management System  ·  Team ANS_4X  ·  PSG iTech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85216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We could not buy this dataset, so we built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53312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2532888" y="1353312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664208"/>
            <a:ext cx="5797296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00">
                <a:solidFill>
                  <a:srgbClr val="0F172A"/>
                </a:solidFill>
                <a:latin typeface="Inter"/>
              </a:rPr>
              <a:t>Public BMS datasets hide per-cell voltages behind pack totals.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00">
                <a:solidFill>
                  <a:srgbClr val="0F172A"/>
                </a:solidFill>
                <a:latin typeface="Inter"/>
              </a:rPr>
              <a:t>Imbalance and weak-cell faults are invisible at pack level.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00">
                <a:solidFill>
                  <a:srgbClr val="0F172A"/>
                </a:solidFill>
                <a:latin typeface="Inter"/>
              </a:rPr>
              <a:t>So we instrumented a physical 8S2P NMC pack end to end.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00">
                <a:solidFill>
                  <a:srgbClr val="0F172A"/>
                </a:solidFill>
                <a:latin typeface="Inter"/>
              </a:rPr>
              <a:t>Programmable supply charges; electronic load drives discharge.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9136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40050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~50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3708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cycles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52827" y="39136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052827" y="40050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~3 hrs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2827" y="43708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each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38727" y="39136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538727" y="40050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&gt;100 hrs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8727" y="43708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logged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4627" y="39136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024627" y="40050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B91C1C"/>
                </a:solidFill>
                <a:latin typeface="Inter"/>
              </a:rPr>
              <a:t>~155,000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4627" y="43708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rows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882896"/>
            <a:ext cx="5797296" cy="118872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68096" y="4992624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91C1C"/>
                </a:solidFill>
                <a:latin typeface="Inter"/>
              </a:rPr>
              <a:t>WHAT THE DATA SHOWED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5248656"/>
            <a:ext cx="539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00" b="0">
                <a:solidFill>
                  <a:srgbClr val="0F172A"/>
                </a:solidFill>
                <a:latin typeface="Inter"/>
              </a:rPr>
              <a:t>Cell 1 runs 289 mV below its neighbours in every cycle. A pack-level voltmeter reads 30.5 V and calls this healthy.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11210" y="1554480"/>
            <a:ext cx="2095754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p03_img1_x3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0082" y="1673352"/>
            <a:ext cx="1858010" cy="1389888"/>
          </a:xfrm>
          <a:prstGeom prst="rect">
            <a:avLst/>
          </a:prstGeom>
        </p:spPr>
      </p:pic>
      <p:pic>
        <p:nvPicPr>
          <p:cNvPr id="26" name="Picture 25" descr="fig_cell_tra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3937" y="3310128"/>
            <a:ext cx="3990300" cy="2834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The pack, and the model of the pack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276148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8S sets the 33.6 V nominal bus voltage.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2P buys 8 Ah and current headroom.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Sixteen LG INR21700-M50 cells.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517904"/>
            <a:ext cx="276148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Eight taps make imbalance observable.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Four NTCs give thermal resolution.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1RC missed the slow relaxation.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75887"/>
            <a:ext cx="5797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475569"/>
                </a:solidFill>
                <a:latin typeface="Inter"/>
              </a:rPr>
              <a:t>2RC PARAMETERS — FITTED ON THE 0–4000 s HPPC SEGMENT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95020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66928" y="404164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R₀ 0.06142 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40740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ohmic drop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48128" y="395020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548128" y="404164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R₁ 0.00820 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8128" y="440740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fast branch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29328" y="395020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29328" y="404164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C₁ 22.268 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9328" y="440740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τ₁ ≈ 0.18 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846320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66928" y="4937759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R₂ 0.00882 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303520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slow branch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48128" y="4846320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2548128" y="4937759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C₂ 119.37 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48128" y="5303520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τ₂ ≈ 1.05 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29328" y="4846320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529328" y="4937759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13.4 mV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9328" y="5303520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per 1% SOC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833872"/>
            <a:ext cx="5797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0E7490"/>
                </a:solidFill>
                <a:latin typeface="Inter"/>
              </a:rPr>
              <a:t>Vt = OCV(SOC) − I·R₀ − V_RC1 − V_RC2</a:t>
            </a:r>
          </a:p>
        </p:txBody>
      </p:sp>
      <p:pic>
        <p:nvPicPr>
          <p:cNvPr id="29" name="Picture 28" descr="diag_pack_8s2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1245" y="1444752"/>
            <a:ext cx="3755684" cy="1938528"/>
          </a:xfrm>
          <a:prstGeom prst="rect">
            <a:avLst/>
          </a:prstGeom>
        </p:spPr>
      </p:pic>
      <p:pic>
        <p:nvPicPr>
          <p:cNvPr id="30" name="Picture 29" descr="diag_2rc_ec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5335" y="3639312"/>
            <a:ext cx="4347504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From BLE frames to a balanced training set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2761488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JBD BMS → BLE (bleak) → jbd_logger v9.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Fragmented BLE frames reassembled first.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NTC byte-offset fix realigned four channels.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517904"/>
            <a:ext cx="2761488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17 raw channels become 51 features.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Rolling stats, derivatives, per-cell rates.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cell_v1 skew labelled 70.2% Cell Imbalance.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785615"/>
            <a:ext cx="5797296" cy="11155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3895344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45309"/>
                </a:solidFill>
                <a:latin typeface="Inter"/>
              </a:rPr>
              <a:t>HANDLING THE SKEW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151376"/>
            <a:ext cx="5394959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Physics-informed synthetic faults generated against datasheet limits, then balanced to an equal count per class — 50/50 real to synthetic.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010912"/>
            <a:ext cx="5797296" cy="106070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68096" y="5120640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LEAKAGE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5376672"/>
            <a:ext cx="53949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Windows and derivatives computed inside each (split, label) group, so none straddles a train/test boundary. 208,010 rows, 70/15/15.</a:t>
            </a:r>
          </a:p>
        </p:txBody>
      </p:sp>
      <p:pic>
        <p:nvPicPr>
          <p:cNvPr id="15" name="Picture 14" descr="fig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719" y="1444752"/>
            <a:ext cx="3420735" cy="2514600"/>
          </a:xfrm>
          <a:prstGeom prst="rect">
            <a:avLst/>
          </a:prstGeom>
        </p:spPr>
      </p:pic>
      <p:pic>
        <p:nvPicPr>
          <p:cNvPr id="16" name="Picture 15" descr="fig_dataset_compos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0869" y="4059935"/>
            <a:ext cx="3236436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We benchmarked all six on the same split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9224" y="1444752"/>
            <a:ext cx="186903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82849" y="1444752"/>
            <a:ext cx="116997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Accuracy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17416" y="1444752"/>
            <a:ext cx="1106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Macro F1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8432" y="1444752"/>
            <a:ext cx="1106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Latency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9448" y="1444752"/>
            <a:ext cx="104287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Size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66913" y="1444752"/>
            <a:ext cx="8522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83726" y="1444752"/>
            <a:ext cx="275874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Verdict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1828800"/>
            <a:ext cx="11057839" cy="402336"/>
          </a:xfrm>
          <a:prstGeom prst="rect">
            <a:avLst/>
          </a:prstGeom>
          <a:solidFill>
            <a:srgbClr val="E6F4F6"/>
          </a:solidFill>
          <a:ln w="1397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9224" y="1828800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F172A"/>
                </a:solidFill>
                <a:latin typeface="Inter"/>
              </a:rPr>
              <a:t>XGBoost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82849" y="1828800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94.19%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17416" y="1828800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0.905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8432" y="1828800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0.462 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9448" y="1828800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1.40 MB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66913" y="1828800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83726" y="1828800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Deployed — 1 row, no buffer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633472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9224" y="2231136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Transformer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82849" y="2231136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95.11%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17416" y="2231136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0.918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88432" y="2231136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0.419 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59448" y="2231136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0.31 MB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66913" y="2231136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45309"/>
                </a:solidFill>
                <a:latin typeface="Inter"/>
              </a:rPr>
              <a:t>Warn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83726" y="2231136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45309"/>
                </a:solidFill>
                <a:latin typeface="Inter"/>
              </a:rPr>
              <a:t>Best accuracy; 60-row warm-up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035808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9224" y="2633472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LSTM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82849" y="2633472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87.03%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17416" y="2633472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0.776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88432" y="2633472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0.532 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59448" y="2633472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0.28 MB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66913" y="2633472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45309"/>
                </a:solidFill>
                <a:latin typeface="Inter"/>
              </a:rPr>
              <a:t>Warn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83726" y="2633472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Sequential, weakest F1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438144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49224" y="3035808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Random Forest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82849" y="3035808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89.37%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17416" y="3035808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0.824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88432" y="3035808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33.770 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59448" y="3035808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176.41 MB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66913" y="3035808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91C1C"/>
                </a:solidFill>
                <a:latin typeface="Inter"/>
              </a:rPr>
              <a:t>No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83726" y="3035808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91C1C"/>
                </a:solidFill>
                <a:latin typeface="Inter"/>
              </a:rPr>
              <a:t>176 MB, 73× the latency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3840480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49224" y="3438144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SVM (RBF)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682849" y="3438144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88.53%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17416" y="3438144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0.807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88432" y="3438144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0.568 ms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59448" y="3438144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2.82 MB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66913" y="3438144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83726" y="3438144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Would not scale past 20k rows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6928" y="4242816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649224" y="3840480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Rule-based BMS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82849" y="3840480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22.09%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17416" y="3840480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0.224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88432" y="3840480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5 µs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59448" y="3840480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~0 MB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66913" y="3840480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83726" y="3840480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91C1C"/>
                </a:solidFill>
                <a:latin typeface="Inter"/>
              </a:rPr>
              <a:t>0% recall on Weak Cell</a:t>
            </a:r>
          </a:p>
        </p:txBody>
      </p:sp>
      <p:pic>
        <p:nvPicPr>
          <p:cNvPr id="63" name="Picture 62" descr="fig_model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618" y="4370832"/>
            <a:ext cx="2712457" cy="1426463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566928" y="5888736"/>
            <a:ext cx="1105783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19" b="0">
                <a:solidFill>
                  <a:srgbClr val="475569"/>
                </a:solidFill>
                <a:latin typeface="Inter"/>
              </a:rPr>
              <a:t>All six trained and scored here on the identical 30,000-row held-out split with the same 51 features; latency is the median single-row prediction on a 4-core CPU, not a Pi 5. Sequence models additionally see a 60-row lookback. SVM trained on a stratified 20k subsample — full-data RBF did not converge in usable time, which is part of the verdict.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Six classes, honest confidence, one gate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99616"/>
            <a:ext cx="2761488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Normal, Overvoltage, Overtemp clear 97% F1.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Cell Imbalance recall 65% — the weak spot.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Misses land on Undervoltage, physically adjacent.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499616"/>
            <a:ext cx="2761488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Below 0.50 the model abstains outright.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0.50–0.85 warns; above 0.85 alerts.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An IsolationForest gate runs before the classifier.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56616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3657600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0.913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02336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OOD AUROC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52827" y="356616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052827" y="3657600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2827" y="402336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OOD precision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38727" y="356616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538727" y="3657600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8727" y="402336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false positives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4627" y="356616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024627" y="3657600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B91C1C"/>
                </a:solidFill>
                <a:latin typeface="Inter"/>
              </a:rPr>
              <a:t>24.5%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4627" y="402336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OOD recall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535424"/>
            <a:ext cx="5797296" cy="151790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68096" y="4645152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91C1C"/>
                </a:solidFill>
                <a:latin typeface="Inter"/>
              </a:rPr>
              <a:t>WE ARE NOT HIDING THIS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4901184"/>
            <a:ext cx="5394959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28.7% of true Cell Imbalance samples are predicted Undervoltage — one cell drops, pack voltage follows. Separating them needs more real imbalance events, not more synthetic ones. A confident wrong answer is worse than an honest abstention.</a:t>
            </a:r>
          </a:p>
        </p:txBody>
      </p:sp>
      <p:pic>
        <p:nvPicPr>
          <p:cNvPr id="24" name="Picture 23" descr="fig_per_class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1570" y="1444752"/>
            <a:ext cx="2735034" cy="1920240"/>
          </a:xfrm>
          <a:prstGeom prst="rect">
            <a:avLst/>
          </a:prstGeom>
        </p:spPr>
      </p:pic>
      <p:pic>
        <p:nvPicPr>
          <p:cNvPr id="25" name="Picture 24" descr="fig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3014" y="3419856"/>
            <a:ext cx="1592146" cy="1417320"/>
          </a:xfrm>
          <a:prstGeom prst="rect">
            <a:avLst/>
          </a:prstGeom>
        </p:spPr>
      </p:pic>
      <p:pic>
        <p:nvPicPr>
          <p:cNvPr id="26" name="Picture 25" descr="diag_confidence_lad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1333" y="4919472"/>
            <a:ext cx="3395508" cy="1325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Three tiers at the edge, three surfaces in the browser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99616"/>
            <a:ext cx="2761488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JBD BMS senses eight taps and four NTCs.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Pi 5 runs logger, inference and dashboard.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Arduino R4 watches the Pi's heartbeat.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499616"/>
            <a:ext cx="2761488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Missed beat pulls RUN pin, resets the Pi.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Inference stays local: no link, no safety gap.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Cloudflare tunnel opens no inbound port.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602736"/>
            <a:ext cx="5797296" cy="10789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3712463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ACCELERATION 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968496"/>
            <a:ext cx="53949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Zynq-7000 SoC moves the same tree traversal into programmable logic, freeing the CPU for the dashboard and the BLE link.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03199" y="4809744"/>
            <a:ext cx="1116377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p06_img1_x5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2071" y="4928616"/>
            <a:ext cx="878633" cy="768096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345293" y="4809744"/>
            <a:ext cx="1248941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p06_img2_x5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4165" y="4928616"/>
            <a:ext cx="1011197" cy="7680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" y="5843016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Raspberry Pi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5304" y="5843016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Arduino Uno R4 WiFi</a:t>
            </a:r>
          </a:p>
        </p:txBody>
      </p:sp>
      <p:pic>
        <p:nvPicPr>
          <p:cNvPr id="18" name="Picture 17" descr="diag_hardw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4947" y="1481328"/>
            <a:ext cx="4028280" cy="2240280"/>
          </a:xfrm>
          <a:prstGeom prst="rect">
            <a:avLst/>
          </a:prstGeom>
        </p:spPr>
      </p:pic>
      <p:pic>
        <p:nvPicPr>
          <p:cNvPr id="19" name="Picture 18" descr="diag_system_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3408" y="3947843"/>
            <a:ext cx="4931359" cy="208041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The platform an operator actually uses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99616"/>
            <a:ext cx="2761488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Flask on the Pi, live per-cell voltages.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Pack current and four temperature zones.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Charge/discharge ETA smoothed by EMA.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499616"/>
            <a:ext cx="2761488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Four driving modes from |I(T)| vs |I(T-1)|.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39 cycles compared against their own history.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Alert log: value, threshold, severity, resolution.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584448"/>
            <a:ext cx="1367028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3584448"/>
            <a:ext cx="136702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Inter"/>
              </a:rPr>
              <a:t>IDLE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43684" y="3584448"/>
            <a:ext cx="1367028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43684" y="3584448"/>
            <a:ext cx="136702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B91C1C"/>
                </a:solidFill>
                <a:latin typeface="Inter"/>
              </a:rPr>
              <a:t>ACCEL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0439" y="3584448"/>
            <a:ext cx="1367028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520439" y="3584448"/>
            <a:ext cx="136702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0E7490"/>
                </a:solidFill>
                <a:latin typeface="Inter"/>
              </a:rPr>
              <a:t>CRUISE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97195" y="3584448"/>
            <a:ext cx="1367028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997195" y="3584448"/>
            <a:ext cx="136702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B45309"/>
                </a:solidFill>
                <a:latin typeface="Inter"/>
              </a:rPr>
              <a:t>DECEL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224528"/>
            <a:ext cx="5797296" cy="18288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68096" y="4334256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CONTEXT IS A FEATURE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4590288"/>
            <a:ext cx="539495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A sag under ACCEL is normal; the same sag at IDLE is a fault, so thresholds follow the mode. The three mode flags carry 12.4% of the model's total gain and ntc_spread another 5.0% — nearly a fifth of the decision comes from context pack-level sensors cannot provide.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99494" y="1463040"/>
            <a:ext cx="2719185" cy="1783079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mock_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366" y="1581912"/>
            <a:ext cx="2481441" cy="1545335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7538301" y="3328416"/>
            <a:ext cx="3241571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p07_img1_x6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7173" y="3447288"/>
            <a:ext cx="3003827" cy="1133856"/>
          </a:xfrm>
          <a:prstGeom prst="rect">
            <a:avLst/>
          </a:prstGeom>
        </p:spPr>
      </p:pic>
      <p:pic>
        <p:nvPicPr>
          <p:cNvPr id="24" name="Picture 23" descr="fig_cycle_his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0175" y="4791456"/>
            <a:ext cx="2537824" cy="1417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Swap the chemistry, not the codebase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99616"/>
            <a:ext cx="2761488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Upload a datasheet PDF; the parser reads limits.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V_nom, V_max, V_min, capacity, current, thermal.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Pack sizing derives S and P from the bus target.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499616"/>
            <a:ext cx="2761488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NMC reuse → NCA/LCO shift → LFP remap → LTO rescale.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Overvoltage warns 95%, critical 100%.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active_profile.json + PostgreSQL sync, no restart.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547872"/>
            <a:ext cx="5797296" cy="9692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3648456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45309"/>
                </a:solidFill>
                <a:latin typeface="Inter"/>
              </a:rPr>
              <a:t>IN-BROWSER RETRAINING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895344"/>
            <a:ext cx="53949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Upload field telemetry from the new pack and retrain XGBoost from the dashboard — the adaptation loop closes without a developer.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645152"/>
            <a:ext cx="5797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475569"/>
                </a:solidFill>
                <a:latin typeface="Inter"/>
              </a:rPr>
              <a:t>WHAT WE WOULD BUILD NEXT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919472"/>
            <a:ext cx="54864" cy="20116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68096" y="4901184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Close the Cell Imbalance gap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5166360"/>
            <a:ext cx="54864" cy="20116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8096" y="5148072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Lift OOD recall above 24.5%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413248"/>
            <a:ext cx="54864" cy="20116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68096" y="5394960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Move inference onto the Zynq-7000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660136"/>
            <a:ext cx="54864" cy="20116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8096" y="5641848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Characterise LFP on a real bench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5907023"/>
            <a:ext cx="54864" cy="20116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68096" y="5888736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SOH and remaining useful life from dV/dt</a:t>
            </a:r>
          </a:p>
        </p:txBody>
      </p:sp>
      <p:pic>
        <p:nvPicPr>
          <p:cNvPr id="23" name="Picture 22" descr="diag_configur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027827"/>
            <a:ext cx="2139696" cy="2838921"/>
          </a:xfrm>
          <a:prstGeom prst="rect">
            <a:avLst/>
          </a:prstGeom>
        </p:spPr>
      </p:pic>
      <p:pic>
        <p:nvPicPr>
          <p:cNvPr id="24" name="Picture 23" descr="fig_ocv_s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7696" y="1959079"/>
            <a:ext cx="2627071" cy="25832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997696" y="4773168"/>
            <a:ext cx="26270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Why LFP needs a remap, not an offset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