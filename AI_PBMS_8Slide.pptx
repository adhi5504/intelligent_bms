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public battery dataset reports pack-level voltage and current, which is</a:t>
            </a:r>
          </a:p>
          <a:p>
            <a:r>
              <a:t>useless to us: imbalance and weak-cell faults only show in the spread between</a:t>
            </a:r>
          </a:p>
          <a:p>
            <a:r>
              <a:t>individual cells. So we built the dataset — an 8S2P NMC pack, a JBD BMS on all</a:t>
            </a:r>
          </a:p>
          <a:p>
            <a:r>
              <a:t>eight taps, roughly fifty cycles and 155,000 rows. The chart bottom right is</a:t>
            </a:r>
          </a:p>
          <a:p>
            <a:r>
              <a:t>what a hundred hours bought us: seven cells tracking together, and cell one</a:t>
            </a:r>
          </a:p>
          <a:p>
            <a:r>
              <a:t>sitting 289 millivolts below them for the entire discharge. That one defect</a:t>
            </a:r>
          </a:p>
          <a:p>
            <a:r>
              <a:t>shaped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in series gives the 33.6-volt bus the drivetrain wants; two in parallel</a:t>
            </a:r>
          </a:p>
          <a:p>
            <a:r>
              <a:t>gives eight amp-hours and the current headroom for realistic profiles. Eight</a:t>
            </a:r>
          </a:p>
          <a:p>
            <a:r>
              <a:t>series groups means eight sense taps, so imbalance is measured rather than</a:t>
            </a:r>
          </a:p>
          <a:p>
            <a:r>
              <a:t>inferred. On modelling, one RC branch caught the instant ohmic drop but missed</a:t>
            </a:r>
          </a:p>
          <a:p>
            <a:r>
              <a:t>the slow recovery after a load step, so we went to two — fast at 0.18 seconds,</a:t>
            </a:r>
          </a:p>
          <a:p>
            <a:r>
              <a:t>slow at 1.05. All five parameters were fitted on a clean HPPC segment, and the</a:t>
            </a:r>
          </a:p>
          <a:p>
            <a:r>
              <a:t>same estimation gave us the OCV curve: 13.4 millivolts per percent of 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is short on purpose. Two things bit us: BLE fragments long</a:t>
            </a:r>
          </a:p>
          <a:p>
            <a:r>
              <a:t>responses across frames, so early logs were silently truncated, and the four</a:t>
            </a:r>
          </a:p>
          <a:p>
            <a:r>
              <a:t>thermistors were read at the wrong byte offset. From seventeen raw channels we</a:t>
            </a:r>
          </a:p>
          <a:p>
            <a:r>
              <a:t>derive fifty-one features — rolling statistics, first derivatives, per-cell rise</a:t>
            </a:r>
          </a:p>
          <a:p>
            <a:r>
              <a:t>and drop rates, driving-mode flags. The chart top right is read out of the</a:t>
            </a:r>
          </a:p>
          <a:p>
            <a:r>
              <a:t>trained model, not our opinion. Because cell one is chronically low, a</a:t>
            </a:r>
          </a:p>
          <a:p>
            <a:r>
              <a:t>rule-based labeller marked seventy percent of rows as imbalance, so we balanced</a:t>
            </a:r>
          </a:p>
          <a:p>
            <a:r>
              <a:t>with physics-informed synthetic faults rather than discarding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did not argue about which model to use — we trained all six on the identical</a:t>
            </a:r>
          </a:p>
          <a:p>
            <a:r>
              <a:t>split and measured them. Two rows matter. The bottom one: a conventional</a:t>
            </a:r>
          </a:p>
          <a:p>
            <a:r>
              <a:t>rule-based BMS scores twenty-two percent, because cell one’s chronic gap puts</a:t>
            </a:r>
          </a:p>
          <a:p>
            <a:r>
              <a:t>eighty-four percent of healthy rows over the imbalance threshold. It false-alarms</a:t>
            </a:r>
          </a:p>
          <a:p>
            <a:r>
              <a:t>constantly and never detects a weak cell at all. And the second row: the</a:t>
            </a:r>
          </a:p>
          <a:p>
            <a:r>
              <a:t>Transformer edges us by under a point — but look at what it costs. Both models</a:t>
            </a:r>
          </a:p>
          <a:p>
            <a:r>
              <a:t>sit behind the same sixty-row buffer in our pipeline. The difference is that</a:t>
            </a:r>
          </a:p>
          <a:p>
            <a:r>
              <a:t>XGBoost only eats the last row of it, and its deepest feature is a ten-sample</a:t>
            </a:r>
          </a:p>
          <a:p>
            <a:r>
              <a:t>rolling window, so that sixty is a constant we chose and could shorten to ten</a:t>
            </a:r>
          </a:p>
          <a:p>
            <a:r>
              <a:t>tomorrow. The Transformer eats all sixty, and its positional encoding fixes that</a:t>
            </a:r>
          </a:p>
          <a:p>
            <a:r>
              <a:t>length inside the weights — you cannot shorten it without retraining. On top of</a:t>
            </a:r>
          </a:p>
          <a:p>
            <a:r>
              <a:t>that, torch is five times the runtime footprint of xgboost on the Pi, it gives no</a:t>
            </a:r>
          </a:p>
          <a:p>
            <a:r>
              <a:t>per-feature attribution an engineer can audit, and it cannot be retrained from</a:t>
            </a:r>
          </a:p>
          <a:p>
            <a:r>
              <a:t>the browser the way our configurator retrains XGBoost today. That is why it</a:t>
            </a:r>
          </a:p>
          <a:p>
            <a:r>
              <a:t>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Normal, Overvoltage and Overtemperature all clear ninety-seven percent F1. Cell</a:t>
            </a:r>
          </a:p>
          <a:p>
            <a:r>
              <a:t>Imbalance recall is sixty-five, and that is the weakest number here — its misses</a:t>
            </a:r>
          </a:p>
          <a:p>
            <a:r>
              <a:t>go to Undervoltage, which is physically sensible: one cell drops and pack</a:t>
            </a:r>
          </a:p>
          <a:p>
            <a:r>
              <a:t>voltage follows. Around the classifier we wrap two things. A confidence band:</a:t>
            </a:r>
          </a:p>
          <a:p>
            <a:r>
              <a:t>below zero-point-five we abstain, up to zero-eight-five we warn, above that we</a:t>
            </a:r>
          </a:p>
          <a:p>
            <a:r>
              <a:t>alert. And in front of it, an IsolationForest gate for failure modes we have</a:t>
            </a:r>
          </a:p>
          <a:p>
            <a:r>
              <a:t>never seen — AUROC nine-one-three, a hundred percent precision, zero false</a:t>
            </a:r>
          </a:p>
          <a:p>
            <a:r>
              <a:t>positives, catching one unknown in four. Tuned that way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tiers, each doing what the others cannot. The BMS senses, the Pi 5 runs</a:t>
            </a:r>
          </a:p>
          <a:p>
            <a:r>
              <a:t>the logger and the inference, and an Arduino on its own power</a:t>
            </a:r>
          </a:p>
          <a:p>
            <a:r>
              <a:t>rail watches for a heartbeat — if it stops, it pulls the Pi's RUN pin and forces</a:t>
            </a:r>
          </a:p>
          <a:p>
            <a:r>
              <a:t>a reset. Inference sits at the edge deliberately: push it to a server and every</a:t>
            </a:r>
          </a:p>
          <a:p>
            <a:r>
              <a:t>network hiccup becomes an unmonitored window. The lower diagram is the whole</a:t>
            </a:r>
          </a:p>
          <a:p>
            <a:r>
              <a:t>data path. Inference happens on the Pi; the dashboard is a Flask service</a:t>
            </a:r>
          </a:p>
          <a:p>
            <a:r>
              <a:t>deployed on Railway, and the Pi pushes results up to it. Because the Pi only ever</a:t>
            </a:r>
          </a:p>
          <a:p>
            <a:r>
              <a:t>dials out, we never open an inbound port on the pack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 runs the classifier locally and pushes results to a Flask</a:t>
            </a:r>
          </a:p>
          <a:p>
            <a:r>
              <a:t>dashboard deployed on Railway, which is what you open in a browser. It is</a:t>
            </a:r>
          </a:p>
          <a:p>
            <a:r>
              <a:t>operator-facing: live per-cell voltages, pack current with direction, four</a:t>
            </a:r>
          </a:p>
          <a:p>
            <a:r>
              <a:t>thermal zones, and an ETA smoothed with an EMA so it does not jitter. The piece</a:t>
            </a:r>
          </a:p>
          <a:p>
            <a:r>
              <a:t>worth calling out is driving context — four modes derived from the change in</a:t>
            </a:r>
          </a:p>
          <a:p>
            <a:r>
              <a:t>current magnitude, because a voltage sag under hard acceleration is normal and</a:t>
            </a:r>
          </a:p>
          <a:p>
            <a:r>
              <a:t>the same sag at idle is a fault. And the cycle engine compares each live cycle</a:t>
            </a:r>
          </a:p>
          <a:p>
            <a:r>
              <a:t>against the average of all thirty-nine before it, so degradation shows up before</a:t>
            </a:r>
          </a:p>
          <a:p>
            <a:r>
              <a:t>any absolute threshold is breached.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piece is what makes this reusable. Upload the manufacturer datasheet,</a:t>
            </a:r>
          </a:p>
          <a:p>
            <a:r>
              <a:t>the parser pulls chemistry and every limit, pack sizing derives the series and</a:t>
            </a:r>
          </a:p>
          <a:p>
            <a:r>
              <a:t>parallel counts, and the chemistry gets tiered: NMC is direct reuse, NCA and LCO</a:t>
            </a:r>
          </a:p>
          <a:p>
            <a:r>
              <a:t>share the ceiling so they only shift, LFP needs a genuine remap to 2.50 to 3.65</a:t>
            </a:r>
          </a:p>
          <a:p>
            <a:r>
              <a:t>volts because of that flat OCV curve, and LTO needs everything rescaled. And you</a:t>
            </a:r>
          </a:p>
          <a:p>
            <a:r>
              <a:t>can retrain on your own field telemetry from the browser. What is not finished:</a:t>
            </a:r>
          </a:p>
          <a:p>
            <a:r>
              <a:t>imbalance recall, OOD recall, the Zynq path, a real LFP bench, and state of</a:t>
            </a:r>
          </a:p>
          <a:p>
            <a:r>
              <a:t>health.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papers shaped the approach. The first four are the state-of-the-art we</a:t>
            </a:r>
          </a:p>
          <a:p>
            <a:r>
              <a:t>benchmarked our thinking against for state-of-charge and remaining-useful-life</a:t>
            </a:r>
          </a:p>
          <a:p>
            <a:r>
              <a:t>prediction — bimodal image encoding, single-cycle charging features, multidomain</a:t>
            </a:r>
          </a:p>
          <a:p>
            <a:r>
              <a:t>features with CatBoost, and the CNN-BiLSTM-BiGRU attention stack. The fifth,</a:t>
            </a:r>
          </a:p>
          <a:p>
            <a:r>
              <a:t>Yang, Xu and Peng in Electronics, is where our confidence-scoring and fault</a:t>
            </a:r>
          </a:p>
          <a:p>
            <a:r>
              <a:t>grading framework comes from — that is the source of the three-tier abstain,</a:t>
            </a:r>
          </a:p>
          <a:p>
            <a:r>
              <a:t>warn, alert structure on slide five. On the right are the primary sources: the</a:t>
            </a:r>
          </a:p>
          <a:p>
            <a:r>
              <a:t>manufacturer datasheets the threshold matrix is parsed from, and the JBD</a:t>
            </a:r>
          </a:p>
          <a:p>
            <a:r>
              <a:t>protocol spec the logger was written against.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5404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E7490"/>
                </a:solidFill>
                <a:latin typeface="Inter"/>
              </a:rPr>
              <a:t>AI-PBMS — AI-Powered Predictive Battery Management System  ·  Team ANS_4X  ·  PSG iTech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We could not buy this dataset, so we built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532888" y="1353312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64208"/>
            <a:ext cx="5797296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00">
                <a:solidFill>
                  <a:srgbClr val="0F172A"/>
                </a:solidFill>
                <a:latin typeface="Inter"/>
              </a:rPr>
              <a:t>Public BMS datasets hide per-cell voltages behind pack totals.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00">
                <a:solidFill>
                  <a:srgbClr val="0F172A"/>
                </a:solidFill>
                <a:latin typeface="Inter"/>
              </a:rPr>
              <a:t>Imbalance and weak-cell faults are invisible at pack level.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00">
                <a:solidFill>
                  <a:srgbClr val="0F172A"/>
                </a:solidFill>
                <a:latin typeface="Inter"/>
              </a:rPr>
              <a:t>So we instrumented a physical 8S2P NMC pack end to end.</a:t>
            </a:r>
          </a:p>
          <a:p>
            <a:pPr marL="274320" indent="-274320">
              <a:lnSpc>
                <a:spcPct val="116000"/>
              </a:lnSpc>
              <a:spcAft>
                <a:spcPts val="9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500">
                <a:solidFill>
                  <a:srgbClr val="0F172A"/>
                </a:solidFill>
                <a:latin typeface="Inter"/>
              </a:rPr>
              <a:t>Programmable supply charges; electronic load drives discharge.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9136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40050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~50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708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cycles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2827" y="39136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052827" y="40050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~3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827" y="43708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8727" y="39136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38727" y="40050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&gt;100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7" y="43708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logged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4627" y="3913632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4627" y="4005072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Inter"/>
              </a:rPr>
              <a:t>~155,000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4627" y="4370832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82896"/>
            <a:ext cx="5797296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4992624"/>
            <a:ext cx="539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Inter"/>
              </a:rPr>
              <a:t>WHAT THE DATA SHOWED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48656"/>
            <a:ext cx="539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Inter"/>
              </a:rPr>
              <a:t>Cell 1 runs 289 mV below its neighbours in every cycle. A pack-level voltmeter reads 30.5 V and calls this healthy.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1210" y="1554480"/>
            <a:ext cx="209575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03_img1_x3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082" y="1673352"/>
            <a:ext cx="1858010" cy="1389888"/>
          </a:xfrm>
          <a:prstGeom prst="rect">
            <a:avLst/>
          </a:prstGeom>
        </p:spPr>
      </p:pic>
      <p:pic>
        <p:nvPicPr>
          <p:cNvPr id="26" name="Picture 25" descr="fig_cell_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37" y="3310128"/>
            <a:ext cx="39903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The pack, and the model of the pack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276148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8S sets the 33.6 V nominal bus voltage.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2P buys 8 Ah and current headroom.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Sixteen LG INR21700-M50 cells.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1517904"/>
            <a:ext cx="276148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Eight taps make imbalance observable.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Four NTCs give thermal resolution.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1RC missed the slow relaxation.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75887"/>
            <a:ext cx="5797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Inter"/>
              </a:rPr>
              <a:t>2RC PARAMETERS — FITTED ON THE 0–4000 s HPPC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950208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4041648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R₀ 0.06142 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07408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ohmic drop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8128" y="3950208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48128" y="4041648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R₁ 0.00820 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8128" y="4407408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fast branch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9328" y="3950208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29328" y="4041648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475569"/>
                </a:solidFill>
                <a:latin typeface="Inter"/>
              </a:rPr>
              <a:t>C₁ 22.268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328" y="4407408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τ₁ ≈ 0.18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846320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937759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R₂ 0.00882 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303520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slow 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48128" y="4846320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548128" y="4937759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475569"/>
                </a:solidFill>
                <a:latin typeface="Inter"/>
              </a:rPr>
              <a:t>C₂ 119.37 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8128" y="5303520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τ₂ ≈ 1.05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9328" y="4846320"/>
            <a:ext cx="18348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29328" y="4937759"/>
            <a:ext cx="18348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13.4 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9328" y="5303520"/>
            <a:ext cx="1834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per 1% SOC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33872"/>
            <a:ext cx="5797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0E7490"/>
                </a:solidFill>
                <a:latin typeface="Inter"/>
              </a:rPr>
              <a:t>Vt = OCV(SOC) − I·R₀ − V_RC1 − V_RC2</a:t>
            </a:r>
          </a:p>
        </p:txBody>
      </p:sp>
      <p:pic>
        <p:nvPicPr>
          <p:cNvPr id="29" name="Picture 28" descr="diag_pack_8s2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245" y="1444752"/>
            <a:ext cx="3755684" cy="1938528"/>
          </a:xfrm>
          <a:prstGeom prst="rect">
            <a:avLst/>
          </a:prstGeom>
        </p:spPr>
      </p:pic>
      <p:pic>
        <p:nvPicPr>
          <p:cNvPr id="30" name="Picture 29" descr="diag_2rc_e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335" y="3639312"/>
            <a:ext cx="4347504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From BLE frames to a balanced training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2761488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JBD BMS → BLE (bleak) → jbd_logger v9.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Fragmented BLE frames reassembled first.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NTC byte-offset fix realigned four channels.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1517904"/>
            <a:ext cx="2761488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17 raw channels become 51 features.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Rolling stats, derivatives, per-cell rates.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cell_v1 skew labelled 70.2% Cell Imbalance.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85615"/>
            <a:ext cx="5797296" cy="11155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3895344"/>
            <a:ext cx="539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Inter"/>
              </a:rPr>
              <a:t>HANDLING THE SKEW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151376"/>
            <a:ext cx="53949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Physics-informed synthetic faults generated against datasheet limits, then balanced to an equal count per class — 50/50 real to synthetic.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010912"/>
            <a:ext cx="5797296" cy="106070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5120640"/>
            <a:ext cx="539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E7490"/>
                </a:solidFill>
                <a:latin typeface="Inter"/>
              </a:rPr>
              <a:t>LEAKAGE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376672"/>
            <a:ext cx="539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Windows and derivatives computed inside each (split, label) group, so none straddles a train/test boundary. 208,010 rows, 70/15/15.</a:t>
            </a:r>
          </a:p>
        </p:txBody>
      </p:sp>
      <p:pic>
        <p:nvPicPr>
          <p:cNvPr id="15" name="Picture 14" descr="fi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719" y="1444752"/>
            <a:ext cx="3420735" cy="2514600"/>
          </a:xfrm>
          <a:prstGeom prst="rect">
            <a:avLst/>
          </a:prstGeom>
        </p:spPr>
      </p:pic>
      <p:pic>
        <p:nvPicPr>
          <p:cNvPr id="16" name="Picture 15" descr="fig_dataset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869" y="4059935"/>
            <a:ext cx="3236436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We benchmarked all six — XGBoost still 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11057839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" y="1444752"/>
            <a:ext cx="186903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849" y="1444752"/>
            <a:ext cx="116997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7416" y="1444752"/>
            <a:ext cx="1106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8432" y="1444752"/>
            <a:ext cx="1106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448" y="1444752"/>
            <a:ext cx="10428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6913" y="1444752"/>
            <a:ext cx="8522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726" y="1444752"/>
            <a:ext cx="27587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Verdict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828800"/>
            <a:ext cx="11057839" cy="402336"/>
          </a:xfrm>
          <a:prstGeom prst="rect">
            <a:avLst/>
          </a:prstGeom>
          <a:solidFill>
            <a:srgbClr val="E6F4F6"/>
          </a:solidFill>
          <a:ln w="1397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1828800"/>
            <a:ext cx="186903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2849" y="1828800"/>
            <a:ext cx="116997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E7490"/>
                </a:solidFill>
                <a:latin typeface="Inter"/>
              </a:rPr>
              <a:t>94.19%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7416" y="1828800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0.905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8432" y="1828800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E7490"/>
                </a:solidFill>
                <a:latin typeface="Inter"/>
              </a:rPr>
              <a:t>0.462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9448" y="1828800"/>
            <a:ext cx="104287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1.40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6913" y="1828800"/>
            <a:ext cx="8522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E7490"/>
                </a:solidFill>
                <a:latin typeface="Inter"/>
              </a:rP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3726" y="1828800"/>
            <a:ext cx="27587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E7490"/>
                </a:solidFill>
                <a:latin typeface="Inter"/>
              </a:rPr>
              <a:t>Deployed — 1-row input, 10-row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33472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231136"/>
            <a:ext cx="186903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Transformer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2849" y="2231136"/>
            <a:ext cx="116997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95.11%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7416" y="2231136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0.918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8432" y="2231136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0.419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9448" y="2231136"/>
            <a:ext cx="104287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0.31 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6913" y="2231136"/>
            <a:ext cx="8522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45309"/>
                </a:solidFill>
                <a:latin typeface="Inter"/>
              </a:rPr>
              <a:t>Warn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3726" y="2231136"/>
            <a:ext cx="27587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45309"/>
                </a:solidFill>
                <a:latin typeface="Inter"/>
              </a:rPr>
              <a:t>+0.92% acc; 60 rows locked 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035808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2633472"/>
            <a:ext cx="186903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LSTM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2849" y="2633472"/>
            <a:ext cx="116997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87.03%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7416" y="2633472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0.776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8432" y="2633472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0.532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9448" y="2633472"/>
            <a:ext cx="104287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0.28 MB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6913" y="2633472"/>
            <a:ext cx="8522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45309"/>
                </a:solidFill>
                <a:latin typeface="Inter"/>
              </a:rPr>
              <a:t>Warn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3726" y="2633472"/>
            <a:ext cx="27587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Sequential, weakest 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438144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9224" y="3035808"/>
            <a:ext cx="186903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Random Forest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2849" y="3035808"/>
            <a:ext cx="116997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89.37%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17416" y="3035808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0.824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8432" y="3035808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33.770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9448" y="3035808"/>
            <a:ext cx="104287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176.41 MB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66913" y="3035808"/>
            <a:ext cx="8522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91C1C"/>
                </a:solidFill>
                <a:latin typeface="Inter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3726" y="3035808"/>
            <a:ext cx="27587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91C1C"/>
                </a:solidFill>
                <a:latin typeface="Inter"/>
              </a:rPr>
              <a:t>176 MB, 73× the latency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840480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9224" y="3438144"/>
            <a:ext cx="186903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SVM (RBF)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82849" y="3438144"/>
            <a:ext cx="116997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88.53%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17416" y="3438144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0.807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8432" y="3438144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0.568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9448" y="3438144"/>
            <a:ext cx="104287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2.82 MB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6913" y="3438144"/>
            <a:ext cx="8522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E7490"/>
                </a:solidFill>
                <a:latin typeface="Inter"/>
              </a:rPr>
              <a:t>Yes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83726" y="3438144"/>
            <a:ext cx="27587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Would not scale past 20k rows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242816"/>
            <a:ext cx="11057839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49224" y="3840480"/>
            <a:ext cx="186903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Rule-based BMS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82849" y="3840480"/>
            <a:ext cx="116997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22.09%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17416" y="3840480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0.224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8432" y="3840480"/>
            <a:ext cx="1106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5 µs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59448" y="3840480"/>
            <a:ext cx="104287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nter"/>
              </a:rPr>
              <a:t>~0 MB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66913" y="3840480"/>
            <a:ext cx="8522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0E7490"/>
                </a:solidFill>
                <a:latin typeface="Inter"/>
              </a:rPr>
              <a:t>Yes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83726" y="3840480"/>
            <a:ext cx="27587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B91C1C"/>
                </a:solidFill>
                <a:latin typeface="Inter"/>
              </a:rPr>
              <a:t>0% recall on Weak Cell</a:t>
            </a:r>
          </a:p>
        </p:txBody>
      </p:sp>
      <p:pic>
        <p:nvPicPr>
          <p:cNvPr id="63" name="Picture 62" descr="fig_deploymen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213" y="4334256"/>
            <a:ext cx="3977268" cy="14630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66928" y="587044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nter"/>
              </a:rPr>
              <a:t>All six trained and scored on the identical 30,000-row held-out split with the same 51 features; latency is the median single-row prediction on a 4-core CPU, not a Pi 5. Both models sit behind the same 60-row pipeline buffer, but XGBoost consumes only the last row and its deepest feature is a 10-sample rolling window, so that 60 is a constant we chose; the Transformer consumes all 60 and its positional encoding fixes the length in the weights. SVM trained on a stratified 20k subsample: full-data RBF did not converge.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Six classes, honest confidence, one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99616"/>
            <a:ext cx="276148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Normal, Overvoltage, Overtemp clear 97% F1.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Cell Imbalance recall 65% — the weak spot.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Misses land on Undervoltage, physically adjacent.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1499616"/>
            <a:ext cx="276148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Below 0.50 the model abstains outright.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0.50–0.85 warns; above 0.85 alerts.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An IsolationForest gate runs before the classifier.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66160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0.913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OOD AUROC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2827" y="3566160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052827" y="3657600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827" y="4023360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OOD 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8727" y="3566160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38727" y="3657600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Inter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7" y="4023360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false positives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4627" y="3566160"/>
            <a:ext cx="1339595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4627" y="3657600"/>
            <a:ext cx="13395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Inter"/>
              </a:rPr>
              <a:t>24.5%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4627" y="4023360"/>
            <a:ext cx="13395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OOD 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35424"/>
            <a:ext cx="5797296" cy="151790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4645152"/>
            <a:ext cx="539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Inter"/>
              </a:rPr>
              <a:t>WE ARE NOT HIDING 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901184"/>
            <a:ext cx="5394959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28.7% of true Cell Imbalance samples are predicted Undervoltage — one cell drops, pack voltage follows. Separating them needs more real imbalance events, not more synthetic ones. A confident wrong answer is worse than an honest abstention.</a:t>
            </a:r>
          </a:p>
        </p:txBody>
      </p:sp>
      <p:pic>
        <p:nvPicPr>
          <p:cNvPr id="24" name="Picture 23" descr="fig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570" y="1444752"/>
            <a:ext cx="2735034" cy="1920240"/>
          </a:xfrm>
          <a:prstGeom prst="rect">
            <a:avLst/>
          </a:prstGeom>
        </p:spPr>
      </p:pic>
      <p:pic>
        <p:nvPicPr>
          <p:cNvPr id="25" name="Picture 24" descr="fig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014" y="3419856"/>
            <a:ext cx="1592146" cy="1417320"/>
          </a:xfrm>
          <a:prstGeom prst="rect">
            <a:avLst/>
          </a:prstGeom>
        </p:spPr>
      </p:pic>
      <p:pic>
        <p:nvPicPr>
          <p:cNvPr id="26" name="Picture 25" descr="diag_confidence_l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333" y="4919472"/>
            <a:ext cx="3395508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Three tiers at the edge, three surfaces in the browser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99616"/>
            <a:ext cx="276148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JBD BMS senses eight taps and four NTCs.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Pi 5 runs the logger and XGBoost inference.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Arduino R4 watches the Pi's heartbeat.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1499616"/>
            <a:ext cx="276148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Missed beat pulls RUN pin, resets the Pi.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Inference stays local: no link, no safety gap.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Pi dials out to Railway — no inbound 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02736"/>
            <a:ext cx="5797296" cy="10789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3712463"/>
            <a:ext cx="539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E7490"/>
                </a:solidFill>
                <a:latin typeface="Inter"/>
              </a:rPr>
              <a:t>ACCELERATION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968496"/>
            <a:ext cx="539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Zynq-7000 SoC moves the same tree traversal into programmable logic, freeing the CPU for the logger and the BLE link.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3199" y="4809744"/>
            <a:ext cx="1116377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p06_img1_x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071" y="4928616"/>
            <a:ext cx="878633" cy="76809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45293" y="4809744"/>
            <a:ext cx="1248941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06_img2_x5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165" y="4928616"/>
            <a:ext cx="1011197" cy="7680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5843016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Raspberry Pi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5843016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Arduino Uno R4 WiFi</a:t>
            </a:r>
          </a:p>
        </p:txBody>
      </p:sp>
      <p:pic>
        <p:nvPicPr>
          <p:cNvPr id="18" name="Picture 17" descr="diag_hardw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947" y="1481328"/>
            <a:ext cx="4028280" cy="2240280"/>
          </a:xfrm>
          <a:prstGeom prst="rect">
            <a:avLst/>
          </a:prstGeom>
        </p:spPr>
      </p:pic>
      <p:pic>
        <p:nvPicPr>
          <p:cNvPr id="19" name="Picture 18" descr="diag_system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947843"/>
            <a:ext cx="4931359" cy="20804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The platform an operator actually 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99616"/>
            <a:ext cx="276148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Flask dashboard on Railway, live per-cell voltages.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Pack current and four temperature zones.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Charge/discharge ETA smoothed by 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1499616"/>
            <a:ext cx="276148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Four driving modes from |I(T)| vs |I(T-1)|.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39 cycles compared against their own history.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Alert log: value, threshold, severity, 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84448"/>
            <a:ext cx="1367028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3584448"/>
            <a:ext cx="13670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Inter"/>
              </a:rPr>
              <a:t>IDLE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3684" y="3584448"/>
            <a:ext cx="1367028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43684" y="3584448"/>
            <a:ext cx="13670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Inter"/>
              </a:rPr>
              <a:t>ACCEL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39" y="3584448"/>
            <a:ext cx="1367028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39" y="3584448"/>
            <a:ext cx="13670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0E7490"/>
                </a:solidFill>
                <a:latin typeface="Inter"/>
              </a:rPr>
              <a:t>CRUISE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7195" y="3584448"/>
            <a:ext cx="1367028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997195" y="3584448"/>
            <a:ext cx="13670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Inter"/>
              </a:rPr>
              <a:t>DECEL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24528"/>
            <a:ext cx="5797296" cy="18288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4334256"/>
            <a:ext cx="539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E7490"/>
                </a:solidFill>
                <a:latin typeface="Inter"/>
              </a:rPr>
              <a:t>CONTEXT IS A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590288"/>
            <a:ext cx="53949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A sag under ACCEL is normal; the same sag at IDLE is a fault, so thresholds follow the mode. The three mode flags carry 12.4% of the model's total gain and ntc_spread another 5.0% — nearly a fifth of the decision comes from context pack-level sensors cannot provide.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9494" y="1463040"/>
            <a:ext cx="2719185" cy="178307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mock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366" y="1581912"/>
            <a:ext cx="2481441" cy="154533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538301" y="3328416"/>
            <a:ext cx="3241571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p07_img1_x6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173" y="3447288"/>
            <a:ext cx="3003827" cy="1133856"/>
          </a:xfrm>
          <a:prstGeom prst="rect">
            <a:avLst/>
          </a:prstGeom>
        </p:spPr>
      </p:pic>
      <p:pic>
        <p:nvPicPr>
          <p:cNvPr id="24" name="Picture 23" descr="fig_cycle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175" y="4791456"/>
            <a:ext cx="2537824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Swap the chemistry, not the codebase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99616"/>
            <a:ext cx="276148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Upload a datasheet PDF; the parser reads limits.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V_nom, V_max, V_min, capacity, current, thermal.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Pack sizing derives S and P from the bus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1499616"/>
            <a:ext cx="276148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NMC reuse → NCA/LCO shift → LFP remap → LTO rescale.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Overvoltage warns 95%, critical 100%.</a:t>
            </a:r>
          </a:p>
          <a:p>
            <a:pPr marL="274320" indent="-274320">
              <a:lnSpc>
                <a:spcPct val="116000"/>
              </a:lnSpc>
              <a:spcAft>
                <a:spcPts val="700"/>
              </a:spcAft>
              <a:buClr>
                <a:srgbClr val="0E7490"/>
              </a:buClr>
              <a:buSzPct val="62000"/>
              <a:buFont typeface="Arial" pitchFamily="34" charset="0"/>
              <a:buChar char="●"/>
            </a:pPr>
            <a:r>
              <a:rPr sz="1350">
                <a:solidFill>
                  <a:srgbClr val="0F172A"/>
                </a:solidFill>
                <a:latin typeface="Inter"/>
              </a:rPr>
              <a:t>active_profile.json + PostgreSQL sync, no restart.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47872"/>
            <a:ext cx="5797296" cy="9692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3648456"/>
            <a:ext cx="539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Inter"/>
              </a:rPr>
              <a:t>IN-BROWSER RETRAINING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895344"/>
            <a:ext cx="539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Upload field telemetry from the new pack and retrain XGBoost from the dashboard — the adaptation loop closes without a developer.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45152"/>
            <a:ext cx="5797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Inter"/>
              </a:rPr>
              <a:t>WHAT WE WOULD BUILD 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919472"/>
            <a:ext cx="54864" cy="20116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4901184"/>
            <a:ext cx="5596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Close the Cell Imbalance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166360"/>
            <a:ext cx="54864" cy="2011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5148072"/>
            <a:ext cx="5596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Lift OOD recall above 24.5%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413248"/>
            <a:ext cx="54864" cy="2011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5394960"/>
            <a:ext cx="5596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Move inference onto the Zynq-7000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60136"/>
            <a:ext cx="54864" cy="2011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5641848"/>
            <a:ext cx="5596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Characterise LFP on a real bench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907023"/>
            <a:ext cx="54864" cy="2011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5888736"/>
            <a:ext cx="5596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SOH and remaining useful life from dV/dt</a:t>
            </a:r>
          </a:p>
        </p:txBody>
      </p:sp>
      <p:pic>
        <p:nvPicPr>
          <p:cNvPr id="23" name="Picture 22" descr="diag_configu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27827"/>
            <a:ext cx="2139696" cy="2838921"/>
          </a:xfrm>
          <a:prstGeom prst="rect">
            <a:avLst/>
          </a:prstGeom>
        </p:spPr>
      </p:pic>
      <p:pic>
        <p:nvPicPr>
          <p:cNvPr id="24" name="Picture 23" descr="fig_ocv_s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1959079"/>
            <a:ext cx="2627071" cy="25832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97696" y="4773168"/>
            <a:ext cx="26270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Why LFP needs a remap, not an offset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Inter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965960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532888" y="1152144"/>
            <a:ext cx="9091879" cy="320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AI-PBMS  ·  Team ANS_4X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797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E7490"/>
                </a:solidFill>
                <a:latin typeface="Inter"/>
              </a:rPr>
              <a:t>LITERATURE — SOC, RUL AND FAULT GRADING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69363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7693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55648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Bimodal images + BFRN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Energy, 2024  ·  doi.org/10.1016/j.energy.2024.131700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91156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23911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377439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Single-cycle charging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33472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Energy, 2025  ·  doi.org/10.1016/j.energy.2025.138351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12947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01294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999231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Multidomain features + CatBoost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255263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Energy Science &amp; Engineering, 2023  ·  doi.org/10.1002/ese3.1506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634739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6928" y="363473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621023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CNN-BiLSTM-BiGRU with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877055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Journal of Energy Storage, 2024  ·  doi.org/10.1016/j.est.2024.113074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256531"/>
            <a:ext cx="237744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6928" y="425653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0E7490"/>
                </a:solidFill>
                <a:latin typeface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242815"/>
            <a:ext cx="543153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Inter"/>
              </a:rPr>
              <a:t>Yang, S., Xu, B., Peng, H. — “Isolation and Grading of Faults in
Battery Packs Based on Machine Learning Methods”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18303"/>
            <a:ext cx="5431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Electronics, 11(9), 1494, 2022  ·  mdpi.com/2079-9292/11/9/1494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1444752"/>
            <a:ext cx="4931359" cy="21396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94576" y="1572768"/>
            <a:ext cx="45290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E7490"/>
                </a:solidFill>
                <a:latin typeface="Inter"/>
              </a:rPr>
              <a:t>PRIMARY SOURCES — MANUFACTURER DATASHEETS</a:t>
            </a:r>
          </a:p>
        </p:txBody>
      </p:sp>
      <p:sp>
        <p:nvSpPr>
          <p:cNvPr id="30" name="Oval 29"/>
          <p:cNvSpPr/>
          <p:nvPr/>
        </p:nvSpPr>
        <p:spPr>
          <a:xfrm>
            <a:off x="6912864" y="1947672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14032" y="1865376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LG Energy Solution INR21700-M50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1874519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cell used in the 8S2P pack</a:t>
            </a:r>
          </a:p>
        </p:txBody>
      </p:sp>
      <p:sp>
        <p:nvSpPr>
          <p:cNvPr id="33" name="Oval 32"/>
          <p:cNvSpPr/>
          <p:nvPr/>
        </p:nvSpPr>
        <p:spPr>
          <a:xfrm>
            <a:off x="6912864" y="2295144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4032" y="2212848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DMEGC INR21700-45E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221991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alternate NMC cell, parsed</a:t>
            </a:r>
          </a:p>
        </p:txBody>
      </p:sp>
      <p:sp>
        <p:nvSpPr>
          <p:cNvPr id="36" name="Oval 35"/>
          <p:cNvSpPr/>
          <p:nvPr/>
        </p:nvSpPr>
        <p:spPr>
          <a:xfrm>
            <a:off x="6912864" y="2642615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14032" y="2560320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Panasonic NCR18650B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2569463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NCA tier reference</a:t>
            </a:r>
          </a:p>
        </p:txBody>
      </p:sp>
      <p:sp>
        <p:nvSpPr>
          <p:cNvPr id="39" name="Oval 38"/>
          <p:cNvSpPr/>
          <p:nvPr/>
        </p:nvSpPr>
        <p:spPr>
          <a:xfrm>
            <a:off x="6912864" y="2990087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4032" y="2907791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P3 3232 LFP 26650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2916935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LFP tier reference</a:t>
            </a:r>
          </a:p>
        </p:txBody>
      </p:sp>
      <p:sp>
        <p:nvSpPr>
          <p:cNvPr id="42" name="Oval 41"/>
          <p:cNvSpPr/>
          <p:nvPr/>
        </p:nvSpPr>
        <p:spPr>
          <a:xfrm>
            <a:off x="6912864" y="3337559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114032" y="3255263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Inter"/>
              </a:rPr>
              <a:t>JBD SP24S007 V1.1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3264407"/>
            <a:ext cx="15297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BMS protocol + registers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93408" y="3730752"/>
            <a:ext cx="4931359" cy="18836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94576" y="3858768"/>
            <a:ext cx="45290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Inter"/>
              </a:rPr>
              <a:t>METHODS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2864" y="4151376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Chen, T. &amp; Guestrin, C.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2864" y="4325112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“XGBoost: A Scalable Tree Boosting System”, KDD 2016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2864" y="4517136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Liu, F. T., Ting, K. M. &amp; Zhou, Z.-H.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12864" y="4690872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“Isolation Forest”, ICDM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2864" y="4882896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Vaswani, A. et 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12864" y="5056632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“Attention Is All You Need”, NeurIPS 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12864" y="5248656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Pedregosa, F. et 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12864" y="5422392"/>
            <a:ext cx="4492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“Scikit-learn: Machine Learning in Python”, JMLR 12, 2011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3408" y="5760720"/>
            <a:ext cx="4931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Inter"/>
              </a:rPr>
              <a:t>STACK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998464"/>
            <a:ext cx="49313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xgboost 3.2.0  ·  scikit-learn 1.9.1  ·  torch 2.14.0  ·  numpy 2.4.6
bleak  ·  Flask  ·  PostgreSQL  ·  Railway  ·  MATLAB / Simulink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