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problem, not with us. A battery management system reports one</a:t>
            </a:r>
          </a:p>
          <a:p>
            <a:r>
              <a:t>voltage for the whole string. That is the number a technician sees, and it looks</a:t>
            </a:r>
          </a:p>
          <a:p>
            <a:r>
              <a:t>fine right up until a cell takes the pack down. The battery is thirty to forty</a:t>
            </a:r>
          </a:p>
          <a:p>
            <a:r>
              <a:t>percent of what the vehicle costs, and in a series string one weak cell caps all</a:t>
            </a:r>
          </a:p>
          <a:p>
            <a:r>
              <a:t>sixteen — so a single failing cell can retire an otherwise healthy pack. Today</a:t>
            </a:r>
          </a:p>
          <a:p>
            <a:r>
              <a:t>the operator gets pack voltage, current and a fault light. They cannot tell you</a:t>
            </a:r>
          </a:p>
          <a:p>
            <a:r>
              <a:t>which cell, how far gone it is, or how long they have. We could not buy data at</a:t>
            </a:r>
          </a:p>
          <a:p>
            <a:r>
              <a:t>that resolution, so we built it: fifty cycles, a hundred hours, a hundred and</a:t>
            </a:r>
          </a:p>
          <a:p>
            <a:r>
              <a:t>fifty-five thousand rows off a physical 8S2P pack. And the first thing it showed</a:t>
            </a:r>
          </a:p>
          <a:p>
            <a:r>
              <a:t>us is on the right — cell one, two hundred and eighty-nine millivolts below its</a:t>
            </a:r>
          </a:p>
          <a:p>
            <a:r>
              <a:t>neighbours, every single cycle, completely invisible to the pack-level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pack. If every line of our</a:t>
            </a:r>
          </a:p>
          <a:p>
            <a:r>
              <a:t>software failed, that lane still opens the</a:t>
            </a:r>
          </a:p>
          <a:p>
            <a:r>
              <a:t>contactor. That lane is the BMS's own protection logic, not something we wrote.</a:t>
            </a:r>
          </a:p>
          <a:p>
            <a:r>
              <a:t>And the honest caveat, bottom right: this model has seen one physical</a:t>
            </a:r>
          </a:p>
          <a:p>
            <a:r>
              <a:t>pack with one chronic defect, so generalisation to other packs is unproven. The</a:t>
            </a:r>
          </a:p>
          <a:p>
            <a:r>
              <a:t>datasheet configurator and the in-browser retraining loop are how an operator</a:t>
            </a:r>
          </a:p>
          <a:p>
            <a:r>
              <a:t>adapts it to their own pack, and their telemetry stays in their own</a:t>
            </a:r>
          </a:p>
          <a:p>
            <a:r>
              <a:t>instance — we never pool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tiers at the edge, and I want to be precise about what exists. The JBD BMS</a:t>
            </a:r>
          </a:p>
          <a:p>
            <a:r>
              <a:t>is the sensing layer — eight cell taps, four thermistors, pack voltage and</a:t>
            </a:r>
          </a:p>
          <a:p>
            <a:r>
              <a:t>current. The Raspberry Pi 5 is the inference layer: it runs the logger, the</a:t>
            </a:r>
          </a:p>
          <a:p>
            <a:r>
              <a:t>feature engineering and the classifier. That is what is built and that is what</a:t>
            </a:r>
          </a:p>
          <a:p>
            <a:r>
              <a:t>you will see in the demo. Inference sits on the Pi deliberately — push it to a</a:t>
            </a:r>
          </a:p>
          <a:p>
            <a:r>
              <a:t>server and every network hiccup becomes a window where the pack is unmonitored.</a:t>
            </a:r>
          </a:p>
          <a:p>
            <a:r>
              <a:t>A third tier, an independent hardware watchdog on its own power rail, is</a:t>
            </a:r>
          </a:p>
          <a:p>
            <a:r>
              <a:t>specified and on our roadmap, but we have not built it, so it is not in this</a:t>
            </a:r>
          </a:p>
          <a:p>
            <a:r>
              <a:t>architecture. The lower diagram is the whole data path: the Pi pushes results up</a:t>
            </a:r>
          </a:p>
          <a:p>
            <a:r>
              <a:t>to a Flask dashboard on Railway, and because the Pi only ever dials out we never</a:t>
            </a:r>
          </a:p>
          <a:p>
            <a:r>
              <a:t>open an inbound port on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 runs the classifier locally and pushes results to a Flask</a:t>
            </a:r>
          </a:p>
          <a:p>
            <a:r>
              <a:t>dashboard deployed on Railway, which is what you open in a browser.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finished,</a:t>
            </a:r>
          </a:p>
          <a:p>
            <a:r>
              <a:t>and I want to be straight about it: imbalance recall, unknown-fault recall, the</a:t>
            </a:r>
          </a:p>
          <a:p>
            <a:r>
              <a:t>independent hardware watchdog on its own rail — designed and specified but not</a:t>
            </a:r>
          </a:p>
          <a:p>
            <a:r>
              <a:t>yet built — the Zynq path, a real LFP bench, and state of health. Thank you,</a:t>
            </a:r>
          </a:p>
          <a:p>
            <a:r>
              <a:t>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first. The unit we built is a Raspberry Pi 5 with its cooler and supply at</a:t>
            </a:r>
          </a:p>
          <a:p>
            <a:r>
              <a:t>fifteen thousand rupees, and the 8S2P pack with its JBD BMS — bought together at</a:t>
            </a:r>
          </a:p>
          <a:p>
            <a:r>
              <a:t>thirteen thousand, thermistors included. Add the harness and enclosure and that</a:t>
            </a:r>
          </a:p>
          <a:p>
            <a:r>
              <a:t>is the whole retrofit box: it sits alongside a pack already in service, with no</a:t>
            </a:r>
          </a:p>
          <a:p>
            <a:r>
              <a:t>redesign and no recertification. At volume the same logic moves onto a Zynq on</a:t>
            </a:r>
          </a:p>
          <a:p>
            <a:r>
              <a:t>the BMS board itself and the per-unit cost drops. Who pays: the fleet operator,</a:t>
            </a:r>
          </a:p>
          <a:p>
            <a:r>
              <a:t>because catching one weak cell early avoids replacing an otherwise healthy pack;</a:t>
            </a:r>
          </a:p>
          <a:p>
            <a:r>
              <a:t>and the OEM, because the same signal cuts warranty claims. Now the table on the</a:t>
            </a:r>
          </a:p>
          <a:p>
            <a:r>
              <a:t>right, and I want to be precise about this. Orion, Nuvation and the JBD-class</a:t>
            </a:r>
          </a:p>
          <a:p>
            <a:r>
              <a:t>boards all do per-cell sensing — we are not claiming otherwise. What none of</a:t>
            </a:r>
          </a:p>
          <a:p>
            <a:r>
              <a:t>them does is classify what kind of fault it is, tell you how confident it is, or</a:t>
            </a:r>
          </a:p>
          <a:p>
            <a:r>
              <a:t>let you point it at a different chemistry by uploading a datasheet. They protect</a:t>
            </a:r>
          </a:p>
          <a:p>
            <a:r>
              <a:t>the pack after a threshold breaks. We tell a technician which cell, what is wrong</a:t>
            </a:r>
          </a:p>
          <a:p>
            <a:r>
              <a:t>with it, and how sure we are — and we abstain when we are not sure. That is the</a:t>
            </a:r>
          </a:p>
          <a:p>
            <a:r>
              <a:t>axis we compete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One weak cell is invisible to a pack-level BMS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81328"/>
            <a:ext cx="11057839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57276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553212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pack BMS reports one voltage for the whole string. A single degrading cell stays hidden until it forces a shutdown — or an early pack replacement.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6383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66383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Inter"/>
              </a:rPr>
              <a:t>30–40%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9535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of EV cost is the battery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9535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B91C1C"/>
                </a:solidFill>
                <a:latin typeface="Inter"/>
              </a:rPr>
              <a:t>[VERIFY — source?]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0319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0319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E7490"/>
                </a:solidFill>
                <a:latin typeface="Inter"/>
              </a:rPr>
              <a:t>1 of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3471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a weak cell caps the whole 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3471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Inter"/>
              </a:rPr>
              <a:t>derived from our 8S2P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4255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14255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Inter"/>
              </a:rPr>
              <a:t>[FILL]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87407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India EV registrations, latest 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7407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B91C1C"/>
                </a:solidFill>
                <a:latin typeface="Inter"/>
              </a:rPr>
              <a:t>[VERIFY — source?]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706624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WHO OPERATES THIS, AND WHAT THEY HAVE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980944"/>
            <a:ext cx="579729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[EVIDENCE: operator role — fleet technician? depot? OEM service?]</a:t>
            </a:r>
          </a:p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Today they see pack voltage, current, and a fault LED.</a:t>
            </a:r>
          </a:p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They cannot see which cell, how degraded, or how soon.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315968"/>
            <a:ext cx="5797296" cy="14264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8096" y="442569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FIELD EVIDENCE TO INSERT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681728"/>
            <a:ext cx="5394959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[EVIDENCE: fleet operator interview — what they said]
[EVIDENCE: time or cost to diagnose one pack today]</a:t>
            </a:r>
          </a:p>
        </p:txBody>
      </p:sp>
      <p:pic>
        <p:nvPicPr>
          <p:cNvPr id="28" name="Picture 27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967" y="2651760"/>
            <a:ext cx="3192240" cy="22677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93408" y="499262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289 mV below its neighbours, every cycle — invisible at pack 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528523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SO WE BUILT THE DATASET OURSELVES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3408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93408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91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491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91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048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2048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048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605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4605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605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NMC cells in 8S2P.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334256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340" y="1353312"/>
            <a:ext cx="7107013" cy="37673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193792"/>
            <a:ext cx="2627299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710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77107" y="5193792"/>
            <a:ext cx="2627299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341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41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Context is resolved before detection: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3359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59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9746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9746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377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KNOWN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77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Trained on one pack with one chronic defect (cell_v1), so generalisation is unproven. The datasheet configurator and in-browser retraining are the mitigation. Telemetry stays in the operator's own instance.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the logger and XGBoost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dials out to Railway —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387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259" y="4928616"/>
            <a:ext cx="878633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31136" y="5843016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pic>
        <p:nvPicPr>
          <p:cNvPr id="15" name="Picture 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064" y="1481328"/>
            <a:ext cx="4522046" cy="2240280"/>
          </a:xfrm>
          <a:prstGeom prst="rect">
            <a:avLst/>
          </a:prstGeom>
        </p:spPr>
      </p:pic>
      <p:pic>
        <p:nvPicPr>
          <p:cNvPr id="16" name="Picture 15" descr="diag_system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dashboard on Railway,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5371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4"/>
            <a:ext cx="54864" cy="1828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7823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038344"/>
            <a:ext cx="54864" cy="1828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0109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54864" cy="1828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2395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Independent hardware watchdog on a separate rail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955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4681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7241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6967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9527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68096" y="59253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5" name="Picture 24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6" name="Picture 25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it costs, who pays, and why they switch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BOM — THE UNIT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37360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Raspberry Pi 5 (8 GB) + cooler + PSU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3736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₹15,000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02536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" y="2121408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8S2P NMC pack + JBD 8S BMS (NTCs included)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2140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₹13,000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386584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3504" y="2505456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Harness, enclosure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505456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70632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2944368"/>
            <a:ext cx="5797296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3504" y="3044952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Inter"/>
              </a:rPr>
              <a:t>Total, one retrofit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44952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91C1C"/>
                </a:solidFill>
                <a:latin typeface="Inter"/>
              </a:rPr>
              <a:t>[FILL: ₹...]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602736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TWO ROUTES 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877056"/>
            <a:ext cx="2807208" cy="1335024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" y="4023360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RETROFIT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79392"/>
            <a:ext cx="2514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Pi 5 alongside the BMS already in the pack.
No redesign, no recertification.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57016" y="3877056"/>
            <a:ext cx="2807208" cy="1335024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703320" y="4023360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OEM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4279392"/>
            <a:ext cx="2514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Zynq-7000 on the BMS board itself.
Per-unit cost falls at volume.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144475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WHERE WE ARE DIFFERENT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700784"/>
            <a:ext cx="4931359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75704" y="1700784"/>
            <a:ext cx="112004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0343" y="1700784"/>
            <a:ext cx="6227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Per-cell
sensing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7703" y="1700784"/>
            <a:ext cx="788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Learned
fault classes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823" y="1700784"/>
            <a:ext cx="74708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Abstains
when unsure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12503" y="1700784"/>
            <a:ext cx="829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Datasheet
reconfig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93408" y="2633472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75704" y="2212848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Orion BMS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0343" y="2212848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7703" y="2212848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0823" y="2212848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2503" y="2212848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93408" y="3054096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775704" y="2633472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Nuvation BMS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0343" y="2633472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7703" y="2633472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00823" y="2633472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12503" y="2633472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93408" y="3474720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75704" y="3054096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JBD-class BMS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0343" y="3054096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7703" y="3054096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0823" y="3054096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12503" y="3054096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93408" y="3474720"/>
            <a:ext cx="493135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775704" y="3474720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F172A"/>
                </a:solidFill>
                <a:latin typeface="Inter"/>
              </a:rPr>
              <a:t>AI-PBMS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60343" y="3474720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47703" y="3474720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6 classes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0823" y="3474720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3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12503" y="3474720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PDF → profile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3408" y="3986783"/>
            <a:ext cx="49313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819" b="0">
                <a:solidFill>
                  <a:srgbClr val="B91C1C"/>
                </a:solidFill>
                <a:latin typeface="Inter"/>
              </a:rPr>
              <a:t>Competitor rows compiled from public product pages — [VERIFY against vendor datasheets]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93408" y="4389120"/>
            <a:ext cx="4931359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4576" y="4480560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THE ARGUMENT IN ONE 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94576" y="4700016"/>
            <a:ext cx="45290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Every product there protects the pack once a threshold breaks. None tells a technician which cell is failing, how confident that call is, or adapts to a new chemistry from a PDF.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93408" y="5522976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WHO PAYS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93408" y="5760720"/>
            <a:ext cx="49313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Fleet operator — avoids an early pack replacement  [FILL: ₹ per pack]
OEM — fewer warranty claims per 1,000 packs  [FILL: ₹ or % exposure]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NMC tier reference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80176"/>
            <a:ext cx="49313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8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