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public battery dataset reports pack-level voltage and current. That is</a:t>
            </a:r>
          </a:p>
          <a:p>
            <a:r>
              <a:t>useless to us: imbalance and weak-cell faults only show in the spread between</a:t>
            </a:r>
          </a:p>
          <a:p>
            <a:r>
              <a:t>individual cells. So we built the dataset. An 8S2P NMC pack, a JBD BMS on all eight</a:t>
            </a:r>
          </a:p>
          <a:p>
            <a:r>
              <a:t>taps, a programmable supply charging and an electronic load discharging. Around fifty</a:t>
            </a:r>
          </a:p>
          <a:p>
            <a:r>
              <a:t>cycles, three hours each, over a hundred hours logged, roughly 155,000 rows. Every</a:t>
            </a:r>
          </a:p>
          <a:p>
            <a:r>
              <a:t>number in this deck came off that 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in series gives the 33.6-volt bus the drivetrain wants. Two in parallel</a:t>
            </a:r>
          </a:p>
          <a:p>
            <a:r>
              <a:t>gives 8 amp-hours and the current headroom to run realistic profiles. Eight series</a:t>
            </a:r>
          </a:p>
          <a:p>
            <a:r>
              <a:t>groups means eight sense taps, so imbalance is measured, not inferred. On modelling,</a:t>
            </a:r>
          </a:p>
          <a:p>
            <a:r>
              <a:t>one RC branch caught the instant ohmic drop but missed the slow recovery after a load</a:t>
            </a:r>
          </a:p>
          <a:p>
            <a:r>
              <a:t>step. A second branch fixed it — fast at about 0.18 seconds, slow at about 1.05.</a:t>
            </a:r>
          </a:p>
          <a:p>
            <a:r>
              <a:t>These five parameters were fitted on a clean HPPC 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short on purpose: BMS, BLE through bleak, jbd_logger v9. Two</a:t>
            </a:r>
          </a:p>
          <a:p>
            <a:r>
              <a:t>things bit us. BLE fragments long responses across frames, so early logs were</a:t>
            </a:r>
          </a:p>
          <a:p>
            <a:r>
              <a:t>silently truncated — we now reassemble before parsing. And the four thermistors were</a:t>
            </a:r>
          </a:p>
          <a:p>
            <a:r>
              <a:t>read at the wrong byte offset, scrambling the thermal channels. The bigger finding</a:t>
            </a:r>
          </a:p>
          <a:p>
            <a:r>
              <a:t>was in the data: cell one sat a quarter-volt below median every cycle, which labelled</a:t>
            </a:r>
          </a:p>
          <a:p>
            <a:r>
              <a:t>over seventy percent of rows Cell Imbalance. We balanced with physics-informed</a:t>
            </a:r>
          </a:p>
          <a:p>
            <a:r>
              <a:t>synthetic faults rather than throwing real rows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Tabular sensor data with fifty engineered features is what gradient-boosted</a:t>
            </a:r>
          </a:p>
          <a:p>
            <a:r>
              <a:t>trees are good at, and each alternative fails a constraint we actually have. The</a:t>
            </a:r>
          </a:p>
          <a:p>
            <a:r>
              <a:t>Transformer and the LSTM need a sequence buffer — latency and memory we do not have</a:t>
            </a:r>
          </a:p>
          <a:p>
            <a:r>
              <a:t>— and neither gives an attribution an engineer can argue with. Random Forest needs a</a:t>
            </a:r>
          </a:p>
          <a:p>
            <a:r>
              <a:t>much bigger model for the same accuracy. A rule-based BMS only reacts after a</a:t>
            </a:r>
          </a:p>
          <a:p>
            <a:r>
              <a:t>threshold is already breached. XGBoost: 98.55 percent, 0.85 milliseconds on the Pi 5,</a:t>
            </a:r>
          </a:p>
          <a:p>
            <a:r>
              <a:t>and inspectable.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tiers, each doing what the others cannot. The JBD BMS senses: eight taps,</a:t>
            </a:r>
          </a:p>
          <a:p>
            <a:r>
              <a:t>four thermistors, pack voltage and current. The Pi 5 runs the logger, the inference</a:t>
            </a:r>
          </a:p>
          <a:p>
            <a:r>
              <a:t>and the dashboard. Inference sits at the edge deliberately — push it to a server and</a:t>
            </a:r>
          </a:p>
          <a:p>
            <a:r>
              <a:t>every network hiccup becomes an unmonitored window. The third tier exists because</a:t>
            </a:r>
          </a:p>
          <a:p>
            <a:r>
              <a:t>general-purpose computers hang. An Arduino on its own rail watches for a heartbeat</a:t>
            </a:r>
          </a:p>
          <a:p>
            <a:r>
              <a:t>and pulls the Pi's RUN pin if it stops. Zynq-7000 is our path to take inference off</a:t>
            </a:r>
          </a:p>
          <a:p>
            <a:r>
              <a:t>the CPU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Flask on the Pi, published through a Cloudflare tunnel so a reviewer can open it</a:t>
            </a:r>
          </a:p>
          <a:p>
            <a:r>
              <a:t>without us opening a port. It is operator-facing, not engineer-facing: live per-cell</a:t>
            </a:r>
          </a:p>
          <a:p>
            <a:r>
              <a:t>voltages, pack current with direction, four thermal zones, and a charge or discharge</a:t>
            </a:r>
          </a:p>
          <a:p>
            <a:r>
              <a:t>ETA smoothed with an EMA so it does not jitter. The piece worth noting is driving</a:t>
            </a:r>
          </a:p>
          <a:p>
            <a:r>
              <a:t>context. Four modes from the change in current magnitude between samples — because a</a:t>
            </a:r>
          </a:p>
          <a:p>
            <a:r>
              <a:t>voltage sag under hard acceleration is normal, and the same sag at idle is a fault.</a:t>
            </a:r>
          </a:p>
          <a:p>
            <a:r>
              <a:t>Thresholds follow the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classes. The part I care more about is the confidence framework around them.</a:t>
            </a:r>
          </a:p>
          <a:p>
            <a:r>
              <a:t>The classifier returns a probability and we split it three ways. Below 0.50 we</a:t>
            </a:r>
          </a:p>
          <a:p>
            <a:r>
              <a:t>abstain outright — nothing is raised and the sample goes for review. Between 0.50 and</a:t>
            </a:r>
          </a:p>
          <a:p>
            <a:r>
              <a:t>0.85 we log a warning that does not block the operator. Only above 0.85 do we raise</a:t>
            </a:r>
          </a:p>
          <a:p>
            <a:r>
              <a:t>an alert with a corrective action. In a safety-critical system a confidently wrong</a:t>
            </a:r>
          </a:p>
          <a:p>
            <a:r>
              <a:t>prediction is worse than none: an abstention sends someone to look, a false alert</a:t>
            </a:r>
          </a:p>
          <a:p>
            <a:r>
              <a:t>teaches them to ignore the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makes it reusable. Upload the datasheet for whatever cell you are</a:t>
            </a:r>
          </a:p>
          <a:p>
            <a:r>
              <a:t>running; the parser pulls chemistry, voltages, capacity, current and thermal limits,</a:t>
            </a:r>
          </a:p>
          <a:p>
            <a:r>
              <a:t>and derives series and parallel counts. Then it tiers the chemistry: NMC is direct</a:t>
            </a:r>
          </a:p>
          <a:p>
            <a:r>
              <a:t>reuse, NCA and LCO share the 4.2-volt ceiling so they only shift, LFP needs a real</a:t>
            </a:r>
          </a:p>
          <a:p>
            <a:r>
              <a:t>remap to 2.50–3.65 volts, and LTO at 2.4 nominal needs everything rescaled. The chart</a:t>
            </a:r>
          </a:p>
          <a:p>
            <a:r>
              <a:t>shows why — our measured NMC curve moves about 13 millivolts per percent SOC, so</a:t>
            </a:r>
          </a:p>
          <a:p>
            <a:r>
              <a:t>voltage tracks charge. On LFP's plateau it does not, and no offset fixes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540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AI-PBMS — AI-Powered Predictive Battery Management System  ·  Team ANS_4X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85216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could not buy this dataset, so we built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53312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532888" y="1353312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00784"/>
            <a:ext cx="579729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Public BMS datasets hide per-cell voltages behind pack totals.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Imbalance and weak-cell faults are invisible at pack level.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So we instrumented a physical 8S2P NMC pack end to end.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Programmable DC supply charges; electronic load drives discharge profiles.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Every row the model ever sees came from this rig.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charge–discharge cycles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28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528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~3 hrs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28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per cycle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387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&gt;100 hrs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supervised logging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6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46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~155,000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rows logged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93408" y="1682610"/>
            <a:ext cx="4931359" cy="374881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03_img1_x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801482"/>
            <a:ext cx="4693615" cy="351106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693408" y="5614416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8S2P pack, JBD BMS and programmable electronic load on the bench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Pack topology and the model behind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5797296" cy="2395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8S sets the 33.6 V nominal bus the drivetrain expects.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2P buys 8 Ah capacity and the current headroom.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Eight per-cell taps make imbalance observable rather than inferred.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1RC caught the instant drop but missed slow recovery.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059936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475569"/>
                </a:solidFill>
                <a:latin typeface="Inter"/>
              </a:rPr>
              <a:t>2RC PARAMETERS — FITTED ON THE 0–4000 s HPPC SEGMENT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370832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4462272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R₀ 0.06142 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828032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ohmic drop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48128" y="4370832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548128" y="4462272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R₁ 0.00820 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8128" y="4828032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fast branch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9328" y="4370832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29328" y="4462272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C₁ 22.268 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4828032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τ₁ ≈ 0.18 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266944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6928" y="5358383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R₂ 0.00882 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724144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slow branch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8128" y="5266944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548128" y="5358383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C₂ 119.37 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5724144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τ₂ ≈ 1.05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9328" y="5266944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9328" y="5358383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2RC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9328" y="5724144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Vt = OCV − IR₀ − V₁ − V₂</a:t>
            </a:r>
          </a:p>
        </p:txBody>
      </p:sp>
      <p:pic>
        <p:nvPicPr>
          <p:cNvPr id="27" name="Picture 26" descr="diag_pack_8s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5513" y="1408176"/>
            <a:ext cx="4287149" cy="2212848"/>
          </a:xfrm>
          <a:prstGeom prst="rect">
            <a:avLst/>
          </a:prstGeom>
        </p:spPr>
      </p:pic>
      <p:pic>
        <p:nvPicPr>
          <p:cNvPr id="28" name="Picture 27" descr="diag_2rc_e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7957" y="3675887"/>
            <a:ext cx="426225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BLE frames to labelled rows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JBD BMS → BLE via bleak → jbd_logger v9 on the Pi.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BLE fragmented long responses; frames reassembled before any parsing.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NTC byte-offset fix realigned all four thermistor channels.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cell_v1 sat ~0.25 V below pack median in every cycle.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That one weak cell labelled 70.2% of rows Cell Imbalance.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590288"/>
            <a:ext cx="5797296" cy="14813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73659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HANDLING THE SKEW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010912"/>
            <a:ext cx="5394959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Physics-informed synthetic faults generated against datasheet limits, then down-sampled to an equal count per class — a 50/50 real-to-synthetic split that removes the normalcy bias without discarding real rows.</a:t>
            </a:r>
          </a:p>
        </p:txBody>
      </p:sp>
      <p:pic>
        <p:nvPicPr>
          <p:cNvPr id="11" name="Picture 10" descr="fig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783391"/>
            <a:ext cx="4931359" cy="395872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Why XGBoost, and not the obvious alternatives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11057839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" y="1481328"/>
            <a:ext cx="180548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9298" y="148132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0314" y="148132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1330" y="1481328"/>
            <a:ext cx="91577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1694" y="1481328"/>
            <a:ext cx="91577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2058" y="1481328"/>
            <a:ext cx="136062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Interpretable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47277" y="1481328"/>
            <a:ext cx="269519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883664"/>
            <a:ext cx="11057839" cy="457200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" y="1883664"/>
            <a:ext cx="18054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19298" y="18836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98.55%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0314" y="18836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0.85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1330" y="18836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~1.4 MB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1694" y="18836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22058" y="1883664"/>
            <a:ext cx="13606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7277" y="1883664"/>
            <a:ext cx="269519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Deployed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79806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" y="2340864"/>
            <a:ext cx="18054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19298" y="23408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90314" y="23408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1330" y="23408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~1.6 MB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1694" y="23408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B45309"/>
                </a:solidFill>
                <a:latin typeface="Inter"/>
              </a:rPr>
              <a:t>Marginal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22058" y="2340864"/>
            <a:ext cx="13606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47277" y="2340864"/>
            <a:ext cx="269519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Needs sequence buffer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25526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" y="2798064"/>
            <a:ext cx="18054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19298" y="27980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0314" y="27980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1330" y="27980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1694" y="27980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B45309"/>
                </a:solidFill>
                <a:latin typeface="Inter"/>
              </a:rPr>
              <a:t>Marginal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22058" y="2798064"/>
            <a:ext cx="13606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47277" y="2798064"/>
            <a:ext cx="269519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Sequential, hard to batch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71246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" y="3255264"/>
            <a:ext cx="18054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19298" y="32552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90314" y="32552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61330" y="32552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1694" y="32552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22058" y="3255264"/>
            <a:ext cx="13606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47277" y="3255264"/>
            <a:ext cx="269519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Larger for same accuracy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16966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9224" y="3712464"/>
            <a:ext cx="18054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SVM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19298" y="37124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90314" y="37124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61330" y="37124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41694" y="37124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22058" y="3712464"/>
            <a:ext cx="13606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B45309"/>
                </a:solidFill>
                <a:latin typeface="Inter"/>
              </a:rPr>
              <a:t>Partly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47277" y="3712464"/>
            <a:ext cx="269519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Poor on 50-feature tabular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462686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9224" y="4169664"/>
            <a:ext cx="18054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Rule-based BMS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19298" y="41696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90314" y="41696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61330" y="41696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trivial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1694" y="41696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22058" y="4169664"/>
            <a:ext cx="13606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47277" y="4169664"/>
            <a:ext cx="269519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B91C1C"/>
                </a:solidFill>
                <a:latin typeface="Inter"/>
              </a:rPr>
              <a:t>Reacts, never predicts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4901184"/>
            <a:ext cx="5577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WHAT DECIDED IT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5193792"/>
            <a:ext cx="5577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Fifty engineered tabular features, a hard latency budget on the Pi and a reviewer who has to be able to ask why — gradient-boosted trees win all three. “—” means not measured here: we instrumented the model we shipped.</a:t>
            </a:r>
          </a:p>
        </p:txBody>
      </p:sp>
      <p:pic>
        <p:nvPicPr>
          <p:cNvPr id="65" name="Picture 64" descr="fig_model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454" y="4773168"/>
            <a:ext cx="2338666" cy="13898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Three tiers, no single point of failure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1 — JBD BMS senses eight cell taps and four NTCs.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2 — Pi 5 runs logger, XGBoost inference and dashboard.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3 — Arduino Uno R4 watches the Pi's heartbeat.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Missed heartbeat pulls the RUN pin and resets the Pi.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Inference stays at the edge: no link, no safety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718304"/>
            <a:ext cx="5797296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846320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ACCELERATION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120640"/>
            <a:ext cx="5394959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Inter"/>
              </a:rPr>
              <a:t>Zynq-7000 SoC moves the same tree traversal into programmable logic, freeing the CPU for the dashboard and the BLE link.</a:t>
            </a:r>
          </a:p>
        </p:txBody>
      </p:sp>
      <p:pic>
        <p:nvPicPr>
          <p:cNvPr id="11" name="Picture 10" descr="diag_hard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467953"/>
            <a:ext cx="4931359" cy="27425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086990" y="4352544"/>
            <a:ext cx="158707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06_img1_x5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862" y="4471416"/>
            <a:ext cx="1349330" cy="117957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542320" y="4352544"/>
            <a:ext cx="1790653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p06_img2_x52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1192" y="4471416"/>
            <a:ext cx="1552909" cy="11795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3408" y="5797296"/>
            <a:ext cx="2374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Raspberry Pi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0527" y="5797296"/>
            <a:ext cx="2374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Arduino Uno R4 WiFi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dashboard an operator actually reads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Flask on the Pi, exposed over a Cloudflare tunnel.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Live per-cell voltages, pack current and four temperature zones.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Charge and discharge ETA smoothed with an EMA filter.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Driving context from current magnitude at T versus T-1.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Alert history logs value, threshold, severity and resolution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36592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FOUR-MODE DRIVING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475569"/>
                </a:solidFill>
                <a:latin typeface="Inter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8256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48256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ACCEL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9584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9584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E7490"/>
                </a:solidFill>
                <a:latin typeface="Inter"/>
              </a:rPr>
              <a:t>CRUISE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10912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Inter"/>
              </a:rPr>
              <a:t>DECEL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724144"/>
            <a:ext cx="5797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Thresholds follow the mode — a sag under ACCEL is not a sag at IDLE.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93408" y="1610461"/>
            <a:ext cx="4931359" cy="20094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p07_img1_x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729333"/>
            <a:ext cx="4693615" cy="17717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693408" y="3853669"/>
            <a:ext cx="4931359" cy="185728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p08_img2_x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3972541"/>
            <a:ext cx="4693615" cy="161954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93408" y="5797296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Live sensing tiles (top) and the critical-alarm path (bottom)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Six classes, and the confidence to say “I don't know”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THE SIX FAULT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92224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13232" y="1952243"/>
            <a:ext cx="100584" cy="10058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1792224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Normal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8728" y="1792224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85032" y="1952243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904488" y="1792224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Cell Imbalance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304288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13232" y="2464308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2304288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Weak Cell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8728" y="2304288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685032" y="2464308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904488" y="2304288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Overvoltage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816352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13232" y="2976372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2816352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Undervoltage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8728" y="2816352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3685032" y="2976372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904488" y="2816352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Overtemperature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364992"/>
            <a:ext cx="5797296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Below 0.50 the model abstains — no alert is raised.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0.50–0.85 raises a logged warning, non-blocking for the operator.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Above 0.85 becomes an alert with a corrective action.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 confident wrong answer is worse than an honest abstention.</a:t>
            </a:r>
          </a:p>
        </p:txBody>
      </p:sp>
      <p:pic>
        <p:nvPicPr>
          <p:cNvPr id="27" name="Picture 26" descr="fig_confidence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794" y="1572768"/>
            <a:ext cx="3260585" cy="1417320"/>
          </a:xfrm>
          <a:prstGeom prst="rect">
            <a:avLst/>
          </a:prstGeom>
        </p:spPr>
      </p:pic>
      <p:pic>
        <p:nvPicPr>
          <p:cNvPr id="28" name="Picture 27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221" y="3182112"/>
            <a:ext cx="338973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Swap the chemistry, not the codebase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5797296" cy="3035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Upload a datasheet PDF; the parser reads the limits.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Extracts V_nom, V_max, V_min, capacity, current, thermal.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Pack sizing derives S and P from the bus target.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Tiering: NMC reuse, NCA/LCO shift, LFP remap, LTO rescale.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Overvoltage warns 95%, critical 100%; overcurrent 90%.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active_profile.json and PostgreSQL sync live, no restart.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82896"/>
            <a:ext cx="5797296" cy="10607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992624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IN-BROWSER RETRAINING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248656"/>
            <a:ext cx="539495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Inter"/>
              </a:rPr>
              <a:t>Upload field telemetry from the new pack and retrain XGBoost from the dashboard — the adaptation loop closes without a developer.</a:t>
            </a:r>
          </a:p>
        </p:txBody>
      </p:sp>
      <p:pic>
        <p:nvPicPr>
          <p:cNvPr id="11" name="Picture 10" descr="diag_configu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52450"/>
            <a:ext cx="2212848" cy="2935978"/>
          </a:xfrm>
          <a:prstGeom prst="rect">
            <a:avLst/>
          </a:prstGeom>
        </p:spPr>
      </p:pic>
      <p:pic>
        <p:nvPicPr>
          <p:cNvPr id="12" name="Picture 11" descr="fig_ocv_s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36" y="2173200"/>
            <a:ext cx="2535631" cy="24933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89136" y="5303520"/>
            <a:ext cx="25356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Why LFP needs a remap, not a constant offset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