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the live dashboard from the QR code. Simulated data throughout. One sentence: PumpRupee tells an MSME owner how many rupees a pump wastes, why, and whether a VFD will pay back for that pump, using a cheap clamp-on kit and no flow meter.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Anchor on the owner being blind. The 30-40% figure is an audit practitioner's report about ultrasonic meters, not our measurement.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dashboard shown is the working prototype with simulated data. The kit is clamp-on: no pipe cutting, no shutdown. It never controls the pump.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Schneider products are named only as the natural next step after an audit. Say it positively: PumpRupee finds which pumps justify an Altivar-class drive.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numbered callouts on the dashboard: 1 the rupee saving, 2 the payback range, 3 the cheapest-fix-first order. Everything shown is simulated.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Calibration: two scale factors (head, power) are fitted from 7-14 days of logs by profile likelihood; no flow meter. The system curve is the biggest error source, which is why the optional P3 sensor exists.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Screenshots are from the working prototype dashboard, simulated data. Forecast error: 1.4 points with a process-side sensor vs 10.5 points without, under stress. A +/-30% flow reading is worse than no calibration.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the sample file the calibration recovers the hidden pump scales (0.96, 1.05) and a forecast within 1 point of the simulated truth. That is a software test on simulated data, not a field result.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Never say 'none exists'. Altivar Process does sensorless flow inside the drive after it is bought; PumpRupee helps decide which pumps deserve one and verifies the saving.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5-19% = 6,100/127,178 = 4.8% up to 13,300/69,292 = 19.2%. N=10 is arithmetic, not a forecast.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'done' and 'next'. Ask: a pilot plant and a reference flow meter.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number traces to the Grundfos readouts, the CEA factor, indicative online prices, or our own simulation scripts. Close with the key message and the live link.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6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PumpRupee  |  Team ANS_4X  |  Yuva Yodha 2026, Smart Manufacturing  |  All results simulated; prices indicative, not quotes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55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F6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55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pumprupee-dashboard.vercel.app/" TargetMode="External"/><Relationship Id="rId1" Type="http://schemas.openxmlformats.org/officeDocument/2006/relationships/image" Target="../media/image-1-1.png"/><Relationship Id="rId3" Type="http://schemas.openxmlformats.org/officeDocument/2006/relationships/image" Target="../media/image-1-2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hyperlink" Target="https://pumprupee-dashboard.vercel.app/" TargetMode="External"/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10" Type="http://schemas.openxmlformats.org/officeDocument/2006/relationships/image" Target="../media/image-5-9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image" Target="../media/image-9-13.png"/><Relationship Id="rId14" Type="http://schemas.openxmlformats.org/officeDocument/2006/relationships/image" Target="../media/image-9-14.png"/><Relationship Id="rId15" Type="http://schemas.openxmlformats.org/officeDocument/2006/relationships/image" Target="../media/image-9-15.png"/><Relationship Id="rId16" Type="http://schemas.openxmlformats.org/officeDocument/2006/relationships/image" Target="../media/image-9-16.png"/><Relationship Id="rId17" Type="http://schemas.openxmlformats.org/officeDocument/2006/relationships/image" Target="../media/image-9-17.png"/><Relationship Id="rId18" Type="http://schemas.openxmlformats.org/officeDocument/2006/relationships/image" Target="../media/image-9-18.png"/><Relationship Id="rId19" Type="http://schemas.openxmlformats.org/officeDocument/2006/relationships/image" Target="../media/image-9-19.png"/><Relationship Id="rId20" Type="http://schemas.openxmlformats.org/officeDocument/2006/relationships/image" Target="../media/image-9-20.png"/><Relationship Id="rId21" Type="http://schemas.openxmlformats.org/officeDocument/2006/relationships/image" Target="../media/image-9-21.png"/><Relationship Id="rId22" Type="http://schemas.openxmlformats.org/officeDocument/2006/relationships/image" Target="../media/image-9-22.png"/><Relationship Id="rId23" Type="http://schemas.openxmlformats.org/officeDocument/2006/relationships/image" Target="../media/image-9-23.png"/><Relationship Id="rId24" Type="http://schemas.openxmlformats.org/officeDocument/2006/relationships/image" Target="../media/image-9-24.png"/><Relationship Id="rId25" Type="http://schemas.openxmlformats.org/officeDocument/2006/relationships/slideLayout" Target="../slideLayouts/slideLayout2.xml"/><Relationship Id="rId2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6" Type="http://schemas.openxmlformats.org/officeDocument/2006/relationships/hyperlink" Target="https://pumprupee-dashboard.vercel.app/" TargetMode="External"/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PumpRupee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64592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rupees your pumps waste, before you buy a VFD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40080" y="301752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301752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flow meter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3017520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286000" y="301752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shutdown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749040" y="301752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49040" y="301752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waste by cause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6576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ANS_4X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406908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Schneider Electric Yuva Yodha Energy Tech Hackathon 2026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45262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Track: Smart Manufacturing  ·  Electrify · Automate · Digitalise</a:t>
            </a:r>
            <a:endParaRPr lang="en-US" sz="12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120640"/>
            <a:ext cx="868680" cy="8686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1645920" y="5193792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prototype dashboard</a:t>
            </a:r>
            <a:endParaRPr lang="en-US" sz="1300" dirty="0"/>
          </a:p>
          <a:p>
            <a:pPr indent="0" marL="0">
              <a:buNone/>
            </a:pPr>
            <a:r>
              <a:rPr lang="en-US" sz="1200" u="sng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https://pumprupee-dashboard.vercel.app/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data · scan the QR code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172200" y="1143000"/>
            <a:ext cx="5486400" cy="3675888"/>
          </a:xfrm>
          <a:prstGeom prst="roundRect">
            <a:avLst>
              <a:gd name="adj" fmla="val 1493"/>
            </a:avLst>
          </a:prstGeom>
          <a:solidFill>
            <a:srgbClr val="FFFFFF"/>
          </a:solidFill>
          <a:ln w="19050">
            <a:solidFill>
              <a:srgbClr val="0E5A32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190488" y="1161288"/>
            <a:ext cx="5449824" cy="228600"/>
          </a:xfrm>
          <a:prstGeom prst="rect">
            <a:avLst/>
          </a:prstGeom>
          <a:solidFill>
            <a:srgbClr val="E3F2E7"/>
          </a:solidFill>
          <a:ln w="12700">
            <a:solidFill>
              <a:srgbClr val="E3F2E7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281928" y="1216152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428232" y="1216152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574536" y="1216152"/>
            <a:ext cx="91440" cy="91440"/>
          </a:xfrm>
          <a:prstGeom prst="ellipse">
            <a:avLst/>
          </a:prstGeom>
          <a:solidFill>
            <a:srgbClr val="3DCD5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812280" y="1188720"/>
            <a:ext cx="457200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6350">
            <a:solidFill>
              <a:srgbClr val="BFE3C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812280" y="1188720"/>
            <a:ext cx="45720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pumprupee-dashboard.vercel.app</a:t>
            </a:r>
            <a:endParaRPr lang="en-US" sz="800" dirty="0"/>
          </a:p>
        </p:txBody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0488" y="1389888"/>
            <a:ext cx="5449824" cy="3429000"/>
          </a:xfrm>
          <a:prstGeom prst="rect">
            <a:avLst/>
          </a:prstGeom>
        </p:spPr>
      </p:pic>
      <p:sp>
        <p:nvSpPr>
          <p:cNvPr id="23" name="Shape 19"/>
          <p:cNvSpPr/>
          <p:nvPr/>
        </p:nvSpPr>
        <p:spPr>
          <a:xfrm>
            <a:off x="6172200" y="4864608"/>
            <a:ext cx="3840480" cy="310896"/>
          </a:xfrm>
          <a:prstGeom prst="roundRect">
            <a:avLst>
              <a:gd name="adj" fmla="val 50000"/>
            </a:avLst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172200" y="486460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prototype dashboard · simulated data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6172200" y="5440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results are simulated (Grundfos NB 65-160/157, 11 kW). Prices are indicative, not quotes.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Oversized pumps run throttled. The extra energy is burnt across a valve, every hour, and nobody sees it.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23317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508760"/>
            <a:ext cx="566928" cy="566928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863" y="1644823"/>
            <a:ext cx="294803" cy="29480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85800" y="2176272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Oversized pump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Sized above the real duty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2971800" y="2011680"/>
            <a:ext cx="411480" cy="292608"/>
          </a:xfrm>
          <a:prstGeom prst="rightArrow">
            <a:avLst/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65576" y="1371600"/>
            <a:ext cx="23317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602736" y="1508760"/>
            <a:ext cx="566928" cy="566928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8799" y="1644823"/>
            <a:ext cx="294803" cy="29480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602736" y="2176272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Valve half shut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Throttled to hold flow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5888736" y="2011680"/>
            <a:ext cx="411480" cy="292608"/>
          </a:xfrm>
          <a:prstGeom prst="rightArrow">
            <a:avLst/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382512" y="1371600"/>
            <a:ext cx="23317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519672" y="1508760"/>
            <a:ext cx="566928" cy="566928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5735" y="1644823"/>
            <a:ext cx="294803" cy="29480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519672" y="2176272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lost as heat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burnt in the valve</a:t>
            </a:r>
            <a:endParaRPr lang="en-US" sz="1600" dirty="0"/>
          </a:p>
        </p:txBody>
      </p:sp>
      <p:sp>
        <p:nvSpPr>
          <p:cNvPr id="18" name="Shape 13"/>
          <p:cNvSpPr/>
          <p:nvPr/>
        </p:nvSpPr>
        <p:spPr>
          <a:xfrm>
            <a:off x="8805672" y="2011680"/>
            <a:ext cx="411480" cy="292608"/>
          </a:xfrm>
          <a:prstGeom prst="rightArrow">
            <a:avLst/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299448" y="1371600"/>
            <a:ext cx="23317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436608" y="1508760"/>
            <a:ext cx="566928" cy="566928"/>
          </a:xfrm>
          <a:prstGeom prst="ellipse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72671" y="1644823"/>
            <a:ext cx="294803" cy="29480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436608" y="2176272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leaking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every bill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31546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pay for the pump AND for fighting the valve.</a:t>
            </a:r>
            <a:endParaRPr lang="en-US" sz="2200" dirty="0"/>
          </a:p>
        </p:txBody>
      </p:sp>
      <p:sp>
        <p:nvSpPr>
          <p:cNvPr id="24" name="Shape 18"/>
          <p:cNvSpPr/>
          <p:nvPr/>
        </p:nvSpPr>
        <p:spPr>
          <a:xfrm>
            <a:off x="548640" y="3794760"/>
            <a:ext cx="361188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31520" y="3931920"/>
            <a:ext cx="502920" cy="502920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2221" y="4052621"/>
            <a:ext cx="261518" cy="261518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371600" y="39319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Oversizing is common</a:t>
            </a:r>
            <a:endParaRPr lang="en-US" sz="1600" dirty="0"/>
          </a:p>
        </p:txBody>
      </p:sp>
      <p:sp>
        <p:nvSpPr>
          <p:cNvPr id="28" name="Text 21"/>
          <p:cNvSpPr txBox="1"/>
          <p:nvPr/>
        </p:nvSpPr>
        <p:spPr>
          <a:xfrm>
            <a:off x="731520" y="4572000"/>
            <a:ext cx="3246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energy-audit practitioner: wrong sizing leading to throttling is the most common cause.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4297680" y="3794760"/>
            <a:ext cx="361188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4480560" y="3931920"/>
            <a:ext cx="502920" cy="502920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01261" y="4052621"/>
            <a:ext cx="261518" cy="261518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5120640" y="39319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is hard to measure</a:t>
            </a:r>
            <a:endParaRPr lang="en-US" sz="1600" dirty="0"/>
          </a:p>
        </p:txBody>
      </p:sp>
      <p:sp>
        <p:nvSpPr>
          <p:cNvPr id="33" name="Text 25"/>
          <p:cNvSpPr txBox="1"/>
          <p:nvPr/>
        </p:nvSpPr>
        <p:spPr>
          <a:xfrm>
            <a:off x="4480560" y="4572000"/>
            <a:ext cx="3246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Ultrasonic meters: 30–40% of readings go wrong (practitioner report). Pressure and power are easy.</a:t>
            </a:r>
            <a:endParaRPr lang="en-US" sz="1300" dirty="0"/>
          </a:p>
        </p:txBody>
      </p:sp>
      <p:sp>
        <p:nvSpPr>
          <p:cNvPr id="34" name="Shape 26"/>
          <p:cNvSpPr/>
          <p:nvPr/>
        </p:nvSpPr>
        <p:spPr>
          <a:xfrm>
            <a:off x="8046720" y="3794760"/>
            <a:ext cx="361188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35" name="Shape 27"/>
          <p:cNvSpPr/>
          <p:nvPr/>
        </p:nvSpPr>
        <p:spPr>
          <a:xfrm>
            <a:off x="8229600" y="3931920"/>
            <a:ext cx="502920" cy="502920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3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50301" y="4052621"/>
            <a:ext cx="261518" cy="261518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8869680" y="39319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Audits miss small plants</a:t>
            </a:r>
            <a:endParaRPr lang="en-US" sz="1600" dirty="0"/>
          </a:p>
        </p:txBody>
      </p:sp>
      <p:sp>
        <p:nvSpPr>
          <p:cNvPr id="38" name="Text 29"/>
          <p:cNvSpPr txBox="1"/>
          <p:nvPr/>
        </p:nvSpPr>
        <p:spPr>
          <a:xfrm>
            <a:off x="8229600" y="4572000"/>
            <a:ext cx="3246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audits are a poor fit for small plants; very small plants rarely prioritise this.</a:t>
            </a:r>
            <a:endParaRPr lang="en-US" sz="1300" dirty="0"/>
          </a:p>
        </p:txBody>
      </p:sp>
      <p:sp>
        <p:nvSpPr>
          <p:cNvPr id="39" name="Text 30"/>
          <p:cNvSpPr txBox="1"/>
          <p:nvPr/>
        </p:nvSpPr>
        <p:spPr>
          <a:xfrm>
            <a:off x="548640" y="58521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(pressure) and electrical power are cheap to measure. Flow is not. PumpRupee infers flow from the two that are.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55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clamp-on kit and a web dashboard turn power + pressure into “₹ wasted per year, and why”.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16890" y="4360774"/>
            <a:ext cx="4707331" cy="213970"/>
          </a:xfrm>
          <a:prstGeom prst="rect">
            <a:avLst/>
          </a:prstGeom>
          <a:solidFill>
            <a:srgbClr val="9AA5A0"/>
          </a:solidFill>
          <a:ln w="12700">
            <a:solidFill>
              <a:srgbClr val="9AA5A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0859" y="3255264"/>
            <a:ext cx="1711757" cy="1105510"/>
          </a:xfrm>
          <a:prstGeom prst="roundRect">
            <a:avLst>
              <a:gd name="adj" fmla="val 8271"/>
            </a:avLst>
          </a:prstGeom>
          <a:solidFill>
            <a:srgbClr val="3A4A45"/>
          </a:solidFill>
          <a:ln w="12700">
            <a:solidFill>
              <a:srgbClr val="3A4A4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9167" y="3326587"/>
            <a:ext cx="85588" cy="962863"/>
          </a:xfrm>
          <a:prstGeom prst="rect">
            <a:avLst/>
          </a:prstGeom>
          <a:solidFill>
            <a:srgbClr val="55675F"/>
          </a:solidFill>
          <a:ln w="12700">
            <a:solidFill>
              <a:srgbClr val="55675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44534" y="3326587"/>
            <a:ext cx="85588" cy="962863"/>
          </a:xfrm>
          <a:prstGeom prst="rect">
            <a:avLst/>
          </a:prstGeom>
          <a:solidFill>
            <a:srgbClr val="55675F"/>
          </a:solidFill>
          <a:ln w="12700">
            <a:solidFill>
              <a:srgbClr val="55675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79900" y="3326587"/>
            <a:ext cx="85588" cy="962863"/>
          </a:xfrm>
          <a:prstGeom prst="rect">
            <a:avLst/>
          </a:prstGeom>
          <a:solidFill>
            <a:srgbClr val="55675F"/>
          </a:solidFill>
          <a:ln w="12700">
            <a:solidFill>
              <a:srgbClr val="55675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15267" y="3326587"/>
            <a:ext cx="85588" cy="962863"/>
          </a:xfrm>
          <a:prstGeom prst="rect">
            <a:avLst/>
          </a:prstGeom>
          <a:solidFill>
            <a:srgbClr val="55675F"/>
          </a:solidFill>
          <a:ln w="12700">
            <a:solidFill>
              <a:srgbClr val="55675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0633" y="3326587"/>
            <a:ext cx="85588" cy="962863"/>
          </a:xfrm>
          <a:prstGeom prst="rect">
            <a:avLst/>
          </a:prstGeom>
          <a:solidFill>
            <a:srgbClr val="55675F"/>
          </a:solidFill>
          <a:ln w="12700">
            <a:solidFill>
              <a:srgbClr val="55675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286000" y="3326587"/>
            <a:ext cx="85588" cy="962863"/>
          </a:xfrm>
          <a:prstGeom prst="rect">
            <a:avLst/>
          </a:prstGeom>
          <a:solidFill>
            <a:srgbClr val="55675F"/>
          </a:solidFill>
          <a:ln w="12700">
            <a:solidFill>
              <a:srgbClr val="55675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42616" y="3683203"/>
            <a:ext cx="320954" cy="285293"/>
          </a:xfrm>
          <a:prstGeom prst="rect">
            <a:avLst/>
          </a:prstGeom>
          <a:solidFill>
            <a:srgbClr val="7C8A84"/>
          </a:solidFill>
          <a:ln w="12700">
            <a:solidFill>
              <a:srgbClr val="7C8A8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27909" y="3183941"/>
            <a:ext cx="1141171" cy="1141171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91510" y="2185416"/>
            <a:ext cx="213970" cy="1069848"/>
          </a:xfrm>
          <a:prstGeom prst="rect">
            <a:avLst/>
          </a:prstGeom>
          <a:solidFill>
            <a:srgbClr val="B0BEC5"/>
          </a:solidFill>
          <a:ln w="12700">
            <a:solidFill>
              <a:srgbClr val="B0BEC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391510" y="2185416"/>
            <a:ext cx="2032711" cy="213970"/>
          </a:xfrm>
          <a:prstGeom prst="rect">
            <a:avLst/>
          </a:prstGeom>
          <a:solidFill>
            <a:srgbClr val="B0BEC5"/>
          </a:solidFill>
          <a:ln w="12700">
            <a:solidFill>
              <a:srgbClr val="B0BEC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26434" y="3790188"/>
            <a:ext cx="1497787" cy="213970"/>
          </a:xfrm>
          <a:prstGeom prst="rect">
            <a:avLst/>
          </a:prstGeom>
          <a:solidFill>
            <a:srgbClr val="B0BEC5"/>
          </a:solidFill>
          <a:ln w="12700">
            <a:solidFill>
              <a:srgbClr val="B0BEC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68342" y="3683203"/>
            <a:ext cx="356616" cy="427939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18711" y="2078431"/>
            <a:ext cx="427939" cy="427939"/>
          </a:xfrm>
          <a:prstGeom prst="diamond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11284" y="1914388"/>
            <a:ext cx="42794" cy="178308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1871594"/>
            <a:ext cx="213970" cy="57059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33713" y="2042770"/>
            <a:ext cx="71323" cy="156911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748126" y="1828800"/>
            <a:ext cx="249631" cy="213970"/>
          </a:xfrm>
          <a:prstGeom prst="roundRect">
            <a:avLst>
              <a:gd name="adj" fmla="val 21367"/>
            </a:avLst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625401" y="3469234"/>
            <a:ext cx="213970" cy="213970"/>
          </a:xfrm>
          <a:prstGeom prst="roundRect">
            <a:avLst>
              <a:gd name="adj" fmla="val 21367"/>
            </a:avLst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193280" y="2399386"/>
            <a:ext cx="42794" cy="855878"/>
          </a:xfrm>
          <a:prstGeom prst="rect">
            <a:avLst/>
          </a:prstGeom>
          <a:solidFill>
            <a:srgbClr val="222222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29384" y="1828800"/>
            <a:ext cx="1141171" cy="570586"/>
          </a:xfrm>
          <a:prstGeom prst="roundRect">
            <a:avLst>
              <a:gd name="adj" fmla="val 12821"/>
            </a:avLst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42173" y="1885859"/>
            <a:ext cx="71323" cy="71323"/>
          </a:xfrm>
          <a:prstGeom prst="ellipse">
            <a:avLst/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72030" y="2684678"/>
            <a:ext cx="285293" cy="285293"/>
          </a:xfrm>
          <a:prstGeom prst="donut">
            <a:avLst/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70555" y="1935785"/>
            <a:ext cx="677570" cy="0"/>
          </a:xfrm>
          <a:prstGeom prst="line">
            <a:avLst/>
          </a:prstGeom>
          <a:noFill/>
          <a:ln w="19050">
            <a:solidFill>
              <a:srgbClr val="3DCD58"/>
            </a:solidFill>
            <a:prstDash val="dash"/>
          </a:ln>
        </p:spPr>
      </p:sp>
      <p:sp>
        <p:nvSpPr>
          <p:cNvPr id="29" name="Text 27"/>
          <p:cNvSpPr txBox="1"/>
          <p:nvPr/>
        </p:nvSpPr>
        <p:spPr>
          <a:xfrm>
            <a:off x="1929384" y="1885859"/>
            <a:ext cx="998525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1929384" y="2114093"/>
            <a:ext cx="998525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logger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930859" y="3647542"/>
            <a:ext cx="1711757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2927909" y="3611880"/>
            <a:ext cx="1141171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288950" y="2542032"/>
            <a:ext cx="1676095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clamp (on motor cable)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3569818" y="1557772"/>
            <a:ext cx="1569110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Pressure transmitter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4140403" y="2542032"/>
            <a:ext cx="1212494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Throttle valve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3997757" y="4146804"/>
            <a:ext cx="1497787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Strainer + optional</a:t>
            </a:r>
            <a:endParaRPr lang="en-US" sz="1200" dirty="0"/>
          </a:p>
          <a:p>
            <a:pPr algn="r" indent="0" marL="0">
              <a:buNone/>
            </a:pPr>
            <a:r>
              <a:rPr lang="en-US" sz="12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 transmitter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489204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illustration of the kit on a pump skid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309360" y="1280160"/>
            <a:ext cx="5029200" cy="3390138"/>
          </a:xfrm>
          <a:prstGeom prst="roundRect">
            <a:avLst>
              <a:gd name="adj" fmla="val 1618"/>
            </a:avLst>
          </a:prstGeom>
          <a:solidFill>
            <a:srgbClr val="FFFFFF"/>
          </a:solidFill>
          <a:ln w="19050">
            <a:solidFill>
              <a:srgbClr val="0E5A3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27648" y="1298448"/>
            <a:ext cx="4992624" cy="228600"/>
          </a:xfrm>
          <a:prstGeom prst="rect">
            <a:avLst/>
          </a:prstGeom>
          <a:solidFill>
            <a:srgbClr val="E3F2E7"/>
          </a:solidFill>
          <a:ln w="12700">
            <a:solidFill>
              <a:srgbClr val="E3F2E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19088" y="1353312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565392" y="1353312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711696" y="1353312"/>
            <a:ext cx="91440" cy="91440"/>
          </a:xfrm>
          <a:prstGeom prst="ellipse">
            <a:avLst/>
          </a:prstGeom>
          <a:solidFill>
            <a:srgbClr val="3DCD5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949440" y="1325880"/>
            <a:ext cx="411480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6350">
            <a:solidFill>
              <a:srgbClr val="BFE3C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949440" y="1325880"/>
            <a:ext cx="4114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pumprupee-dashboard.vercel.app</a:t>
            </a:r>
            <a:endParaRPr lang="en-US" sz="800" dirty="0"/>
          </a:p>
        </p:txBody>
      </p:sp>
      <p:pic>
        <p:nvPicPr>
          <p:cNvPr id="4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27648" y="1527048"/>
            <a:ext cx="4992624" cy="3143250"/>
          </a:xfrm>
          <a:prstGeom prst="rect">
            <a:avLst/>
          </a:prstGeom>
        </p:spPr>
      </p:pic>
      <p:sp>
        <p:nvSpPr>
          <p:cNvPr id="46" name="Shape 43"/>
          <p:cNvSpPr/>
          <p:nvPr/>
        </p:nvSpPr>
        <p:spPr>
          <a:xfrm>
            <a:off x="6309360" y="4716018"/>
            <a:ext cx="3840480" cy="310896"/>
          </a:xfrm>
          <a:prstGeom prst="roundRect">
            <a:avLst>
              <a:gd name="adj" fmla="val 50000"/>
            </a:avLst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6309360" y="471601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prototype dashboard · simulated data</a:t>
            </a:r>
            <a:endParaRPr lang="en-US" sz="1000" dirty="0"/>
          </a:p>
        </p:txBody>
      </p:sp>
      <p:pic>
        <p:nvPicPr>
          <p:cNvPr id="4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5054346"/>
            <a:ext cx="219456" cy="219456"/>
          </a:xfrm>
          <a:prstGeom prst="rect">
            <a:avLst/>
          </a:prstGeom>
        </p:spPr>
      </p:pic>
      <p:sp>
        <p:nvSpPr>
          <p:cNvPr id="49" name="Text 45"/>
          <p:cNvSpPr txBox="1"/>
          <p:nvPr/>
        </p:nvSpPr>
        <p:spPr>
          <a:xfrm>
            <a:off x="6620256" y="502691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waste per year, by cause</a:t>
            </a:r>
            <a:endParaRPr lang="en-US" sz="1050" dirty="0"/>
          </a:p>
        </p:txBody>
      </p:sp>
      <p:pic>
        <p:nvPicPr>
          <p:cNvPr id="5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0" y="5054346"/>
            <a:ext cx="219456" cy="219456"/>
          </a:xfrm>
          <a:prstGeom prst="rect">
            <a:avLst/>
          </a:prstGeom>
        </p:spPr>
      </p:pic>
      <p:sp>
        <p:nvSpPr>
          <p:cNvPr id="51" name="Text 46"/>
          <p:cNvSpPr txBox="1"/>
          <p:nvPr/>
        </p:nvSpPr>
        <p:spPr>
          <a:xfrm>
            <a:off x="9226296" y="502691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Cheapest fix first + safe setpoint</a:t>
            </a:r>
            <a:endParaRPr lang="en-US" sz="1050" dirty="0"/>
          </a:p>
        </p:txBody>
      </p:sp>
      <p:pic>
        <p:nvPicPr>
          <p:cNvPr id="5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5356098"/>
            <a:ext cx="219456" cy="219456"/>
          </a:xfrm>
          <a:prstGeom prst="rect">
            <a:avLst/>
          </a:prstGeom>
        </p:spPr>
      </p:pic>
      <p:sp>
        <p:nvSpPr>
          <p:cNvPr id="53" name="Text 47"/>
          <p:cNvSpPr txBox="1"/>
          <p:nvPr/>
        </p:nvSpPr>
        <p:spPr>
          <a:xfrm>
            <a:off x="6620256" y="532866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VFD payback verdict for THIS pump</a:t>
            </a:r>
            <a:endParaRPr lang="en-US" sz="1050" dirty="0"/>
          </a:p>
        </p:txBody>
      </p:sp>
      <p:pic>
        <p:nvPicPr>
          <p:cNvPr id="5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15400" y="5356098"/>
            <a:ext cx="219456" cy="219456"/>
          </a:xfrm>
          <a:prstGeom prst="rect">
            <a:avLst/>
          </a:prstGeom>
        </p:spPr>
      </p:pic>
      <p:sp>
        <p:nvSpPr>
          <p:cNvPr id="55" name="Text 48"/>
          <p:cNvSpPr txBox="1"/>
          <p:nvPr/>
        </p:nvSpPr>
        <p:spPr>
          <a:xfrm>
            <a:off x="9226296" y="532866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saving after the fix</a:t>
            </a:r>
            <a:endParaRPr lang="en-US" sz="1050" dirty="0"/>
          </a:p>
        </p:txBody>
      </p:sp>
      <p:sp>
        <p:nvSpPr>
          <p:cNvPr id="56" name="Text 49"/>
          <p:cNvSpPr txBox="1"/>
          <p:nvPr/>
        </p:nvSpPr>
        <p:spPr>
          <a:xfrm>
            <a:off x="548640" y="52578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Clamp on → log 7–14 days → ₹ report → the right fix</a:t>
            </a:r>
            <a:endParaRPr lang="en-US" sz="1500" dirty="0"/>
          </a:p>
        </p:txBody>
      </p:sp>
      <p:sp>
        <p:nvSpPr>
          <p:cNvPr id="57" name="Shape 50"/>
          <p:cNvSpPr/>
          <p:nvPr/>
        </p:nvSpPr>
        <p:spPr>
          <a:xfrm>
            <a:off x="548640" y="5852160"/>
            <a:ext cx="11109960" cy="502920"/>
          </a:xfrm>
          <a:prstGeom prst="roundRect">
            <a:avLst>
              <a:gd name="adj" fmla="val 18182"/>
            </a:avLst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sp>
        <p:nvSpPr>
          <p:cNvPr id="58" name="Text 51"/>
          <p:cNvSpPr txBox="1"/>
          <p:nvPr/>
        </p:nvSpPr>
        <p:spPr>
          <a:xfrm>
            <a:off x="548640" y="5852160"/>
            <a:ext cx="11109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Audits and recommends. Does not control the pump.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55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Alignment to Smart Manufacturing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Electrify · Automate · Digitalise, at an entry cost an MSME can afford.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61188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481328"/>
            <a:ext cx="530352" cy="530352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084" y="1608612"/>
            <a:ext cx="275783" cy="27578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481328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Electrify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148840"/>
            <a:ext cx="3291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Makes motor energy visible with a clamp-on power measurement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owners to the pumps where a right-sized drive pays back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297680" y="1371600"/>
            <a:ext cx="361188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434840" y="1481328"/>
            <a:ext cx="530352" cy="530352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2124" y="1608612"/>
            <a:ext cx="275783" cy="27578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120640" y="1481328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4480560" y="2148840"/>
            <a:ext cx="3291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diagnosis of waste by cause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Wear-drift alarm (CUSUM) on the pump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safe VFD setpoint; the drive does the controlling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046720" y="1371600"/>
            <a:ext cx="361188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183880" y="1481328"/>
            <a:ext cx="530352" cy="530352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1164" y="1608612"/>
            <a:ext cx="275783" cy="27578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869680" y="1481328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Digitalise</a:t>
            </a:r>
            <a:endParaRPr lang="en-US" sz="2200" dirty="0"/>
          </a:p>
        </p:txBody>
      </p:sp>
      <p:sp>
        <p:nvSpPr>
          <p:cNvPr id="18" name="Text 13"/>
          <p:cNvSpPr txBox="1"/>
          <p:nvPr/>
        </p:nvSpPr>
        <p:spPr>
          <a:xfrm>
            <a:off x="8229600" y="2148840"/>
            <a:ext cx="3291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become a ₹ business case on a dashboard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Before/after proof of the saving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keeps the data and can use any drive</a:t>
            </a:r>
            <a:endParaRPr lang="en-US" sz="1300" dirty="0"/>
          </a:p>
        </p:txBody>
      </p:sp>
      <p:sp>
        <p:nvSpPr>
          <p:cNvPr id="19" name="Text 14"/>
          <p:cNvSpPr txBox="1"/>
          <p:nvPr/>
        </p:nvSpPr>
        <p:spPr>
          <a:xfrm>
            <a:off x="548640" y="3886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PumpRupee feeds drives and energy management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548640" y="4297680"/>
            <a:ext cx="2011680" cy="1371600"/>
          </a:xfrm>
          <a:prstGeom prst="roundRect">
            <a:avLst>
              <a:gd name="adj" fmla="val 5333"/>
            </a:avLst>
          </a:prstGeom>
          <a:solidFill>
            <a:srgbClr val="E3F6E8"/>
          </a:solidFill>
          <a:ln w="25400">
            <a:solidFill>
              <a:srgbClr val="3DCD58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658368" y="4389120"/>
            <a:ext cx="329184" cy="329184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58368" y="4389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658368" y="4773168"/>
            <a:ext cx="18105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PumpRupee audit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Clamp-on, 7–14 days</a:t>
            </a:r>
            <a:endParaRPr lang="en-US" sz="1300" dirty="0"/>
          </a:p>
        </p:txBody>
      </p:sp>
      <p:sp>
        <p:nvSpPr>
          <p:cNvPr id="24" name="Shape 19"/>
          <p:cNvSpPr/>
          <p:nvPr/>
        </p:nvSpPr>
        <p:spPr>
          <a:xfrm>
            <a:off x="2578608" y="4846320"/>
            <a:ext cx="201168" cy="256032"/>
          </a:xfrm>
          <a:prstGeom prst="rightArrow">
            <a:avLst/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2798064" y="4297680"/>
            <a:ext cx="20116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2907792" y="4389120"/>
            <a:ext cx="329184" cy="329184"/>
          </a:xfrm>
          <a:prstGeom prst="ellipse">
            <a:avLst/>
          </a:prstGeom>
          <a:solidFill>
            <a:srgbClr val="9AA5A0"/>
          </a:solidFill>
          <a:ln w="12700">
            <a:solidFill>
              <a:srgbClr val="9AA5A0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2907792" y="4389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8" name="Text 23"/>
          <p:cNvSpPr txBox="1"/>
          <p:nvPr/>
        </p:nvSpPr>
        <p:spPr>
          <a:xfrm>
            <a:off x="2907792" y="4773168"/>
            <a:ext cx="18105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business case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 by cause + VFD verdict</a:t>
            </a:r>
            <a:endParaRPr lang="en-US" sz="1300" dirty="0"/>
          </a:p>
        </p:txBody>
      </p:sp>
      <p:sp>
        <p:nvSpPr>
          <p:cNvPr id="29" name="Shape 24"/>
          <p:cNvSpPr/>
          <p:nvPr/>
        </p:nvSpPr>
        <p:spPr>
          <a:xfrm>
            <a:off x="4828032" y="4846320"/>
            <a:ext cx="201168" cy="256032"/>
          </a:xfrm>
          <a:prstGeom prst="rightArrow">
            <a:avLst/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5047488" y="4297680"/>
            <a:ext cx="20116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5157216" y="4389120"/>
            <a:ext cx="329184" cy="329184"/>
          </a:xfrm>
          <a:prstGeom prst="ellipse">
            <a:avLst/>
          </a:prstGeom>
          <a:solidFill>
            <a:srgbClr val="9AA5A0"/>
          </a:solidFill>
          <a:ln w="12700">
            <a:solidFill>
              <a:srgbClr val="9AA5A0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5157216" y="4389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33" name="Text 28"/>
          <p:cNvSpPr txBox="1"/>
          <p:nvPr/>
        </p:nvSpPr>
        <p:spPr>
          <a:xfrm>
            <a:off x="5157216" y="4773168"/>
            <a:ext cx="18105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VFD installed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Altivar Process</a:t>
            </a:r>
            <a:endParaRPr lang="en-US" sz="1300" dirty="0"/>
          </a:p>
        </p:txBody>
      </p:sp>
      <p:sp>
        <p:nvSpPr>
          <p:cNvPr id="34" name="Shape 29"/>
          <p:cNvSpPr/>
          <p:nvPr/>
        </p:nvSpPr>
        <p:spPr>
          <a:xfrm>
            <a:off x="7077456" y="4846320"/>
            <a:ext cx="201168" cy="256032"/>
          </a:xfrm>
          <a:prstGeom prst="rightArrow">
            <a:avLst/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35" name="Shape 30"/>
          <p:cNvSpPr/>
          <p:nvPr/>
        </p:nvSpPr>
        <p:spPr>
          <a:xfrm>
            <a:off x="7296912" y="4297680"/>
            <a:ext cx="2011680" cy="1371600"/>
          </a:xfrm>
          <a:prstGeom prst="roundRect">
            <a:avLst>
              <a:gd name="adj" fmla="val 5333"/>
            </a:avLst>
          </a:prstGeom>
          <a:solidFill>
            <a:srgbClr val="E3F6E8"/>
          </a:solidFill>
          <a:ln w="25400">
            <a:solidFill>
              <a:srgbClr val="3DCD58"/>
            </a:solidFill>
            <a:prstDash val="solid"/>
          </a:ln>
        </p:spPr>
      </p:sp>
      <p:sp>
        <p:nvSpPr>
          <p:cNvPr id="36" name="Shape 31"/>
          <p:cNvSpPr/>
          <p:nvPr/>
        </p:nvSpPr>
        <p:spPr>
          <a:xfrm>
            <a:off x="7406640" y="4389120"/>
            <a:ext cx="329184" cy="329184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7406640" y="4389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38" name="Text 33"/>
          <p:cNvSpPr txBox="1"/>
          <p:nvPr/>
        </p:nvSpPr>
        <p:spPr>
          <a:xfrm>
            <a:off x="7406640" y="4773168"/>
            <a:ext cx="18105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PumpRupee re-measures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kit, after the fix</a:t>
            </a:r>
            <a:endParaRPr lang="en-US" sz="1300" dirty="0"/>
          </a:p>
        </p:txBody>
      </p:sp>
      <p:sp>
        <p:nvSpPr>
          <p:cNvPr id="39" name="Shape 34"/>
          <p:cNvSpPr/>
          <p:nvPr/>
        </p:nvSpPr>
        <p:spPr>
          <a:xfrm>
            <a:off x="9326880" y="4846320"/>
            <a:ext cx="201168" cy="256032"/>
          </a:xfrm>
          <a:prstGeom prst="rightArrow">
            <a:avLst/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40" name="Shape 35"/>
          <p:cNvSpPr/>
          <p:nvPr/>
        </p:nvSpPr>
        <p:spPr>
          <a:xfrm>
            <a:off x="9546336" y="4297680"/>
            <a:ext cx="20116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41" name="Shape 36"/>
          <p:cNvSpPr/>
          <p:nvPr/>
        </p:nvSpPr>
        <p:spPr>
          <a:xfrm>
            <a:off x="9656064" y="4389120"/>
            <a:ext cx="329184" cy="329184"/>
          </a:xfrm>
          <a:prstGeom prst="ellipse">
            <a:avLst/>
          </a:prstGeom>
          <a:solidFill>
            <a:srgbClr val="9AA5A0"/>
          </a:solidFill>
          <a:ln w="12700">
            <a:solidFill>
              <a:srgbClr val="9AA5A0"/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9656064" y="4389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43" name="Text 38"/>
          <p:cNvSpPr txBox="1"/>
          <p:nvPr/>
        </p:nvSpPr>
        <p:spPr>
          <a:xfrm>
            <a:off x="9656064" y="4773168"/>
            <a:ext cx="18105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saving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 energy management, e.g. EcoStruxure</a:t>
            </a:r>
            <a:endParaRPr lang="en-US" sz="1300" dirty="0"/>
          </a:p>
        </p:txBody>
      </p:sp>
      <p:sp>
        <p:nvSpPr>
          <p:cNvPr id="44" name="Text 39"/>
          <p:cNvSpPr txBox="1"/>
          <p:nvPr/>
        </p:nvSpPr>
        <p:spPr>
          <a:xfrm>
            <a:off x="548640" y="58064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low-cost front door that expands VFD and energy-management adoption into MSMEs that skip audits today. Concept only: no drive or platform integration built.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55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 &amp; User Journey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steps from clamp-on to a verified saving.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420624" cy="420624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590" y="1381110"/>
            <a:ext cx="218724" cy="2187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7280" y="1280160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Clamp on  </a:t>
            </a:r>
            <a:pPr indent="0" marL="0">
              <a:buNone/>
            </a:pPr>
            <a:r>
              <a:rPr lang="en-US" sz="115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clamp on the motor cable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1773936"/>
            <a:ext cx="420624" cy="420624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590" y="1874886"/>
            <a:ext cx="218724" cy="21872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97280" y="1773936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sensors  </a:t>
            </a:r>
            <a:pPr indent="0" marL="0">
              <a:buNone/>
            </a:pPr>
            <a:r>
              <a:rPr lang="en-US" sz="115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Pressure on existing gauge ports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548640" y="2267712"/>
            <a:ext cx="420624" cy="420624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590" y="2368662"/>
            <a:ext cx="218724" cy="21872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0" y="2267712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7–14 days  </a:t>
            </a:r>
            <a:pPr indent="0" marL="0">
              <a:buNone/>
            </a:pPr>
            <a:r>
              <a:rPr lang="en-US" sz="115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 saves a CSV of power + pressure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548640" y="2761488"/>
            <a:ext cx="420624" cy="420624"/>
          </a:xfrm>
          <a:prstGeom prst="ellipse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590" y="2862438"/>
            <a:ext cx="218724" cy="21872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97280" y="2761488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to the dashboard  </a:t>
            </a:r>
            <a:pPr indent="0" marL="0">
              <a:buNone/>
            </a:pPr>
            <a:r>
              <a:rPr lang="en-US" sz="115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report by cause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548640" y="3255264"/>
            <a:ext cx="420624" cy="420624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590" y="3356214"/>
            <a:ext cx="218724" cy="218724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097280" y="3255264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fix  </a:t>
            </a:r>
            <a:pPr indent="0" marL="0">
              <a:buNone/>
            </a:pPr>
            <a:r>
              <a:rPr lang="en-US" sz="115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Cheapest first; VFD verdict</a:t>
            </a:r>
            <a:endParaRPr lang="en-US" sz="1300" dirty="0"/>
          </a:p>
        </p:txBody>
      </p:sp>
      <p:sp>
        <p:nvSpPr>
          <p:cNvPr id="19" name="Shape 12"/>
          <p:cNvSpPr/>
          <p:nvPr/>
        </p:nvSpPr>
        <p:spPr>
          <a:xfrm>
            <a:off x="548640" y="3749040"/>
            <a:ext cx="420624" cy="420624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590" y="3849990"/>
            <a:ext cx="218724" cy="218724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1097280" y="3749040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Re-measure  </a:t>
            </a:r>
            <a:pPr indent="0" marL="0">
              <a:buNone/>
            </a:pPr>
            <a:r>
              <a:rPr lang="en-US" sz="115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the saving</a:t>
            </a:r>
            <a:endParaRPr lang="en-US" sz="1300" dirty="0"/>
          </a:p>
        </p:txBody>
      </p:sp>
      <p:sp>
        <p:nvSpPr>
          <p:cNvPr id="22" name="Shape 14"/>
          <p:cNvSpPr/>
          <p:nvPr/>
        </p:nvSpPr>
        <p:spPr>
          <a:xfrm>
            <a:off x="548640" y="4242816"/>
            <a:ext cx="420624" cy="420624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9590" y="4343766"/>
            <a:ext cx="218724" cy="21872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097280" y="4242816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the kit  </a:t>
            </a:r>
            <a:pPr indent="0" marL="0">
              <a:buNone/>
            </a:pPr>
            <a:r>
              <a:rPr lang="en-US" sz="115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pump</a:t>
            </a:r>
            <a:endParaRPr lang="en-US" sz="1300" dirty="0"/>
          </a:p>
        </p:txBody>
      </p:sp>
      <p:sp>
        <p:nvSpPr>
          <p:cNvPr id="25" name="Shape 16"/>
          <p:cNvSpPr/>
          <p:nvPr/>
        </p:nvSpPr>
        <p:spPr>
          <a:xfrm>
            <a:off x="548640" y="484632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sp>
        <p:nvSpPr>
          <p:cNvPr id="26" name="Text 17"/>
          <p:cNvSpPr txBox="1"/>
          <p:nvPr/>
        </p:nvSpPr>
        <p:spPr>
          <a:xfrm>
            <a:off x="548640" y="484632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waste by cause</a:t>
            </a:r>
            <a:endParaRPr lang="en-US" sz="1050" dirty="0"/>
          </a:p>
        </p:txBody>
      </p:sp>
      <p:sp>
        <p:nvSpPr>
          <p:cNvPr id="27" name="Shape 18"/>
          <p:cNvSpPr/>
          <p:nvPr/>
        </p:nvSpPr>
        <p:spPr>
          <a:xfrm>
            <a:off x="2194560" y="484632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28" name="Text 19"/>
          <p:cNvSpPr txBox="1"/>
          <p:nvPr/>
        </p:nvSpPr>
        <p:spPr>
          <a:xfrm>
            <a:off x="2194560" y="484632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flow meter</a:t>
            </a:r>
            <a:endParaRPr lang="en-US" sz="1050" dirty="0"/>
          </a:p>
        </p:txBody>
      </p:sp>
      <p:sp>
        <p:nvSpPr>
          <p:cNvPr id="29" name="Shape 20"/>
          <p:cNvSpPr/>
          <p:nvPr/>
        </p:nvSpPr>
        <p:spPr>
          <a:xfrm>
            <a:off x="3840480" y="484632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sp>
        <p:nvSpPr>
          <p:cNvPr id="30" name="Text 21"/>
          <p:cNvSpPr txBox="1"/>
          <p:nvPr/>
        </p:nvSpPr>
        <p:spPr>
          <a:xfrm>
            <a:off x="3840480" y="484632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shutdown</a:t>
            </a:r>
            <a:endParaRPr lang="en-US" sz="1050" dirty="0"/>
          </a:p>
        </p:txBody>
      </p:sp>
      <p:sp>
        <p:nvSpPr>
          <p:cNvPr id="31" name="Shape 22"/>
          <p:cNvSpPr/>
          <p:nvPr/>
        </p:nvSpPr>
        <p:spPr>
          <a:xfrm>
            <a:off x="548640" y="521208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32" name="Text 23"/>
          <p:cNvSpPr txBox="1"/>
          <p:nvPr/>
        </p:nvSpPr>
        <p:spPr>
          <a:xfrm>
            <a:off x="548640" y="521208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VFD verdict</a:t>
            </a:r>
            <a:endParaRPr lang="en-US" sz="1050" dirty="0"/>
          </a:p>
        </p:txBody>
      </p:sp>
      <p:sp>
        <p:nvSpPr>
          <p:cNvPr id="33" name="Shape 24"/>
          <p:cNvSpPr/>
          <p:nvPr/>
        </p:nvSpPr>
        <p:spPr>
          <a:xfrm>
            <a:off x="2194560" y="521208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sp>
        <p:nvSpPr>
          <p:cNvPr id="34" name="Text 25"/>
          <p:cNvSpPr txBox="1"/>
          <p:nvPr/>
        </p:nvSpPr>
        <p:spPr>
          <a:xfrm>
            <a:off x="2194560" y="521208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your logs</a:t>
            </a:r>
            <a:endParaRPr lang="en-US" sz="1050" dirty="0"/>
          </a:p>
        </p:txBody>
      </p:sp>
      <p:sp>
        <p:nvSpPr>
          <p:cNvPr id="35" name="Shape 26"/>
          <p:cNvSpPr/>
          <p:nvPr/>
        </p:nvSpPr>
        <p:spPr>
          <a:xfrm>
            <a:off x="3840480" y="521208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36" name="Text 27"/>
          <p:cNvSpPr txBox="1"/>
          <p:nvPr/>
        </p:nvSpPr>
        <p:spPr>
          <a:xfrm>
            <a:off x="3840480" y="521208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kit</a:t>
            </a:r>
            <a:endParaRPr lang="en-US" sz="1050" dirty="0"/>
          </a:p>
        </p:txBody>
      </p:sp>
      <p:pic>
        <p:nvPicPr>
          <p:cNvPr id="3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5669280"/>
            <a:ext cx="658368" cy="658368"/>
          </a:xfrm>
          <a:prstGeom prst="rect">
            <a:avLst/>
          </a:prstGeom>
        </p:spPr>
      </p:pic>
      <p:sp>
        <p:nvSpPr>
          <p:cNvPr id="38" name="Text 28"/>
          <p:cNvSpPr txBox="1"/>
          <p:nvPr/>
        </p:nvSpPr>
        <p:spPr>
          <a:xfrm>
            <a:off x="1344168" y="5742432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prototype dashboard</a:t>
            </a:r>
            <a:endParaRPr lang="en-US" sz="1300" dirty="0"/>
          </a:p>
          <a:p>
            <a:pPr indent="0" marL="0">
              <a:buNone/>
            </a:pPr>
            <a:r>
              <a:rPr lang="en-US" sz="1200" u="sng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https://pumprupee-dashboard.vercel.app/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data · scan the QR code</a:t>
            </a:r>
            <a:endParaRPr lang="en-US" sz="1300" dirty="0"/>
          </a:p>
        </p:txBody>
      </p:sp>
      <p:sp>
        <p:nvSpPr>
          <p:cNvPr id="39" name="Shape 29"/>
          <p:cNvSpPr/>
          <p:nvPr/>
        </p:nvSpPr>
        <p:spPr>
          <a:xfrm>
            <a:off x="5440680" y="1280160"/>
            <a:ext cx="6217920" cy="2770632"/>
          </a:xfrm>
          <a:prstGeom prst="roundRect">
            <a:avLst>
              <a:gd name="adj" fmla="val 1980"/>
            </a:avLst>
          </a:prstGeom>
          <a:solidFill>
            <a:srgbClr val="FFFFFF"/>
          </a:solidFill>
          <a:ln w="19050">
            <a:solidFill>
              <a:srgbClr val="0E5A32"/>
            </a:solidFill>
            <a:prstDash val="solid"/>
          </a:ln>
        </p:spPr>
      </p:sp>
      <p:sp>
        <p:nvSpPr>
          <p:cNvPr id="40" name="Shape 30"/>
          <p:cNvSpPr/>
          <p:nvPr/>
        </p:nvSpPr>
        <p:spPr>
          <a:xfrm>
            <a:off x="5458968" y="1298448"/>
            <a:ext cx="6181344" cy="228600"/>
          </a:xfrm>
          <a:prstGeom prst="rect">
            <a:avLst/>
          </a:prstGeom>
          <a:solidFill>
            <a:srgbClr val="E3F2E7"/>
          </a:solidFill>
          <a:ln w="12700">
            <a:solidFill>
              <a:srgbClr val="E3F2E7"/>
            </a:solidFill>
            <a:prstDash val="solid"/>
          </a:ln>
        </p:spPr>
      </p:sp>
      <p:sp>
        <p:nvSpPr>
          <p:cNvPr id="41" name="Shape 31"/>
          <p:cNvSpPr/>
          <p:nvPr/>
        </p:nvSpPr>
        <p:spPr>
          <a:xfrm>
            <a:off x="5550408" y="1353312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32"/>
          <p:cNvSpPr/>
          <p:nvPr/>
        </p:nvSpPr>
        <p:spPr>
          <a:xfrm>
            <a:off x="5696712" y="1353312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Shape 33"/>
          <p:cNvSpPr/>
          <p:nvPr/>
        </p:nvSpPr>
        <p:spPr>
          <a:xfrm>
            <a:off x="5843016" y="1353312"/>
            <a:ext cx="91440" cy="91440"/>
          </a:xfrm>
          <a:prstGeom prst="ellipse">
            <a:avLst/>
          </a:prstGeom>
          <a:solidFill>
            <a:srgbClr val="3DCD5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Shape 34"/>
          <p:cNvSpPr/>
          <p:nvPr/>
        </p:nvSpPr>
        <p:spPr>
          <a:xfrm>
            <a:off x="6080760" y="1325880"/>
            <a:ext cx="530352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6350">
            <a:solidFill>
              <a:srgbClr val="BFE3C8"/>
            </a:solidFill>
            <a:prstDash val="solid"/>
          </a:ln>
        </p:spPr>
      </p:sp>
      <p:sp>
        <p:nvSpPr>
          <p:cNvPr id="45" name="Text 35"/>
          <p:cNvSpPr txBox="1"/>
          <p:nvPr/>
        </p:nvSpPr>
        <p:spPr>
          <a:xfrm>
            <a:off x="6080760" y="1325880"/>
            <a:ext cx="53035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pumprupee-dashboard.vercel.app</a:t>
            </a:r>
            <a:endParaRPr lang="en-US" sz="800" dirty="0"/>
          </a:p>
        </p:txBody>
      </p:sp>
      <p:pic>
        <p:nvPicPr>
          <p:cNvPr id="46" name="Image 8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58968" y="1527048"/>
            <a:ext cx="6181344" cy="2523744"/>
          </a:xfrm>
          <a:prstGeom prst="rect">
            <a:avLst/>
          </a:prstGeom>
        </p:spPr>
      </p:pic>
      <p:sp>
        <p:nvSpPr>
          <p:cNvPr id="47" name="Shape 36"/>
          <p:cNvSpPr/>
          <p:nvPr/>
        </p:nvSpPr>
        <p:spPr>
          <a:xfrm>
            <a:off x="5640772" y="1890656"/>
            <a:ext cx="2708883" cy="363608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E07B00"/>
            </a:solidFill>
            <a:prstDash val="solid"/>
          </a:ln>
        </p:spPr>
      </p:sp>
      <p:sp>
        <p:nvSpPr>
          <p:cNvPr id="48" name="Shape 37"/>
          <p:cNvSpPr/>
          <p:nvPr/>
        </p:nvSpPr>
        <p:spPr>
          <a:xfrm>
            <a:off x="5521900" y="1771784"/>
            <a:ext cx="237744" cy="237744"/>
          </a:xfrm>
          <a:prstGeom prst="ellipse">
            <a:avLst/>
          </a:prstGeom>
          <a:solidFill>
            <a:srgbClr val="E07B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38"/>
          <p:cNvSpPr txBox="1"/>
          <p:nvPr/>
        </p:nvSpPr>
        <p:spPr>
          <a:xfrm>
            <a:off x="5521900" y="17717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50" name="Shape 39"/>
          <p:cNvSpPr/>
          <p:nvPr/>
        </p:nvSpPr>
        <p:spPr>
          <a:xfrm>
            <a:off x="8749625" y="1899747"/>
            <a:ext cx="2581478" cy="336338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E07B00"/>
            </a:solidFill>
            <a:prstDash val="solid"/>
          </a:ln>
        </p:spPr>
      </p:sp>
      <p:sp>
        <p:nvSpPr>
          <p:cNvPr id="51" name="Shape 40"/>
          <p:cNvSpPr/>
          <p:nvPr/>
        </p:nvSpPr>
        <p:spPr>
          <a:xfrm>
            <a:off x="8630753" y="1780875"/>
            <a:ext cx="237744" cy="237744"/>
          </a:xfrm>
          <a:prstGeom prst="ellipse">
            <a:avLst/>
          </a:prstGeom>
          <a:solidFill>
            <a:srgbClr val="E07B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Text 41"/>
          <p:cNvSpPr txBox="1"/>
          <p:nvPr/>
        </p:nvSpPr>
        <p:spPr>
          <a:xfrm>
            <a:off x="8630753" y="1780875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3" name="Shape 42"/>
          <p:cNvSpPr/>
          <p:nvPr/>
        </p:nvSpPr>
        <p:spPr>
          <a:xfrm>
            <a:off x="8749625" y="3163286"/>
            <a:ext cx="2708883" cy="363608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E07B00"/>
            </a:solidFill>
            <a:prstDash val="solid"/>
          </a:ln>
        </p:spPr>
      </p:sp>
      <p:sp>
        <p:nvSpPr>
          <p:cNvPr id="54" name="Shape 43"/>
          <p:cNvSpPr/>
          <p:nvPr/>
        </p:nvSpPr>
        <p:spPr>
          <a:xfrm>
            <a:off x="8630753" y="3044414"/>
            <a:ext cx="237744" cy="237744"/>
          </a:xfrm>
          <a:prstGeom prst="ellipse">
            <a:avLst/>
          </a:prstGeom>
          <a:solidFill>
            <a:srgbClr val="E07B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44"/>
          <p:cNvSpPr txBox="1"/>
          <p:nvPr/>
        </p:nvSpPr>
        <p:spPr>
          <a:xfrm>
            <a:off x="8630753" y="304441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56" name="Shape 45"/>
          <p:cNvSpPr/>
          <p:nvPr/>
        </p:nvSpPr>
        <p:spPr>
          <a:xfrm>
            <a:off x="5440680" y="4096512"/>
            <a:ext cx="3840480" cy="310896"/>
          </a:xfrm>
          <a:prstGeom prst="roundRect">
            <a:avLst>
              <a:gd name="adj" fmla="val 50000"/>
            </a:avLst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57" name="Text 46"/>
          <p:cNvSpPr txBox="1"/>
          <p:nvPr/>
        </p:nvSpPr>
        <p:spPr>
          <a:xfrm>
            <a:off x="5440680" y="409651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prototype dashboard · simulated data</a:t>
            </a:r>
            <a:endParaRPr lang="en-US" sz="1000" dirty="0"/>
          </a:p>
        </p:txBody>
      </p:sp>
      <p:sp>
        <p:nvSpPr>
          <p:cNvPr id="58" name="Shape 47"/>
          <p:cNvSpPr/>
          <p:nvPr/>
        </p:nvSpPr>
        <p:spPr>
          <a:xfrm>
            <a:off x="5440680" y="4462272"/>
            <a:ext cx="182880" cy="182880"/>
          </a:xfrm>
          <a:prstGeom prst="ellipse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59" name="Text 48"/>
          <p:cNvSpPr txBox="1"/>
          <p:nvPr/>
        </p:nvSpPr>
        <p:spPr>
          <a:xfrm>
            <a:off x="5440680" y="446227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60" name="Text 49"/>
          <p:cNvSpPr txBox="1"/>
          <p:nvPr/>
        </p:nvSpPr>
        <p:spPr>
          <a:xfrm>
            <a:off x="5696712" y="4443984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saving per year with a VFD (simulated)</a:t>
            </a:r>
            <a:endParaRPr lang="en-US" sz="1150" dirty="0"/>
          </a:p>
        </p:txBody>
      </p:sp>
      <p:sp>
        <p:nvSpPr>
          <p:cNvPr id="61" name="Shape 50"/>
          <p:cNvSpPr/>
          <p:nvPr/>
        </p:nvSpPr>
        <p:spPr>
          <a:xfrm>
            <a:off x="5440680" y="4709160"/>
            <a:ext cx="182880" cy="182880"/>
          </a:xfrm>
          <a:prstGeom prst="ellipse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62" name="Text 51"/>
          <p:cNvSpPr txBox="1"/>
          <p:nvPr/>
        </p:nvSpPr>
        <p:spPr>
          <a:xfrm>
            <a:off x="5440680" y="470916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63" name="Text 52"/>
          <p:cNvSpPr txBox="1"/>
          <p:nvPr/>
        </p:nvSpPr>
        <p:spPr>
          <a:xfrm>
            <a:off x="5696712" y="469087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 energy: before → after (kWh/m³)</a:t>
            </a:r>
            <a:endParaRPr lang="en-US" sz="1150" dirty="0"/>
          </a:p>
        </p:txBody>
      </p:sp>
      <p:sp>
        <p:nvSpPr>
          <p:cNvPr id="64" name="Shape 53"/>
          <p:cNvSpPr/>
          <p:nvPr/>
        </p:nvSpPr>
        <p:spPr>
          <a:xfrm>
            <a:off x="5440680" y="4956048"/>
            <a:ext cx="182880" cy="182880"/>
          </a:xfrm>
          <a:prstGeom prst="ellipse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65" name="Text 54"/>
          <p:cNvSpPr txBox="1"/>
          <p:nvPr/>
        </p:nvSpPr>
        <p:spPr>
          <a:xfrm>
            <a:off x="5440680" y="495604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66" name="Text 55"/>
          <p:cNvSpPr txBox="1"/>
          <p:nvPr/>
        </p:nvSpPr>
        <p:spPr>
          <a:xfrm>
            <a:off x="5696712" y="493776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VFD payback range at ₹50,200–1,09,400</a:t>
            </a:r>
            <a:endParaRPr lang="en-US" sz="1150" dirty="0"/>
          </a:p>
        </p:txBody>
      </p:sp>
      <p:sp>
        <p:nvSpPr>
          <p:cNvPr id="67" name="Shape 56"/>
          <p:cNvSpPr/>
          <p:nvPr/>
        </p:nvSpPr>
        <p:spPr>
          <a:xfrm>
            <a:off x="5440680" y="5257800"/>
            <a:ext cx="6217920" cy="1005840"/>
          </a:xfrm>
          <a:prstGeom prst="roundRect">
            <a:avLst>
              <a:gd name="adj" fmla="val 7273"/>
            </a:avLst>
          </a:prstGeom>
          <a:solidFill>
            <a:srgbClr val="E3F6E8"/>
          </a:solidFill>
          <a:ln w="25400">
            <a:solidFill>
              <a:srgbClr val="3DCD58"/>
            </a:solidFill>
            <a:prstDash val="solid"/>
          </a:ln>
        </p:spPr>
      </p:sp>
      <p:sp>
        <p:nvSpPr>
          <p:cNvPr id="68" name="Text 57"/>
          <p:cNvSpPr txBox="1"/>
          <p:nvPr/>
        </p:nvSpPr>
        <p:spPr>
          <a:xfrm>
            <a:off x="5577840" y="530352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New: upload your own logs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a CSV of power and pressure; the dashboard calibrates the pump in your browser and prices the saving (slide 8).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55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Approach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05840"/>
            <a:ext cx="1280160" cy="548640"/>
          </a:xfrm>
          <a:prstGeom prst="roundRect">
            <a:avLst>
              <a:gd name="adj" fmla="val 13333"/>
            </a:avLst>
          </a:prstGeom>
          <a:solidFill>
            <a:srgbClr val="3A4A45"/>
          </a:solidFill>
          <a:ln w="12700">
            <a:solidFill>
              <a:srgbClr val="3A4A4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058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38912" y="160020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clamp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847088" y="1170432"/>
            <a:ext cx="219456" cy="219456"/>
          </a:xfrm>
          <a:prstGeom prst="rightArrow">
            <a:avLst/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103120" y="1005840"/>
            <a:ext cx="1280160" cy="548640"/>
          </a:xfrm>
          <a:prstGeom prst="roundRect">
            <a:avLst>
              <a:gd name="adj" fmla="val 13333"/>
            </a:avLst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103120" y="10058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993392" y="160020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suction (opt.)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discharge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01568" y="1170432"/>
            <a:ext cx="219456" cy="219456"/>
          </a:xfrm>
          <a:prstGeom prst="rightArrow">
            <a:avLst/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57600" y="1005840"/>
            <a:ext cx="1280160" cy="548640"/>
          </a:xfrm>
          <a:prstGeom prst="roundRect">
            <a:avLst>
              <a:gd name="adj" fmla="val 13333"/>
            </a:avLst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57600" y="10058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Throttle valve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547872" y="160020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 process side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(optional)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56048" y="1170432"/>
            <a:ext cx="219456" cy="219456"/>
          </a:xfrm>
          <a:prstGeom prst="rightArrow">
            <a:avLst/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12080" y="1005840"/>
            <a:ext cx="1280160" cy="548640"/>
          </a:xfrm>
          <a:prstGeom prst="roundRect">
            <a:avLst>
              <a:gd name="adj" fmla="val 13333"/>
            </a:avLst>
          </a:prstGeom>
          <a:solidFill>
            <a:srgbClr val="9AA5A0"/>
          </a:solidFill>
          <a:ln w="12700">
            <a:solidFill>
              <a:srgbClr val="9AA5A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12080" y="10058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210312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kit: clamp + P2. Add P3 before a VFD purchase.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2468880"/>
            <a:ext cx="896112" cy="566928"/>
          </a:xfrm>
          <a:prstGeom prst="roundRect">
            <a:avLst>
              <a:gd name="adj" fmla="val 9677"/>
            </a:avLst>
          </a:prstGeom>
          <a:solidFill>
            <a:srgbClr val="E3F6E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2468880"/>
            <a:ext cx="896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1545336" y="2468880"/>
            <a:ext cx="896112" cy="566928"/>
          </a:xfrm>
          <a:prstGeom prst="roundRect">
            <a:avLst>
              <a:gd name="adj" fmla="val 9677"/>
            </a:avLst>
          </a:prstGeom>
          <a:solidFill>
            <a:srgbClr val="E3F6E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545336" y="2468880"/>
            <a:ext cx="896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542032" y="2468880"/>
            <a:ext cx="896112" cy="566928"/>
          </a:xfrm>
          <a:prstGeom prst="roundRect">
            <a:avLst>
              <a:gd name="adj" fmla="val 9677"/>
            </a:avLst>
          </a:prstGeom>
          <a:solidFill>
            <a:srgbClr val="E3F6E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542032" y="2468880"/>
            <a:ext cx="896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 flow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538728" y="2468880"/>
            <a:ext cx="896112" cy="566928"/>
          </a:xfrm>
          <a:prstGeom prst="roundRect">
            <a:avLst>
              <a:gd name="adj" fmla="val 9677"/>
            </a:avLst>
          </a:prstGeom>
          <a:solidFill>
            <a:srgbClr val="E3F6E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538728" y="2468880"/>
            <a:ext cx="896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Shapley split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535424" y="2468880"/>
            <a:ext cx="896112" cy="566928"/>
          </a:xfrm>
          <a:prstGeom prst="roundRect">
            <a:avLst>
              <a:gd name="adj" fmla="val 9677"/>
            </a:avLst>
          </a:prstGeom>
          <a:solidFill>
            <a:srgbClr val="E3F6E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35424" y="2468880"/>
            <a:ext cx="896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CUSUM check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532120" y="2468880"/>
            <a:ext cx="896112" cy="566928"/>
          </a:xfrm>
          <a:prstGeom prst="roundRect">
            <a:avLst>
              <a:gd name="adj" fmla="val 9677"/>
            </a:avLst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532120" y="2468880"/>
            <a:ext cx="896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report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3108960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Shapley = </a:t>
            </a:r>
            <a:pPr indent="0" marL="0">
              <a:buNone/>
            </a:pPr>
            <a:r>
              <a:rPr lang="en-US" sz="10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split of blame between causes.  </a:t>
            </a:r>
            <a:pPr indent="0" marL="0">
              <a:buNone/>
            </a:pPr>
            <a:r>
              <a:rPr lang="en-US" sz="105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CUSUM = </a:t>
            </a:r>
            <a:pPr indent="0" marL="0">
              <a:buNone/>
            </a:pPr>
            <a:r>
              <a:rPr lang="en-US" sz="10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alarm when the pump slowly wears.  </a:t>
            </a:r>
            <a:pPr indent="0" marL="0">
              <a:buNone/>
            </a:pPr>
            <a:r>
              <a:rPr lang="en-US" sz="105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 = </a:t>
            </a:r>
            <a:pPr indent="0" marL="0">
              <a:buNone/>
            </a:pPr>
            <a:r>
              <a:rPr lang="en-US" sz="10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electricity units per m³ pumped.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48640" y="3611880"/>
            <a:ext cx="3611880" cy="269748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58368" y="365760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Grundfos NB 65-160/157 curves</a:t>
            </a:r>
            <a:endParaRPr lang="en-US" sz="1100" dirty="0"/>
          </a:p>
        </p:txBody>
      </p:sp>
      <p:pic>
        <p:nvPicPr>
          <p:cNvPr id="3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3931920"/>
            <a:ext cx="3474720" cy="2057400"/>
          </a:xfrm>
          <a:prstGeom prst="rect">
            <a:avLst/>
          </a:prstGeom>
        </p:spPr>
      </p:pic>
      <p:sp>
        <p:nvSpPr>
          <p:cNvPr id="34" name="Text 31"/>
          <p:cNvSpPr txBox="1"/>
          <p:nvPr/>
        </p:nvSpPr>
        <p:spPr>
          <a:xfrm>
            <a:off x="658368" y="6053328"/>
            <a:ext cx="342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Off-peak 61.6 m³/h. Simulated; the system curve is assumed.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4297680" y="3611880"/>
            <a:ext cx="2240280" cy="2697480"/>
          </a:xfrm>
          <a:prstGeom prst="roundRect">
            <a:avLst>
              <a:gd name="adj" fmla="val 3265"/>
            </a:avLst>
          </a:prstGeom>
          <a:solidFill>
            <a:srgbClr val="E3F6E8"/>
          </a:solidFill>
          <a:ln w="19050">
            <a:solidFill>
              <a:srgbClr val="3DCD58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4389120" y="36576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flow is inferred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3950208"/>
            <a:ext cx="208483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→ flow from the pump curve H(Q)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→ shaft power via motor efficiency → flow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scales, s_h and s_p, fitted from 7–14 days of logs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anchors: shut-off head, closed-valve power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flow meter used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6858000" y="1005840"/>
            <a:ext cx="4800600" cy="3550830"/>
          </a:xfrm>
          <a:prstGeom prst="roundRect">
            <a:avLst>
              <a:gd name="adj" fmla="val 1545"/>
            </a:avLst>
          </a:prstGeom>
          <a:solidFill>
            <a:srgbClr val="FFFFFF"/>
          </a:solidFill>
          <a:ln w="19050">
            <a:solidFill>
              <a:srgbClr val="0E5A32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6876288" y="1024128"/>
            <a:ext cx="4764024" cy="228600"/>
          </a:xfrm>
          <a:prstGeom prst="rect">
            <a:avLst/>
          </a:prstGeom>
          <a:solidFill>
            <a:srgbClr val="E3F2E7"/>
          </a:solidFill>
          <a:ln w="12700">
            <a:solidFill>
              <a:srgbClr val="E3F2E7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967728" y="1078992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7114032" y="1078992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7260336" y="1078992"/>
            <a:ext cx="91440" cy="91440"/>
          </a:xfrm>
          <a:prstGeom prst="ellipse">
            <a:avLst/>
          </a:prstGeom>
          <a:solidFill>
            <a:srgbClr val="3DCD5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498080" y="1051560"/>
            <a:ext cx="388620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6350">
            <a:solidFill>
              <a:srgbClr val="BFE3C8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7498080" y="1051560"/>
            <a:ext cx="3886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pumprupee-dashboard.vercel.app</a:t>
            </a:r>
            <a:endParaRPr lang="en-US" sz="800" dirty="0"/>
          </a:p>
        </p:txBody>
      </p:sp>
      <p:pic>
        <p:nvPicPr>
          <p:cNvPr id="4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288" y="1252728"/>
            <a:ext cx="4764024" cy="3303942"/>
          </a:xfrm>
          <a:prstGeom prst="rect">
            <a:avLst/>
          </a:prstGeom>
        </p:spPr>
      </p:pic>
      <p:sp>
        <p:nvSpPr>
          <p:cNvPr id="46" name="Shape 42"/>
          <p:cNvSpPr/>
          <p:nvPr/>
        </p:nvSpPr>
        <p:spPr>
          <a:xfrm>
            <a:off x="7016406" y="1645059"/>
            <a:ext cx="4483787" cy="448379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E07B00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6897534" y="1526187"/>
            <a:ext cx="237744" cy="237744"/>
          </a:xfrm>
          <a:prstGeom prst="ellipse">
            <a:avLst/>
          </a:prstGeom>
          <a:solidFill>
            <a:srgbClr val="E07B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6897534" y="152618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49" name="Shape 45"/>
          <p:cNvSpPr/>
          <p:nvPr/>
        </p:nvSpPr>
        <p:spPr>
          <a:xfrm>
            <a:off x="7016406" y="2107450"/>
            <a:ext cx="4483787" cy="2059740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E07B00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6897534" y="1988578"/>
            <a:ext cx="237744" cy="237744"/>
          </a:xfrm>
          <a:prstGeom prst="ellipse">
            <a:avLst/>
          </a:prstGeom>
          <a:solidFill>
            <a:srgbClr val="E07B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6897534" y="198857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2" name="Shape 48"/>
          <p:cNvSpPr/>
          <p:nvPr/>
        </p:nvSpPr>
        <p:spPr>
          <a:xfrm>
            <a:off x="6858000" y="4602390"/>
            <a:ext cx="3840480" cy="310896"/>
          </a:xfrm>
          <a:prstGeom prst="roundRect">
            <a:avLst>
              <a:gd name="adj" fmla="val 50000"/>
            </a:avLst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6858000" y="460239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prototype dashboard · simulated data</a:t>
            </a:r>
            <a:endParaRPr lang="en-US" sz="1000" dirty="0"/>
          </a:p>
        </p:txBody>
      </p:sp>
      <p:sp>
        <p:nvSpPr>
          <p:cNvPr id="54" name="Shape 50"/>
          <p:cNvSpPr/>
          <p:nvPr/>
        </p:nvSpPr>
        <p:spPr>
          <a:xfrm>
            <a:off x="6858000" y="4968150"/>
            <a:ext cx="182880" cy="182880"/>
          </a:xfrm>
          <a:prstGeom prst="ellipse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6858000" y="496815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56" name="Text 52"/>
          <p:cNvSpPr txBox="1"/>
          <p:nvPr/>
        </p:nvSpPr>
        <p:spPr>
          <a:xfrm>
            <a:off x="7114032" y="4949862"/>
            <a:ext cx="4526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datasheet-only or 1/3/7/14 days of logs</a:t>
            </a:r>
            <a:endParaRPr lang="en-US" sz="1100" dirty="0"/>
          </a:p>
        </p:txBody>
      </p:sp>
      <p:sp>
        <p:nvSpPr>
          <p:cNvPr id="57" name="Shape 53"/>
          <p:cNvSpPr/>
          <p:nvPr/>
        </p:nvSpPr>
        <p:spPr>
          <a:xfrm>
            <a:off x="6858000" y="5215038"/>
            <a:ext cx="182880" cy="182880"/>
          </a:xfrm>
          <a:prstGeom prst="ellipse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6858000" y="521503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59" name="Text 55"/>
          <p:cNvSpPr txBox="1"/>
          <p:nvPr/>
        </p:nvSpPr>
        <p:spPr>
          <a:xfrm>
            <a:off x="7114032" y="5196750"/>
            <a:ext cx="4526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 points: measured head at the flow the model infers (no flow meter)</a:t>
            </a:r>
            <a:endParaRPr lang="en-US" sz="1100" dirty="0"/>
          </a:p>
        </p:txBody>
      </p:sp>
      <p:sp>
        <p:nvSpPr>
          <p:cNvPr id="60" name="Text 56"/>
          <p:cNvSpPr txBox="1"/>
          <p:nvPr/>
        </p:nvSpPr>
        <p:spPr>
          <a:xfrm>
            <a:off x="6858000" y="5507646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±3 points only with a measured system curve; otherwise about ±10.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55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&amp; Simulated Results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896112"/>
            <a:ext cx="8503920" cy="310896"/>
          </a:xfrm>
          <a:prstGeom prst="roundRect">
            <a:avLst>
              <a:gd name="adj" fmla="val 50000"/>
            </a:avLst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896112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– Grundfos NB 65-160/157, 11 kW · 10 m lift · 5% margin · 16 h/day · 300 days · ₹8/kWh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5394960" cy="3975757"/>
          </a:xfrm>
          <a:prstGeom prst="roundRect">
            <a:avLst>
              <a:gd name="adj" fmla="val 1380"/>
            </a:avLst>
          </a:prstGeom>
          <a:solidFill>
            <a:srgbClr val="FFFFFF"/>
          </a:solidFill>
          <a:ln w="19050">
            <a:solidFill>
              <a:srgbClr val="0E5A3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298448"/>
            <a:ext cx="5358384" cy="228600"/>
          </a:xfrm>
          <a:prstGeom prst="rect">
            <a:avLst/>
          </a:prstGeom>
          <a:solidFill>
            <a:srgbClr val="E3F2E7"/>
          </a:solidFill>
          <a:ln w="12700">
            <a:solidFill>
              <a:srgbClr val="E3F2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353312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04672" y="1353312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50976" y="1353312"/>
            <a:ext cx="91440" cy="91440"/>
          </a:xfrm>
          <a:prstGeom prst="ellipse">
            <a:avLst/>
          </a:prstGeom>
          <a:solidFill>
            <a:srgbClr val="3DCD5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8720" y="1325880"/>
            <a:ext cx="448056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6350">
            <a:solidFill>
              <a:srgbClr val="BFE3C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88720" y="1325880"/>
            <a:ext cx="4480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pumprupee-dashboard.vercel.app</a:t>
            </a:r>
            <a:endParaRPr lang="en-US" sz="8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27048"/>
            <a:ext cx="5358384" cy="3728869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1691487" y="3484434"/>
            <a:ext cx="550059" cy="149720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E07B0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572615" y="3365562"/>
            <a:ext cx="237744" cy="237744"/>
          </a:xfrm>
          <a:prstGeom prst="ellipse">
            <a:avLst/>
          </a:prstGeom>
          <a:solidFill>
            <a:srgbClr val="E07B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572615" y="336556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3285520" y="2425365"/>
            <a:ext cx="2482193" cy="583118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E07B0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166648" y="2306493"/>
            <a:ext cx="237744" cy="237744"/>
          </a:xfrm>
          <a:prstGeom prst="ellipse">
            <a:avLst/>
          </a:prstGeom>
          <a:solidFill>
            <a:srgbClr val="E07B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166648" y="230649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724528" y="4442639"/>
            <a:ext cx="5043185" cy="630398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E07B0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05656" y="4323767"/>
            <a:ext cx="237744" cy="237744"/>
          </a:xfrm>
          <a:prstGeom prst="ellipse">
            <a:avLst/>
          </a:prstGeom>
          <a:solidFill>
            <a:srgbClr val="E07B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05656" y="432376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48640" y="5301637"/>
            <a:ext cx="3840480" cy="310896"/>
          </a:xfrm>
          <a:prstGeom prst="roundRect">
            <a:avLst>
              <a:gd name="adj" fmla="val 50000"/>
            </a:avLst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8640" y="5301637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prototype dashboard · simulated data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309360" y="1280160"/>
            <a:ext cx="4434840" cy="3879544"/>
          </a:xfrm>
          <a:prstGeom prst="roundRect">
            <a:avLst>
              <a:gd name="adj" fmla="val 1414"/>
            </a:avLst>
          </a:prstGeom>
          <a:solidFill>
            <a:srgbClr val="FFFFFF"/>
          </a:solidFill>
          <a:ln w="19050">
            <a:solidFill>
              <a:srgbClr val="0E5A32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327648" y="1298448"/>
            <a:ext cx="4398264" cy="228600"/>
          </a:xfrm>
          <a:prstGeom prst="rect">
            <a:avLst/>
          </a:prstGeom>
          <a:solidFill>
            <a:srgbClr val="E3F2E7"/>
          </a:solidFill>
          <a:ln w="12700">
            <a:solidFill>
              <a:srgbClr val="E3F2E7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419088" y="1353312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565392" y="1353312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711696" y="1353312"/>
            <a:ext cx="91440" cy="91440"/>
          </a:xfrm>
          <a:prstGeom prst="ellipse">
            <a:avLst/>
          </a:prstGeom>
          <a:solidFill>
            <a:srgbClr val="3DCD5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949440" y="1325880"/>
            <a:ext cx="352044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6350">
            <a:solidFill>
              <a:srgbClr val="BFE3C8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949440" y="1325880"/>
            <a:ext cx="35204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pumprupee-dashboard.vercel.app</a:t>
            </a:r>
            <a:endParaRPr lang="en-US" sz="800" dirty="0"/>
          </a:p>
        </p:txBody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7648" y="1527048"/>
            <a:ext cx="4398264" cy="3632656"/>
          </a:xfrm>
          <a:prstGeom prst="rect">
            <a:avLst/>
          </a:prstGeom>
        </p:spPr>
      </p:pic>
      <p:sp>
        <p:nvSpPr>
          <p:cNvPr id="32" name="Shape 28"/>
          <p:cNvSpPr/>
          <p:nvPr/>
        </p:nvSpPr>
        <p:spPr>
          <a:xfrm>
            <a:off x="6347052" y="1546452"/>
            <a:ext cx="4359456" cy="607995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E07B00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6228180" y="1427580"/>
            <a:ext cx="237744" cy="237744"/>
          </a:xfrm>
          <a:prstGeom prst="ellipse">
            <a:avLst/>
          </a:prstGeom>
          <a:solidFill>
            <a:srgbClr val="E07B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228180" y="14275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5" name="Shape 31"/>
          <p:cNvSpPr/>
          <p:nvPr/>
        </p:nvSpPr>
        <p:spPr>
          <a:xfrm>
            <a:off x="6347052" y="2219128"/>
            <a:ext cx="1060758" cy="485103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E07B00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6228180" y="2100256"/>
            <a:ext cx="237744" cy="237744"/>
          </a:xfrm>
          <a:prstGeom prst="ellipse">
            <a:avLst/>
          </a:prstGeom>
          <a:solidFill>
            <a:srgbClr val="E07B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6228180" y="210025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8" name="Shape 34"/>
          <p:cNvSpPr/>
          <p:nvPr/>
        </p:nvSpPr>
        <p:spPr>
          <a:xfrm>
            <a:off x="9444534" y="2878867"/>
            <a:ext cx="1152018" cy="181105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E07B00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9325662" y="2759995"/>
            <a:ext cx="237744" cy="237744"/>
          </a:xfrm>
          <a:prstGeom prst="ellipse">
            <a:avLst/>
          </a:prstGeom>
          <a:solidFill>
            <a:srgbClr val="E07B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9325662" y="2759995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41" name="Shape 37"/>
          <p:cNvSpPr/>
          <p:nvPr/>
        </p:nvSpPr>
        <p:spPr>
          <a:xfrm>
            <a:off x="6309360" y="5205424"/>
            <a:ext cx="3840480" cy="310896"/>
          </a:xfrm>
          <a:prstGeom prst="roundRect">
            <a:avLst>
              <a:gd name="adj" fmla="val 50000"/>
            </a:avLst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6309360" y="5205424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prototype dashboard · simulated data</a:t>
            </a:r>
            <a:endParaRPr lang="en-US" sz="1000" dirty="0"/>
          </a:p>
        </p:txBody>
      </p:sp>
      <p:sp>
        <p:nvSpPr>
          <p:cNvPr id="43" name="Shape 39"/>
          <p:cNvSpPr/>
          <p:nvPr/>
        </p:nvSpPr>
        <p:spPr>
          <a:xfrm>
            <a:off x="548640" y="5649109"/>
            <a:ext cx="182880" cy="182880"/>
          </a:xfrm>
          <a:prstGeom prst="ellipse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48640" y="5649109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45" name="Text 41"/>
          <p:cNvSpPr txBox="1"/>
          <p:nvPr/>
        </p:nvSpPr>
        <p:spPr>
          <a:xfrm>
            <a:off x="804672" y="5630821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Valve share of waste (Shapley split)</a:t>
            </a:r>
            <a:endParaRPr lang="en-US" sz="1050" dirty="0"/>
          </a:p>
        </p:txBody>
      </p:sp>
      <p:sp>
        <p:nvSpPr>
          <p:cNvPr id="46" name="Shape 42"/>
          <p:cNvSpPr/>
          <p:nvPr/>
        </p:nvSpPr>
        <p:spPr>
          <a:xfrm>
            <a:off x="548640" y="5850277"/>
            <a:ext cx="182880" cy="182880"/>
          </a:xfrm>
          <a:prstGeom prst="ellipse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548640" y="5850277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48" name="Text 44"/>
          <p:cNvSpPr txBox="1"/>
          <p:nvPr/>
        </p:nvSpPr>
        <p:spPr>
          <a:xfrm>
            <a:off x="804672" y="5831989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per year, by cause</a:t>
            </a:r>
            <a:endParaRPr lang="en-US" sz="1050" dirty="0"/>
          </a:p>
        </p:txBody>
      </p:sp>
      <p:sp>
        <p:nvSpPr>
          <p:cNvPr id="49" name="Shape 45"/>
          <p:cNvSpPr/>
          <p:nvPr/>
        </p:nvSpPr>
        <p:spPr>
          <a:xfrm>
            <a:off x="548640" y="6051445"/>
            <a:ext cx="182880" cy="182880"/>
          </a:xfrm>
          <a:prstGeom prst="ellipse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548640" y="6051445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51" name="Text 47"/>
          <p:cNvSpPr txBox="1"/>
          <p:nvPr/>
        </p:nvSpPr>
        <p:spPr>
          <a:xfrm>
            <a:off x="804672" y="6033157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Valve share is partly by construction</a:t>
            </a:r>
            <a:endParaRPr lang="en-US" sz="1050" dirty="0"/>
          </a:p>
        </p:txBody>
      </p:sp>
      <p:sp>
        <p:nvSpPr>
          <p:cNvPr id="52" name="Shape 48"/>
          <p:cNvSpPr/>
          <p:nvPr/>
        </p:nvSpPr>
        <p:spPr>
          <a:xfrm>
            <a:off x="6309360" y="5552896"/>
            <a:ext cx="182880" cy="182880"/>
          </a:xfrm>
          <a:prstGeom prst="ellipse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6309360" y="555289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54" name="Text 50"/>
          <p:cNvSpPr txBox="1"/>
          <p:nvPr/>
        </p:nvSpPr>
        <p:spPr>
          <a:xfrm>
            <a:off x="6565392" y="5534608"/>
            <a:ext cx="4160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/ NO-GO verdict for this pump</a:t>
            </a:r>
            <a:endParaRPr lang="en-US" sz="1050" dirty="0"/>
          </a:p>
        </p:txBody>
      </p:sp>
      <p:sp>
        <p:nvSpPr>
          <p:cNvPr id="55" name="Shape 51"/>
          <p:cNvSpPr/>
          <p:nvPr/>
        </p:nvSpPr>
        <p:spPr>
          <a:xfrm>
            <a:off x="6309360" y="5754064"/>
            <a:ext cx="182880" cy="182880"/>
          </a:xfrm>
          <a:prstGeom prst="ellipse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6309360" y="575406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57" name="Text 53"/>
          <p:cNvSpPr txBox="1"/>
          <p:nvPr/>
        </p:nvSpPr>
        <p:spPr>
          <a:xfrm>
            <a:off x="6565392" y="5735776"/>
            <a:ext cx="4160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saving in ₹</a:t>
            </a:r>
            <a:endParaRPr lang="en-US" sz="1050" dirty="0"/>
          </a:p>
        </p:txBody>
      </p:sp>
      <p:sp>
        <p:nvSpPr>
          <p:cNvPr id="58" name="Shape 54"/>
          <p:cNvSpPr/>
          <p:nvPr/>
        </p:nvSpPr>
        <p:spPr>
          <a:xfrm>
            <a:off x="6309360" y="5955232"/>
            <a:ext cx="182880" cy="182880"/>
          </a:xfrm>
          <a:prstGeom prst="ellipse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6309360" y="595523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60" name="Text 56"/>
          <p:cNvSpPr txBox="1"/>
          <p:nvPr/>
        </p:nvSpPr>
        <p:spPr>
          <a:xfrm>
            <a:off x="6565392" y="5936944"/>
            <a:ext cx="4160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 month</a:t>
            </a:r>
            <a:endParaRPr lang="en-US" sz="1050" dirty="0"/>
          </a:p>
        </p:txBody>
      </p:sp>
      <p:sp>
        <p:nvSpPr>
          <p:cNvPr id="61" name="Text 57"/>
          <p:cNvSpPr txBox="1"/>
          <p:nvPr/>
        </p:nvSpPr>
        <p:spPr>
          <a:xfrm>
            <a:off x="548640" y="6254496"/>
            <a:ext cx="11109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₹69,292 / ₹1,27,178 per year  ·  valve 83–93% of waste  ·  payback 4–19 months  ·  ±3 / ±10 points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55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Prototype: Upload Your Own Logs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just a replay: the dashboard calibrates from a CSV you load.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4343400" cy="4769134"/>
          </a:xfrm>
          <a:prstGeom prst="roundRect">
            <a:avLst>
              <a:gd name="adj" fmla="val 1263"/>
            </a:avLst>
          </a:prstGeom>
          <a:solidFill>
            <a:srgbClr val="FFFFFF"/>
          </a:solidFill>
          <a:ln w="19050">
            <a:solidFill>
              <a:srgbClr val="0E5A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1298448"/>
            <a:ext cx="4306824" cy="228600"/>
          </a:xfrm>
          <a:prstGeom prst="rect">
            <a:avLst/>
          </a:prstGeom>
          <a:solidFill>
            <a:srgbClr val="E3F2E7"/>
          </a:solidFill>
          <a:ln w="12700">
            <a:solidFill>
              <a:srgbClr val="E3F2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353312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04672" y="1353312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0976" y="1353312"/>
            <a:ext cx="91440" cy="91440"/>
          </a:xfrm>
          <a:prstGeom prst="ellipse">
            <a:avLst/>
          </a:prstGeom>
          <a:solidFill>
            <a:srgbClr val="3DCD5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88720" y="1325880"/>
            <a:ext cx="342900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6350">
            <a:solidFill>
              <a:srgbClr val="BFE3C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88720" y="1325880"/>
            <a:ext cx="34290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pumprupee-dashboard.vercel.app</a:t>
            </a:r>
            <a:endParaRPr lang="en-US" sz="8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27048"/>
            <a:ext cx="4306824" cy="4522246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585929" y="1546049"/>
            <a:ext cx="4268823" cy="652357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E07B0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67057" y="1427177"/>
            <a:ext cx="237744" cy="237744"/>
          </a:xfrm>
          <a:prstGeom prst="ellipse">
            <a:avLst/>
          </a:prstGeom>
          <a:solidFill>
            <a:srgbClr val="E07B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67057" y="142717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85929" y="2261742"/>
            <a:ext cx="4268823" cy="475017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E07B0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67057" y="2142870"/>
            <a:ext cx="237744" cy="237744"/>
          </a:xfrm>
          <a:prstGeom prst="ellipse">
            <a:avLst/>
          </a:prstGeom>
          <a:solidFill>
            <a:srgbClr val="E07B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67057" y="214287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85929" y="2800095"/>
            <a:ext cx="4268823" cy="722026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E07B0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67057" y="2681223"/>
            <a:ext cx="237744" cy="237744"/>
          </a:xfrm>
          <a:prstGeom prst="ellipse">
            <a:avLst/>
          </a:prstGeom>
          <a:solidFill>
            <a:srgbClr val="E07B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67057" y="268122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548640" y="6095014"/>
            <a:ext cx="3840480" cy="310896"/>
          </a:xfrm>
          <a:prstGeom prst="roundRect">
            <a:avLst>
              <a:gd name="adj" fmla="val 50000"/>
            </a:avLst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6095014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prototype · sample data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212080" y="1280160"/>
            <a:ext cx="644652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321808" y="1435608"/>
            <a:ext cx="475488" cy="475488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5925" y="1549725"/>
            <a:ext cx="247254" cy="247254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5943600" y="1325880"/>
            <a:ext cx="5623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a CSV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power_kw, discharge_bar and optional suction_bar, from the ESP32 SD card or any logger.</a:t>
            </a:r>
            <a:endParaRPr lang="en-US" sz="1400" dirty="0"/>
          </a:p>
        </p:txBody>
      </p:sp>
      <p:sp>
        <p:nvSpPr>
          <p:cNvPr id="27" name="Shape 23"/>
          <p:cNvSpPr/>
          <p:nvPr/>
        </p:nvSpPr>
        <p:spPr>
          <a:xfrm>
            <a:off x="5212080" y="2194560"/>
            <a:ext cx="644652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5321808" y="2350008"/>
            <a:ext cx="475488" cy="475488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5925" y="2464125"/>
            <a:ext cx="247254" cy="247254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5943600" y="2240280"/>
            <a:ext cx="5623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Stays in your browser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uploaded to a server.</a:t>
            </a:r>
            <a:endParaRPr lang="en-US" sz="1400" dirty="0"/>
          </a:p>
        </p:txBody>
      </p:sp>
      <p:sp>
        <p:nvSpPr>
          <p:cNvPr id="31" name="Shape 26"/>
          <p:cNvSpPr/>
          <p:nvPr/>
        </p:nvSpPr>
        <p:spPr>
          <a:xfrm>
            <a:off x="5212080" y="3108960"/>
            <a:ext cx="644652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5321808" y="3264408"/>
            <a:ext cx="475488" cy="475488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35925" y="3378525"/>
            <a:ext cx="247254" cy="247254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5943600" y="3154680"/>
            <a:ext cx="5623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 and infer flow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Fits a head scale and a power scale, then infers flow per record. No flow meter.</a:t>
            </a:r>
            <a:endParaRPr lang="en-US" sz="1400" dirty="0"/>
          </a:p>
        </p:txBody>
      </p:sp>
      <p:sp>
        <p:nvSpPr>
          <p:cNvPr id="35" name="Shape 29"/>
          <p:cNvSpPr/>
          <p:nvPr/>
        </p:nvSpPr>
        <p:spPr>
          <a:xfrm>
            <a:off x="5212080" y="4023360"/>
            <a:ext cx="644652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36" name="Shape 30"/>
          <p:cNvSpPr/>
          <p:nvPr/>
        </p:nvSpPr>
        <p:spPr>
          <a:xfrm>
            <a:off x="5321808" y="4178808"/>
            <a:ext cx="475488" cy="475488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5925" y="4292925"/>
            <a:ext cx="247254" cy="247254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5943600" y="4069080"/>
            <a:ext cx="5623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saving and payback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SEC, ₹/m³, VFD saving per year and payback for your tariff and VFD price.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5212080" y="5047488"/>
            <a:ext cx="182880" cy="182880"/>
          </a:xfrm>
          <a:prstGeom prst="ellipse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5212080" y="504748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41" name="Text 34"/>
          <p:cNvSpPr txBox="1"/>
          <p:nvPr/>
        </p:nvSpPr>
        <p:spPr>
          <a:xfrm>
            <a:off x="5468112" y="5029200"/>
            <a:ext cx="6172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pump scales found from the logs</a:t>
            </a:r>
            <a:endParaRPr lang="en-US" sz="1150" dirty="0"/>
          </a:p>
        </p:txBody>
      </p:sp>
      <p:sp>
        <p:nvSpPr>
          <p:cNvPr id="42" name="Shape 35"/>
          <p:cNvSpPr/>
          <p:nvPr/>
        </p:nvSpPr>
        <p:spPr>
          <a:xfrm>
            <a:off x="5212080" y="5294376"/>
            <a:ext cx="182880" cy="182880"/>
          </a:xfrm>
          <a:prstGeom prst="ellipse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5212080" y="529437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44" name="Text 37"/>
          <p:cNvSpPr txBox="1"/>
          <p:nvPr/>
        </p:nvSpPr>
        <p:spPr>
          <a:xfrm>
            <a:off x="5468112" y="5276088"/>
            <a:ext cx="6172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VFD saving, running cost, CO₂</a:t>
            </a:r>
            <a:endParaRPr lang="en-US" sz="1150" dirty="0"/>
          </a:p>
        </p:txBody>
      </p:sp>
      <p:sp>
        <p:nvSpPr>
          <p:cNvPr id="45" name="Shape 38"/>
          <p:cNvSpPr/>
          <p:nvPr/>
        </p:nvSpPr>
        <p:spPr>
          <a:xfrm>
            <a:off x="5212080" y="5541264"/>
            <a:ext cx="182880" cy="182880"/>
          </a:xfrm>
          <a:prstGeom prst="ellipse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5212080" y="554126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47" name="Text 40"/>
          <p:cNvSpPr txBox="1"/>
          <p:nvPr/>
        </p:nvSpPr>
        <p:spPr>
          <a:xfrm>
            <a:off x="5468112" y="5522976"/>
            <a:ext cx="6172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VFD payback and GO / NO-GO</a:t>
            </a:r>
            <a:endParaRPr lang="en-US" sz="1150" dirty="0"/>
          </a:p>
        </p:txBody>
      </p:sp>
      <p:sp>
        <p:nvSpPr>
          <p:cNvPr id="48" name="Shape 41"/>
          <p:cNvSpPr/>
          <p:nvPr/>
        </p:nvSpPr>
        <p:spPr>
          <a:xfrm>
            <a:off x="5212080" y="5852160"/>
            <a:ext cx="6446520" cy="502920"/>
          </a:xfrm>
          <a:prstGeom prst="roundRect">
            <a:avLst>
              <a:gd name="adj" fmla="val 14545"/>
            </a:avLst>
          </a:prstGeom>
          <a:solidFill>
            <a:srgbClr val="FFF4E5"/>
          </a:solidFill>
          <a:ln w="19050">
            <a:solidFill>
              <a:srgbClr val="E07B00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5303520" y="5852160"/>
            <a:ext cx="6263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Limits: reference pump (Grundfos NB 65-160/157) only; system curve assumed, so about ±10 points unless measured.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55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build on proven tools. The new part is the integration for MSMEs.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448056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37160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exists (we build on it)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691640"/>
            <a:ext cx="4206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KSB PumpMeter, US DOE PSAT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Samotics (motor-current efficiency)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Schneider Altivar Process (sensorless flow), EcoStruxure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IoT vendors and ESCOs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Shapley split and CUSUM: known methods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3611880"/>
            <a:ext cx="4480560" cy="2194560"/>
          </a:xfrm>
          <a:prstGeom prst="roundRect">
            <a:avLst>
              <a:gd name="adj" fmla="val 3333"/>
            </a:avLst>
          </a:prstGeom>
          <a:solidFill>
            <a:srgbClr val="E3F6E8"/>
          </a:solidFill>
          <a:ln w="31750">
            <a:solidFill>
              <a:srgbClr val="3DCD5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365760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integration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977640"/>
            <a:ext cx="42062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waste split by cause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Prices the value of an extra sensor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Low-cost shared kit, no flow meter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before/after verification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Pump-specific VFD verdict before capex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315200" y="1325880"/>
            <a:ext cx="1051560" cy="502920"/>
          </a:xfrm>
          <a:prstGeom prst="roundRect">
            <a:avLst>
              <a:gd name="adj" fmla="val 9091"/>
            </a:avLst>
          </a:prstGeom>
          <a:solidFill>
            <a:srgbClr val="E8EEEA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0" y="13258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meter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412480" y="1325880"/>
            <a:ext cx="1051560" cy="502920"/>
          </a:xfrm>
          <a:prstGeom prst="roundRect">
            <a:avLst>
              <a:gd name="adj" fmla="val 9091"/>
            </a:avLst>
          </a:prstGeom>
          <a:solidFill>
            <a:srgbClr val="E8EEEA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12480" y="13258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audit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509760" y="1325880"/>
            <a:ext cx="1051560" cy="502920"/>
          </a:xfrm>
          <a:prstGeom prst="roundRect">
            <a:avLst>
              <a:gd name="adj" fmla="val 9091"/>
            </a:avLst>
          </a:prstGeom>
          <a:solidFill>
            <a:srgbClr val="E8EEEA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509760" y="13258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platform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0607040" y="1325880"/>
            <a:ext cx="1051560" cy="502920"/>
          </a:xfrm>
          <a:prstGeom prst="roundRect">
            <a:avLst>
              <a:gd name="adj" fmla="val 9091"/>
            </a:avLst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607040" y="13258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PumpRupee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303520" y="1892808"/>
            <a:ext cx="635508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3DFD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394960" y="189280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Upfront cost, small plant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315200" y="1892808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Meter + install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8412480" y="1892808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 per visit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9509760" y="1892808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0607040" y="1892808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₹6,100–13,300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303520" y="2377440"/>
            <a:ext cx="6355080" cy="457200"/>
          </a:xfrm>
          <a:prstGeom prst="rect">
            <a:avLst/>
          </a:prstGeom>
          <a:solidFill>
            <a:srgbClr val="EEF4F0"/>
          </a:solidFill>
          <a:ln w="6350">
            <a:solidFill>
              <a:srgbClr val="D3DFD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394960" y="23774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shutdown</a:t>
            </a:r>
            <a:endParaRPr lang="en-US" sz="1150" dirty="0"/>
          </a:p>
        </p:txBody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0" y="2468880"/>
            <a:ext cx="274320" cy="274320"/>
          </a:xfrm>
          <a:prstGeom prst="rect">
            <a:avLst/>
          </a:prstGeom>
        </p:spPr>
      </p:pic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2468880"/>
            <a:ext cx="274320" cy="274320"/>
          </a:xfrm>
          <a:prstGeom prst="rect">
            <a:avLst/>
          </a:prstGeom>
        </p:spPr>
      </p:pic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0" y="2468880"/>
            <a:ext cx="274320" cy="274320"/>
          </a:xfrm>
          <a:prstGeom prst="rect">
            <a:avLst/>
          </a:prstGeom>
        </p:spPr>
      </p:pic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0" y="2468880"/>
            <a:ext cx="274320" cy="274320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5303520" y="2862072"/>
            <a:ext cx="635508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3DFD7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5394960" y="286207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in ₹</a:t>
            </a:r>
            <a:endParaRPr lang="en-US" sz="1150" dirty="0"/>
          </a:p>
        </p:txBody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80960" y="2953512"/>
            <a:ext cx="274320" cy="274320"/>
          </a:xfrm>
          <a:prstGeom prst="rect">
            <a:avLst/>
          </a:prstGeom>
        </p:spPr>
      </p:pic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8240" y="2953512"/>
            <a:ext cx="274320" cy="274320"/>
          </a:xfrm>
          <a:prstGeom prst="rect">
            <a:avLst/>
          </a:prstGeom>
        </p:spPr>
      </p:pic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5520" y="2953512"/>
            <a:ext cx="274320" cy="274320"/>
          </a:xfrm>
          <a:prstGeom prst="rect">
            <a:avLst/>
          </a:prstGeom>
        </p:spPr>
      </p:pic>
      <p:pic>
        <p:nvPicPr>
          <p:cNvPr id="3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972800" y="2953512"/>
            <a:ext cx="274320" cy="274320"/>
          </a:xfrm>
          <a:prstGeom prst="rect">
            <a:avLst/>
          </a:prstGeom>
        </p:spPr>
      </p:pic>
      <p:sp>
        <p:nvSpPr>
          <p:cNvPr id="36" name="Shape 26"/>
          <p:cNvSpPr/>
          <p:nvPr/>
        </p:nvSpPr>
        <p:spPr>
          <a:xfrm>
            <a:off x="5303520" y="3346704"/>
            <a:ext cx="6355080" cy="457200"/>
          </a:xfrm>
          <a:prstGeom prst="rect">
            <a:avLst/>
          </a:prstGeom>
          <a:solidFill>
            <a:srgbClr val="EEF4F0"/>
          </a:solidFill>
          <a:ln w="6350">
            <a:solidFill>
              <a:srgbClr val="D3DFD7"/>
            </a:solidFill>
            <a:prstDash val="solid"/>
          </a:ln>
        </p:spPr>
      </p:sp>
      <p:sp>
        <p:nvSpPr>
          <p:cNvPr id="37" name="Text 27"/>
          <p:cNvSpPr txBox="1"/>
          <p:nvPr/>
        </p:nvSpPr>
        <p:spPr>
          <a:xfrm>
            <a:off x="5394960" y="334670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 breakdown</a:t>
            </a:r>
            <a:endParaRPr lang="en-US" sz="1150" dirty="0"/>
          </a:p>
        </p:txBody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438144"/>
            <a:ext cx="274320" cy="274320"/>
          </a:xfrm>
          <a:prstGeom prst="rect">
            <a:avLst/>
          </a:prstGeom>
        </p:spPr>
      </p:pic>
      <p:pic>
        <p:nvPicPr>
          <p:cNvPr id="3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778240" y="3438144"/>
            <a:ext cx="274320" cy="274320"/>
          </a:xfrm>
          <a:prstGeom prst="rect">
            <a:avLst/>
          </a:prstGeom>
        </p:spPr>
      </p:pic>
      <p:pic>
        <p:nvPicPr>
          <p:cNvPr id="4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875520" y="3438144"/>
            <a:ext cx="274320" cy="274320"/>
          </a:xfrm>
          <a:prstGeom prst="rect">
            <a:avLst/>
          </a:prstGeom>
        </p:spPr>
      </p:pic>
      <p:pic>
        <p:nvPicPr>
          <p:cNvPr id="41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972800" y="3438144"/>
            <a:ext cx="274320" cy="274320"/>
          </a:xfrm>
          <a:prstGeom prst="rect">
            <a:avLst/>
          </a:prstGeom>
        </p:spPr>
      </p:pic>
      <p:sp>
        <p:nvSpPr>
          <p:cNvPr id="42" name="Shape 28"/>
          <p:cNvSpPr/>
          <p:nvPr/>
        </p:nvSpPr>
        <p:spPr>
          <a:xfrm>
            <a:off x="5303520" y="3831336"/>
            <a:ext cx="635508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3DFD7"/>
            </a:solidFill>
            <a:prstDash val="solid"/>
          </a:ln>
        </p:spPr>
      </p:sp>
      <p:sp>
        <p:nvSpPr>
          <p:cNvPr id="43" name="Text 29"/>
          <p:cNvSpPr txBox="1"/>
          <p:nvPr/>
        </p:nvSpPr>
        <p:spPr>
          <a:xfrm>
            <a:off x="5394960" y="3831336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VFD verdict</a:t>
            </a:r>
            <a:endParaRPr lang="en-US" sz="1150" dirty="0"/>
          </a:p>
        </p:txBody>
      </p:sp>
      <p:pic>
        <p:nvPicPr>
          <p:cNvPr id="44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680960" y="3922776"/>
            <a:ext cx="274320" cy="274320"/>
          </a:xfrm>
          <a:prstGeom prst="rect">
            <a:avLst/>
          </a:prstGeom>
        </p:spPr>
      </p:pic>
      <p:pic>
        <p:nvPicPr>
          <p:cNvPr id="4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778240" y="3922776"/>
            <a:ext cx="274320" cy="274320"/>
          </a:xfrm>
          <a:prstGeom prst="rect">
            <a:avLst/>
          </a:prstGeom>
        </p:spPr>
      </p:pic>
      <p:pic>
        <p:nvPicPr>
          <p:cNvPr id="46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875520" y="3922776"/>
            <a:ext cx="274320" cy="274320"/>
          </a:xfrm>
          <a:prstGeom prst="rect">
            <a:avLst/>
          </a:prstGeom>
        </p:spPr>
      </p:pic>
      <p:pic>
        <p:nvPicPr>
          <p:cNvPr id="47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972800" y="3922776"/>
            <a:ext cx="274320" cy="274320"/>
          </a:xfrm>
          <a:prstGeom prst="rect">
            <a:avLst/>
          </a:prstGeom>
        </p:spPr>
      </p:pic>
      <p:sp>
        <p:nvSpPr>
          <p:cNvPr id="48" name="Shape 30"/>
          <p:cNvSpPr/>
          <p:nvPr/>
        </p:nvSpPr>
        <p:spPr>
          <a:xfrm>
            <a:off x="5303520" y="4315968"/>
            <a:ext cx="6355080" cy="457200"/>
          </a:xfrm>
          <a:prstGeom prst="rect">
            <a:avLst/>
          </a:prstGeom>
          <a:solidFill>
            <a:srgbClr val="EEF4F0"/>
          </a:solidFill>
          <a:ln w="6350">
            <a:solidFill>
              <a:srgbClr val="D3DFD7"/>
            </a:solidFill>
            <a:prstDash val="solid"/>
          </a:ln>
        </p:spPr>
      </p:sp>
      <p:sp>
        <p:nvSpPr>
          <p:cNvPr id="49" name="Text 31"/>
          <p:cNvSpPr txBox="1"/>
          <p:nvPr/>
        </p:nvSpPr>
        <p:spPr>
          <a:xfrm>
            <a:off x="5394960" y="431596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savings</a:t>
            </a:r>
            <a:endParaRPr lang="en-US" sz="1150" dirty="0"/>
          </a:p>
        </p:txBody>
      </p:sp>
      <p:pic>
        <p:nvPicPr>
          <p:cNvPr id="50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680960" y="4407408"/>
            <a:ext cx="274320" cy="274320"/>
          </a:xfrm>
          <a:prstGeom prst="rect">
            <a:avLst/>
          </a:prstGeom>
        </p:spPr>
      </p:pic>
      <p:pic>
        <p:nvPicPr>
          <p:cNvPr id="51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778240" y="4407408"/>
            <a:ext cx="274320" cy="274320"/>
          </a:xfrm>
          <a:prstGeom prst="rect">
            <a:avLst/>
          </a:prstGeom>
        </p:spPr>
      </p:pic>
      <p:pic>
        <p:nvPicPr>
          <p:cNvPr id="52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875520" y="4407408"/>
            <a:ext cx="274320" cy="274320"/>
          </a:xfrm>
          <a:prstGeom prst="rect">
            <a:avLst/>
          </a:prstGeom>
        </p:spPr>
      </p:pic>
      <p:pic>
        <p:nvPicPr>
          <p:cNvPr id="5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0972800" y="4407408"/>
            <a:ext cx="274320" cy="274320"/>
          </a:xfrm>
          <a:prstGeom prst="rect">
            <a:avLst/>
          </a:prstGeom>
        </p:spPr>
      </p:pic>
      <p:sp>
        <p:nvSpPr>
          <p:cNvPr id="54" name="Shape 32"/>
          <p:cNvSpPr/>
          <p:nvPr/>
        </p:nvSpPr>
        <p:spPr>
          <a:xfrm>
            <a:off x="5303520" y="4800600"/>
            <a:ext cx="635508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3DFD7"/>
            </a:solidFill>
            <a:prstDash val="solid"/>
          </a:ln>
        </p:spPr>
      </p:sp>
      <p:sp>
        <p:nvSpPr>
          <p:cNvPr id="55" name="Text 33"/>
          <p:cNvSpPr txBox="1"/>
          <p:nvPr/>
        </p:nvSpPr>
        <p:spPr>
          <a:xfrm>
            <a:off x="5394960" y="48006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Fits small MSMEs</a:t>
            </a:r>
            <a:endParaRPr lang="en-US" sz="1150" dirty="0"/>
          </a:p>
        </p:txBody>
      </p:sp>
      <p:pic>
        <p:nvPicPr>
          <p:cNvPr id="56" name="Image 20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7680960" y="4892040"/>
            <a:ext cx="274320" cy="274320"/>
          </a:xfrm>
          <a:prstGeom prst="rect">
            <a:avLst/>
          </a:prstGeom>
        </p:spPr>
      </p:pic>
      <p:pic>
        <p:nvPicPr>
          <p:cNvPr id="57" name="Image 21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778240" y="4892040"/>
            <a:ext cx="274320" cy="274320"/>
          </a:xfrm>
          <a:prstGeom prst="rect">
            <a:avLst/>
          </a:prstGeom>
        </p:spPr>
      </p:pic>
      <p:pic>
        <p:nvPicPr>
          <p:cNvPr id="58" name="Image 22" descr="preencoded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875520" y="4892040"/>
            <a:ext cx="274320" cy="274320"/>
          </a:xfrm>
          <a:prstGeom prst="rect">
            <a:avLst/>
          </a:prstGeom>
        </p:spPr>
      </p:pic>
      <p:pic>
        <p:nvPicPr>
          <p:cNvPr id="59" name="Image 23" descr="preencoded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0972800" y="4892040"/>
            <a:ext cx="274320" cy="274320"/>
          </a:xfrm>
          <a:prstGeom prst="rect">
            <a:avLst/>
          </a:prstGeom>
        </p:spPr>
      </p:pic>
      <p:sp>
        <p:nvSpPr>
          <p:cNvPr id="60" name="Text 34"/>
          <p:cNvSpPr txBox="1"/>
          <p:nvPr/>
        </p:nvSpPr>
        <p:spPr>
          <a:xfrm>
            <a:off x="5303520" y="530352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yes  ~ partly / varies  ✘ no. Our general assessment; PumpRupee's ticks are design targets (simulated).</a:t>
            </a:r>
            <a:endParaRPr lang="en-US" sz="950" dirty="0"/>
          </a:p>
        </p:txBody>
      </p:sp>
      <p:sp>
        <p:nvSpPr>
          <p:cNvPr id="61" name="Shape 35"/>
          <p:cNvSpPr/>
          <p:nvPr/>
        </p:nvSpPr>
        <p:spPr>
          <a:xfrm>
            <a:off x="548640" y="5897880"/>
            <a:ext cx="11109960" cy="502920"/>
          </a:xfrm>
          <a:prstGeom prst="roundRect">
            <a:avLst>
              <a:gd name="adj" fmla="val 18182"/>
            </a:avLst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sp>
        <p:nvSpPr>
          <p:cNvPr id="62" name="Text 36"/>
          <p:cNvSpPr txBox="1"/>
          <p:nvPr/>
        </p:nvSpPr>
        <p:spPr>
          <a:xfrm>
            <a:off x="548640" y="5897880"/>
            <a:ext cx="11109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found no low-cost shared kit that combines these. Full platforms are the next step after PumpRupee.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55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Impact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896112"/>
            <a:ext cx="4937760" cy="310896"/>
          </a:xfrm>
          <a:prstGeom prst="roundRect">
            <a:avLst>
              <a:gd name="adj" fmla="val 50000"/>
            </a:avLst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896112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– per 11 kW pump; prices indicative, not quotes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6583680" cy="3154680"/>
          </a:xfrm>
          <a:prstGeom prst="roundRect">
            <a:avLst>
              <a:gd name="adj" fmla="val 2319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435608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one-time kit vs a yearly saving (₹)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82880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Kit, one-time and reusable (top tier)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85800" y="2130552"/>
            <a:ext cx="497255" cy="365760"/>
          </a:xfrm>
          <a:prstGeom prst="rect">
            <a:avLst/>
          </a:prstGeom>
          <a:solidFill>
            <a:srgbClr val="9AA5A0"/>
          </a:solidFill>
          <a:ln w="12700">
            <a:solidFill>
              <a:srgbClr val="9AA5A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274495" y="2130552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₹13,300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60604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 per year, constant pressure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85800" y="2907792"/>
            <a:ext cx="2590661" cy="365760"/>
          </a:xfrm>
          <a:prstGeom prst="rect">
            <a:avLst/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367901" y="2907792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₹69,292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338328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 per year, proportional pressure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3685032"/>
            <a:ext cx="4754880" cy="365760"/>
          </a:xfrm>
          <a:prstGeom prst="rect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532120" y="3685032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₹1,27,178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420624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kit ≈ 5–19% of a year's simulated saving on one pump.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315200" y="1371600"/>
            <a:ext cx="43434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52360" y="1572768"/>
            <a:ext cx="548640" cy="548640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4034" y="1704442"/>
            <a:ext cx="285293" cy="285293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138160" y="1444752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6.1–11.3 t</a:t>
            </a:r>
            <a:endParaRPr lang="en-US" sz="1800" dirty="0"/>
          </a:p>
          <a:p>
            <a:pPr indent="0" marL="0">
              <a:buNone/>
            </a:pPr>
            <a:r>
              <a:rPr lang="en-US" sz="105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CO₂ avoided per pump per year (0.710 kg/kWh)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7315200" y="2450592"/>
            <a:ext cx="43434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452360" y="2651760"/>
            <a:ext cx="548640" cy="548640"/>
          </a:xfrm>
          <a:prstGeom prst="ellipse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4034" y="2783434"/>
            <a:ext cx="285293" cy="285293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8138160" y="2523744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₹50,200–1,09,400</a:t>
            </a:r>
            <a:endParaRPr lang="en-US" sz="1800" dirty="0"/>
          </a:p>
          <a:p>
            <a:pPr indent="0" marL="0">
              <a:buNone/>
            </a:pPr>
            <a:r>
              <a:rPr lang="en-US" sz="105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VFD purchase avoided where it won't pay back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7315200" y="3529584"/>
            <a:ext cx="43434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7452360" y="3730752"/>
            <a:ext cx="548640" cy="548640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4034" y="3862426"/>
            <a:ext cx="285293" cy="285293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8138160" y="3602736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4–19 months</a:t>
            </a:r>
            <a:endParaRPr lang="en-US" sz="1800" dirty="0"/>
          </a:p>
          <a:p>
            <a:pPr indent="0" marL="0">
              <a:buNone/>
            </a:pPr>
            <a:r>
              <a:rPr lang="en-US" sz="105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payback, oversized pump (2–4+ years if right-sized, high lift)</a:t>
            </a:r>
            <a:endParaRPr lang="en-US" sz="1800" dirty="0"/>
          </a:p>
        </p:txBody>
      </p:sp>
      <p:sp>
        <p:nvSpPr>
          <p:cNvPr id="29" name="Text 24"/>
          <p:cNvSpPr txBox="1"/>
          <p:nvPr/>
        </p:nvSpPr>
        <p:spPr>
          <a:xfrm>
            <a:off x="548640" y="4709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benefits</a:t>
            </a:r>
            <a:endParaRPr lang="en-US" sz="1400" dirty="0"/>
          </a:p>
        </p:txBody>
      </p:sp>
      <p:sp>
        <p:nvSpPr>
          <p:cNvPr id="30" name="Shape 25"/>
          <p:cNvSpPr/>
          <p:nvPr/>
        </p:nvSpPr>
        <p:spPr>
          <a:xfrm>
            <a:off x="548640" y="5029200"/>
            <a:ext cx="1828800" cy="310896"/>
          </a:xfrm>
          <a:prstGeom prst="roundRect">
            <a:avLst>
              <a:gd name="adj" fmla="val 50000"/>
            </a:avLst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548640" y="502920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MSME plant owners</a:t>
            </a:r>
            <a:endParaRPr lang="en-US" sz="1050" dirty="0"/>
          </a:p>
        </p:txBody>
      </p:sp>
      <p:sp>
        <p:nvSpPr>
          <p:cNvPr id="32" name="Shape 27"/>
          <p:cNvSpPr/>
          <p:nvPr/>
        </p:nvSpPr>
        <p:spPr>
          <a:xfrm>
            <a:off x="2560320" y="5029200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2560320" y="5029200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teams</a:t>
            </a:r>
            <a:endParaRPr lang="en-US" sz="1050" dirty="0"/>
          </a:p>
        </p:txBody>
      </p:sp>
      <p:sp>
        <p:nvSpPr>
          <p:cNvPr id="34" name="Shape 29"/>
          <p:cNvSpPr/>
          <p:nvPr/>
        </p:nvSpPr>
        <p:spPr>
          <a:xfrm>
            <a:off x="4297680" y="5029200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4297680" y="502920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auditors / ESCOs</a:t>
            </a:r>
            <a:endParaRPr lang="en-US" sz="1050" dirty="0"/>
          </a:p>
        </p:txBody>
      </p:sp>
      <p:sp>
        <p:nvSpPr>
          <p:cNvPr id="36" name="Shape 31"/>
          <p:cNvSpPr/>
          <p:nvPr/>
        </p:nvSpPr>
        <p:spPr>
          <a:xfrm>
            <a:off x="6492240" y="502920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6492240" y="502920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channel partners</a:t>
            </a:r>
            <a:endParaRPr lang="en-US" sz="1050" dirty="0"/>
          </a:p>
        </p:txBody>
      </p:sp>
      <p:sp>
        <p:nvSpPr>
          <p:cNvPr id="38" name="Shape 33"/>
          <p:cNvSpPr/>
          <p:nvPr/>
        </p:nvSpPr>
        <p:spPr>
          <a:xfrm>
            <a:off x="8321040" y="5029200"/>
            <a:ext cx="2926080" cy="310896"/>
          </a:xfrm>
          <a:prstGeom prst="roundRect">
            <a:avLst>
              <a:gd name="adj" fmla="val 50000"/>
            </a:avLst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8321040" y="502920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India's industrial efficiency goals</a:t>
            </a:r>
            <a:endParaRPr lang="en-US" sz="1050" dirty="0"/>
          </a:p>
        </p:txBody>
      </p:sp>
      <p:sp>
        <p:nvSpPr>
          <p:cNvPr id="40" name="Shape 35"/>
          <p:cNvSpPr/>
          <p:nvPr/>
        </p:nvSpPr>
        <p:spPr>
          <a:xfrm>
            <a:off x="548640" y="5486400"/>
            <a:ext cx="11109960" cy="822960"/>
          </a:xfrm>
          <a:prstGeom prst="roundRect">
            <a:avLst>
              <a:gd name="adj" fmla="val 8889"/>
            </a:avLst>
          </a:prstGeom>
          <a:solidFill>
            <a:srgbClr val="FFF4E5"/>
          </a:solidFill>
          <a:ln w="19050">
            <a:solidFill>
              <a:srgbClr val="E07B00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731520" y="5513832"/>
            <a:ext cx="107899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Scale-up illustration, not a projection: </a:t>
            </a:r>
            <a:pPr indent="0" marL="0">
              <a:buNone/>
            </a:pPr>
            <a:r>
              <a:rPr lang="en-US" sz="12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= N pumps × per-pump saving. For N = 10: ₹6,92,920–12,71,780 per year and 61–113 t CO₂ per year, using the 11 kW base case. The 54–60% saving for heavily oversized pumps is an upper bound only.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55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Roadmap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done, what is next, and which limit each phase removes.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097280" y="1691640"/>
            <a:ext cx="9966960" cy="0"/>
          </a:xfrm>
          <a:prstGeom prst="line">
            <a:avLst/>
          </a:prstGeom>
          <a:noFill/>
          <a:ln w="38100">
            <a:solidFill>
              <a:srgbClr val="9AA5A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25880" y="1463040"/>
            <a:ext cx="457200" cy="457200"/>
          </a:xfrm>
          <a:prstGeom prst="ellipse">
            <a:avLst/>
          </a:prstGeom>
          <a:solidFill>
            <a:srgbClr val="3DCD58"/>
          </a:solidFill>
          <a:ln w="25400">
            <a:solidFill>
              <a:srgbClr val="0E5A3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32588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103120"/>
            <a:ext cx="2103120" cy="251460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176272"/>
            <a:ext cx="19202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+ dashboard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Grundfos curve fits, stress tests, working dashboard with CSV upload (simulated data).</a:t>
            </a:r>
            <a:endParaRPr lang="en-US" sz="1500" dirty="0"/>
          </a:p>
          <a:p>
            <a:pPr indent="0" marL="0">
              <a:buNone/>
            </a:pPr>
            <a:r>
              <a:rPr lang="en-US" sz="105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 removed: none yet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4187952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418795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575304" y="1463040"/>
            <a:ext cx="457200" cy="457200"/>
          </a:xfrm>
          <a:prstGeom prst="ellipse">
            <a:avLst/>
          </a:prstGeom>
          <a:solidFill>
            <a:srgbClr val="F8D9B0"/>
          </a:solidFill>
          <a:ln w="25400">
            <a:solidFill>
              <a:srgbClr val="E07B0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75304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2798064" y="2103120"/>
            <a:ext cx="2103120" cy="251460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889504" y="2176272"/>
            <a:ext cx="19202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 test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pump, ESP32 kit and a reference flow meter.</a:t>
            </a:r>
            <a:endParaRPr lang="en-US" sz="1500" dirty="0"/>
          </a:p>
          <a:p>
            <a:pPr indent="0" marL="0">
              <a:buNone/>
            </a:pPr>
            <a:r>
              <a:rPr lang="en-US" sz="105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Removes: flow-inference accuracy, head = discharge − suction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2889504" y="4187952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F8D9B0"/>
          </a:solidFill>
          <a:ln w="12700">
            <a:solidFill>
              <a:srgbClr val="F8D9B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889504" y="418795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824728" y="1463040"/>
            <a:ext cx="457200" cy="457200"/>
          </a:xfrm>
          <a:prstGeom prst="ellipse">
            <a:avLst/>
          </a:prstGeom>
          <a:solidFill>
            <a:srgbClr val="D3DFD7"/>
          </a:solidFill>
          <a:ln w="25400">
            <a:solidFill>
              <a:srgbClr val="55655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824728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047488" y="2103120"/>
            <a:ext cx="2103120" cy="251460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138928" y="2176272"/>
            <a:ext cx="19202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Pilot, 1–2 plants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the system curve on site; log 7–14 days.</a:t>
            </a:r>
            <a:endParaRPr lang="en-US" sz="1500" dirty="0"/>
          </a:p>
          <a:p>
            <a:pPr indent="0" marL="0">
              <a:buNone/>
            </a:pPr>
            <a:r>
              <a:rPr lang="en-US" sz="105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Removes: ±10 → ±3 points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138928" y="4187952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D3DFD7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138928" y="418795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074152" y="1463040"/>
            <a:ext cx="457200" cy="457200"/>
          </a:xfrm>
          <a:prstGeom prst="ellipse">
            <a:avLst/>
          </a:prstGeom>
          <a:solidFill>
            <a:srgbClr val="D3DFD7"/>
          </a:solidFill>
          <a:ln w="25400">
            <a:solidFill>
              <a:srgbClr val="55655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074152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7296912" y="2103120"/>
            <a:ext cx="2103120" cy="251460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388352" y="2176272"/>
            <a:ext cx="19202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forecast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the forecast with the measured saving after a fix.</a:t>
            </a:r>
            <a:endParaRPr lang="en-US" sz="1500" dirty="0"/>
          </a:p>
          <a:p>
            <a:pPr indent="0" marL="0">
              <a:buNone/>
            </a:pPr>
            <a:r>
              <a:rPr lang="en-US" sz="105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Removes: optimistic system-curve fit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7388352" y="4187952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D3DFD7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388352" y="418795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323576" y="1463040"/>
            <a:ext cx="457200" cy="457200"/>
          </a:xfrm>
          <a:prstGeom prst="ellipse">
            <a:avLst/>
          </a:prstGeom>
          <a:solidFill>
            <a:srgbClr val="D3DFD7"/>
          </a:solidFill>
          <a:ln w="25400">
            <a:solidFill>
              <a:srgbClr val="55655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323576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9546336" y="2103120"/>
            <a:ext cx="2103120" cy="251460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637776" y="2176272"/>
            <a:ext cx="19202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Rollout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Multi-pump, multi-plant; ESCO and channel use.</a:t>
            </a:r>
            <a:endParaRPr lang="en-US" sz="1500" dirty="0"/>
          </a:p>
          <a:p>
            <a:pPr indent="0" marL="0">
              <a:buNone/>
            </a:pPr>
            <a:r>
              <a:rPr lang="en-US" sz="105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Widens: parallel pumps, drives, NPSH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9637776" y="4187952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D3DFD7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637776" y="418795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48640" y="4800600"/>
            <a:ext cx="11109960" cy="1554480"/>
          </a:xfrm>
          <a:prstGeom prst="roundRect">
            <a:avLst>
              <a:gd name="adj" fmla="val 4706"/>
            </a:avLst>
          </a:prstGeom>
          <a:solidFill>
            <a:srgbClr val="FFF4E5"/>
          </a:solidFill>
          <a:ln w="25400">
            <a:solidFill>
              <a:srgbClr val="E07B0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31520" y="48463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limits we validate next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777240" y="5166360"/>
            <a:ext cx="10698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and software prototype only: no lab or field data, no real quotes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±3 points only with a measured system curve; otherwise about ±10; the curve fit is optimistic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pump, steady state. Out of scope: parallel pumps, closed loops, pumps already on drives, min-flow/NPSH, control dynamics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55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Introduction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ANS_4X · Schneider Electric Yuva Yodha 2026 · Smart Manufacturing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26517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389888"/>
            <a:ext cx="457200" cy="457200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1499616"/>
            <a:ext cx="237744" cy="23774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34440" y="137160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Akshaya V G</a:t>
            </a:r>
            <a:endParaRPr lang="en-US" sz="15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Lead &amp; Software/Dashboard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01168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pipeline and the PumpRupee web dashboard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362249" y="1280160"/>
            <a:ext cx="26517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499409" y="1389888"/>
            <a:ext cx="457200" cy="457200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9137" y="1499616"/>
            <a:ext cx="237744" cy="23774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048049" y="137160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Adithyaa J</a:t>
            </a:r>
            <a:endParaRPr lang="en-US" sz="15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Embedded Hardware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3499409" y="201168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 logger, power clamp and pressure-sensor integration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6175858" y="1280160"/>
            <a:ext cx="26517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313018" y="1389888"/>
            <a:ext cx="457200" cy="457200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2746" y="1499616"/>
            <a:ext cx="237744" cy="23774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861658" y="137160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Nikilaesh B</a:t>
            </a:r>
            <a:endParaRPr lang="en-US" sz="15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Analytics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6313018" y="201168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 hydraulics model, Shapley waste split and VFD payback logic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8989466" y="1280160"/>
            <a:ext cx="26517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26626" y="1389888"/>
            <a:ext cx="457200" cy="457200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6354" y="1499616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675266" y="137160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Siva Subramaniam S</a:t>
            </a:r>
            <a:endParaRPr lang="en-US" sz="15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&amp; Validation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9126626" y="201168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Pump-curve simulation, CUSUM wear-drift testing, pilot and roadmap planning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548640" y="3200400"/>
            <a:ext cx="1110996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685800" y="32461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&amp; data sources</a:t>
            </a:r>
            <a:endParaRPr lang="en-US" sz="1400" dirty="0"/>
          </a:p>
        </p:txBody>
      </p:sp>
      <p:sp>
        <p:nvSpPr>
          <p:cNvPr id="26" name="Text 20"/>
          <p:cNvSpPr txBox="1"/>
          <p:nvPr/>
        </p:nvSpPr>
        <p:spPr>
          <a:xfrm>
            <a:off x="685800" y="3566160"/>
            <a:ext cx="5349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 data: Grundfos Product Center duty-point readouts for NB 65-160/157 (product no. 97839240), retrieved 2026-10-02. Curve tolerance ISO 9906:2012 Grade 3B. Curves in this deck are cubic fits to those 14 points.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Emission factor: CEA CO₂ Baseline Database for the Indian Power Sector, v21.0 (FY2024-25): 0.710 kg CO₂/kWh.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Energy-audit practitioner input (paraphrased, not named): wrong sizing is the most common cause of throttling; 30–40% of ultrasonic flow readings go wrong.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Method: affinity laws; Shapley value attribution; CUSUM change detection; IPMVP-style measurement and verification.</a:t>
            </a:r>
            <a:endParaRPr lang="en-US" sz="950" dirty="0"/>
          </a:p>
        </p:txBody>
      </p:sp>
      <p:sp>
        <p:nvSpPr>
          <p:cNvPr id="27" name="Text 21"/>
          <p:cNvSpPr txBox="1"/>
          <p:nvPr/>
        </p:nvSpPr>
        <p:spPr>
          <a:xfrm>
            <a:off x="6217920" y="3566160"/>
            <a:ext cx="5349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prices (indicative online listings, 2026-10-02, not quotes): ESP32 (Robu); SCT-013 clamp (ElectronicsComp, Robodo, Robocraze); ZMPT101B voltage sensor; 4–20 mA pressure transmitters (Nishka, Utopia, Shri Instruments); VFDs (Delta MS300 listing, Industrybuying). Install cost ₹15,000 is an assumption.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art: KSB PumpMeter, US DOE PSAT, Samotics, Schneider Altivar Process and EcoStruxure, Indian IoT vendors and ESCOs.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Simulation: our open Python scripts (fixed seeds) in the project repository, folder yuva_yodha/; dashboard source in yuva_yodha/dashboard/.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results are simulated. No lab or field data.</a:t>
            </a:r>
            <a:endParaRPr lang="en-US" sz="950" dirty="0"/>
          </a:p>
        </p:txBody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5623560"/>
            <a:ext cx="777240" cy="77724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1463040" y="5696712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prototype dashboard</a:t>
            </a:r>
            <a:endParaRPr lang="en-US" sz="1300" dirty="0"/>
          </a:p>
          <a:p>
            <a:pPr indent="0" marL="0">
              <a:buNone/>
            </a:pPr>
            <a:r>
              <a:rPr lang="en-US" sz="1200" u="sng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https://pumprupee-dashboard.vercel.app/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data · scan the QR code</a:t>
            </a:r>
            <a:endParaRPr lang="en-US" sz="1300" dirty="0"/>
          </a:p>
        </p:txBody>
      </p:sp>
      <p:sp>
        <p:nvSpPr>
          <p:cNvPr id="30" name="Text 23"/>
          <p:cNvSpPr txBox="1"/>
          <p:nvPr/>
        </p:nvSpPr>
        <p:spPr>
          <a:xfrm>
            <a:off x="5852160" y="5669280"/>
            <a:ext cx="5806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 kit. Clever inference. Answers in rupees.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55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PumpRupee - Schneider Electric Yuva Yodha 2026 - Team ANS_4X</dc:title>
  <dc:subject>PptxGenJS Presentation</dc:subject>
  <dc:creator>ANS_4X</dc:creator>
  <cp:lastModifiedBy>ANS_4X</cp:lastModifiedBy>
  <cp:revision>1</cp:revision>
  <dcterms:created xsi:type="dcterms:W3CDTF">2026-10-03T16:46:01Z</dcterms:created>
  <dcterms:modified xsi:type="dcterms:W3CDTF">2026-10-03T16:46:01Z</dcterms:modified>
</cp:coreProperties>
</file>