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Pump, full speed</c:v>
                </c:pt>
              </c:strCache>
            </c:strRef>
          </c:tx>
          <c:spPr>
            <a:solidFill>
              <a:srgbClr val="0E5A32"/>
            </a:solidFill>
            <a:ln w="31750" cap="flat">
              <a:solidFill>
                <a:srgbClr val="0E5A32"/>
              </a:solidFill>
              <a:prstDash val="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5A32"/>
              </a:solidFill>
              <a:ln w="9525" cap="flat">
                <a:solidFill>
                  <a:srgbClr val="0E5A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  <c:pt idx="6">
                    <c:v>70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33.1</c:v>
                </c:pt>
                <c:pt idx="1">
                  <c:v>33</c:v>
                </c:pt>
                <c:pt idx="2">
                  <c:v>32.8</c:v>
                </c:pt>
                <c:pt idx="3">
                  <c:v>32.6</c:v>
                </c:pt>
                <c:pt idx="4">
                  <c:v>32.3</c:v>
                </c:pt>
                <c:pt idx="5">
                  <c:v>31.8</c:v>
                </c:pt>
                <c:pt idx="6">
                  <c:v>31.2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System, valve open (assumed 10 m lift)</c:v>
                </c:pt>
              </c:strCache>
            </c:strRef>
          </c:tx>
          <c:spPr>
            <a:solidFill>
              <a:srgbClr val="9AA5A0"/>
            </a:solidFill>
            <a:ln w="31750" cap="flat">
              <a:solidFill>
                <a:srgbClr val="9AA5A0"/>
              </a:solidFill>
              <a:prstDash val="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5A0"/>
              </a:solidFill>
              <a:ln w="9525" cap="flat">
                <a:solidFill>
                  <a:srgbClr val="9AA5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  <c:pt idx="6">
                    <c:v>70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10.1</c:v>
                </c:pt>
                <c:pt idx="1">
                  <c:v>10.5</c:v>
                </c:pt>
                <c:pt idx="2">
                  <c:v>11.1</c:v>
                </c:pt>
                <c:pt idx="3">
                  <c:v>12</c:v>
                </c:pt>
                <c:pt idx="4">
                  <c:v>13.1</c:v>
                </c:pt>
                <c:pt idx="5">
                  <c:v>14.5</c:v>
                </c:pt>
                <c:pt idx="6">
                  <c:v>16.1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System, throttled</c:v>
                </c:pt>
              </c:strCache>
            </c:strRef>
          </c:tx>
          <c:spPr>
            <a:solidFill>
              <a:srgbClr val="E07B00"/>
            </a:solidFill>
            <a:ln w="31750" cap="flat">
              <a:solidFill>
                <a:srgbClr val="E07B00"/>
              </a:solidFill>
              <a:prstDash val="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7B00"/>
              </a:solidFill>
              <a:ln w="9525" cap="flat">
                <a:solidFill>
                  <a:srgbClr val="E07B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  <c:pt idx="6">
                    <c:v>70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10.6</c:v>
                </c:pt>
                <c:pt idx="1">
                  <c:v>12.3</c:v>
                </c:pt>
                <c:pt idx="2">
                  <c:v>15.2</c:v>
                </c:pt>
                <c:pt idx="3">
                  <c:v>19.2</c:v>
                </c:pt>
                <c:pt idx="4">
                  <c:v>24.3</c:v>
                </c:pt>
                <c:pt idx="5">
                  <c:v>30.7</c:v>
                </c:pt>
                <c:pt idx="6">
                  <c:v>38.1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Pump slowed by VFD (72%)</c:v>
                </c:pt>
              </c:strCache>
            </c:strRef>
          </c:tx>
          <c:spPr>
            <a:solidFill>
              <a:srgbClr val="3DCD58"/>
            </a:solidFill>
            <a:ln w="31750" cap="flat">
              <a:solidFill>
                <a:srgbClr val="3DCD58"/>
              </a:solidFill>
              <a:prstDash val="solid,solid,solid,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DCD58"/>
              </a:solidFill>
              <a:ln w="9525" cap="flat">
                <a:solidFill>
                  <a:srgbClr val="3DCD5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40</c:v>
                  </c:pt>
                  <c:pt idx="4">
                    <c:v>50</c:v>
                  </c:pt>
                  <c:pt idx="5">
                    <c:v>60</c:v>
                  </c:pt>
                  <c:pt idx="6">
                    <c:v>70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17.1</c:v>
                </c:pt>
                <c:pt idx="1">
                  <c:v>17</c:v>
                </c:pt>
                <c:pt idx="2">
                  <c:v>16.8</c:v>
                </c:pt>
                <c:pt idx="3">
                  <c:v>16.5</c:v>
                </c:pt>
                <c:pt idx="4">
                  <c:v>16.1</c:v>
                </c:pt>
                <c:pt idx="5">
                  <c:v>15.5</c:v>
                </c:pt>
                <c:pt idx="6">
                  <c:v>14.7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Flow, m³/h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6EC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000000"/>
                    </a:solidFill>
                    <a:latin typeface="Arial"/>
                  </a:rPr>
                  <a:t>Head, m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live dashboard from the QR code. Simulated data throughout. One sentence: PumpRupee tells an MSME owner how many rupees a pump wastes, why, and whether a VFD will pay back for that pump, using a cheap clamp-on kit and no flow 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the owner being blind. The 30-40% figure is an audit practitioner's report about ultrasonic meters, not our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shown is the working prototype with simulated data. The kit is clamp-on: no pipe cutting, no shutdown. It never controls the pump.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Schneider products are named only as the natural next step after an audit. Say it positively: PumpRupee finds which pumps justify an Altivar-class drive.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numbered callouts on the dashboard: 1 the rupee saving, 2 the payback range, 3 the cheapest-fix-first order. Everything shown is simulated.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Calibration: two scale factors (head, power) are fitted from 7-14 days of logs by profile likelihood; no flow meter. The system curve is the biggest error source, which is why the optional P3 sensor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are from the working prototype dashboard, simulated data. Forecast error: 1.4 points with a process-side sensor vs 10.5 points without, under stress. A +/-30% flow reading is worse than no calibration.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say 'none exists'. Altivar Process does sensorless flow inside the drive after it is bought; PumpRupee helps decide which pumps deserve one and verifies the saving.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5-19% = 6,100/127,178 = 4.8% up to 13,300/69,292 = 19.2%. N=10 is arithmetic, not a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'done' and 'next'. Ask: a pilot plant and a reference flow 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cheap kit, clever inference, answers in rupees. Share the live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  |  Team ANS_4X  |  Yuva Yodha 2026, Smart Manufacturing  |  All results simulated; prices indicative, not quotes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6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mprupee-dashboard.vercel.app/" TargetMode="Externa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hyperlink" Target="https://pumprupee-dashboard.vercel.app/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10" Type="http://schemas.openxmlformats.org/officeDocument/2006/relationships/image" Target="../media/image-5-9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pumprupee-dashboard.vercel.app/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rupees your pumps waste, before you buy a VFD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0175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flow meter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30175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30175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shutdown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30175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49040" y="30175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waste by cause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657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ANS_4X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069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Electric Yuva Yodha Energy Tech Hackathon 2026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526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Smart Manufacturing  ·  Electrify · Automate · Digitalise</a:t>
            </a:r>
            <a:endParaRPr lang="en-US" sz="12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120640"/>
            <a:ext cx="868680" cy="8686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645920" y="519379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dashboard</a:t>
            </a:r>
            <a:endParaRPr lang="en-US" sz="1300" dirty="0"/>
          </a:p>
          <a:p>
            <a:pPr indent="0" marL="0">
              <a:buNone/>
            </a:pPr>
            <a:r>
              <a:rPr lang="en-US" sz="1200" u="sng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https://pumprupee-dashboard.vercel.app/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 · scan the QR code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72200" y="1143000"/>
            <a:ext cx="5486400" cy="3675888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9050">
            <a:solidFill>
              <a:srgbClr val="0E5A3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0488" y="1161288"/>
            <a:ext cx="5449824" cy="228600"/>
          </a:xfrm>
          <a:prstGeom prst="rect">
            <a:avLst/>
          </a:prstGeom>
          <a:solidFill>
            <a:srgbClr val="E3F2E7"/>
          </a:solidFill>
          <a:ln w="12700">
            <a:solidFill>
              <a:srgbClr val="E3F2E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81928" y="121615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28232" y="12161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74536" y="1216152"/>
            <a:ext cx="91440" cy="91440"/>
          </a:xfrm>
          <a:prstGeom prst="ellipse">
            <a:avLst/>
          </a:prstGeom>
          <a:solidFill>
            <a:srgbClr val="3DCD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12280" y="1188720"/>
            <a:ext cx="45720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BFE3C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12280" y="1188720"/>
            <a:ext cx="457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pumprupee-dashboard.vercel.app</a:t>
            </a:r>
            <a:endParaRPr lang="en-US" sz="8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389888"/>
            <a:ext cx="5449824" cy="34290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172200" y="4864608"/>
            <a:ext cx="3840480" cy="310896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172200" y="48646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dashboard · simulated data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6172200" y="5440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results are simulated (Grundfos NB 65-160/157, 11 kW). Prices are indicative, not quotes.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pumps run throttled. The extra energy is burnt across a valve, every hour, and nobody sees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566928" cy="566928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164482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17627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Oversized pump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above the real duty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71800" y="2011680"/>
            <a:ext cx="411480" cy="29260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65576" y="137160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02736" y="1508760"/>
            <a:ext cx="566928" cy="566928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799" y="164482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02736" y="217627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half shut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Throttled to hold flow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888736" y="2011680"/>
            <a:ext cx="411480" cy="29260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82512" y="137160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19672" y="1508760"/>
            <a:ext cx="566928" cy="566928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735" y="164482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19672" y="217627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lost as heat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burnt in the valve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805672" y="2011680"/>
            <a:ext cx="411480" cy="292608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299448" y="137160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436608" y="1508760"/>
            <a:ext cx="566928" cy="566928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2671" y="164482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36608" y="217627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leaking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bill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31546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for the pump AND for fighting the valve.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548640" y="37947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4052621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71600" y="3931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Oversizing is common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31520" y="45720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energy-audit practitioner: wrong sizing leading to throttling is the most common cause.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4297680" y="37947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480560" y="3931920"/>
            <a:ext cx="502920" cy="50292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1261" y="4052621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120640" y="3931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is hard to measure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4480560" y="45720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meters: 30–40% of readings go wrong (practitioner report). Pressure and power are easy.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8046720" y="37947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229600" y="3931920"/>
            <a:ext cx="502920" cy="50292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0301" y="4052621"/>
            <a:ext cx="261518" cy="26151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869680" y="3931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miss small plants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8229600" y="45720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audits are a poor fit for small plants; very small plants rarely prioritise this.</a:t>
            </a:r>
            <a:endParaRPr lang="en-US" sz="1300" dirty="0"/>
          </a:p>
        </p:txBody>
      </p:sp>
      <p:sp>
        <p:nvSpPr>
          <p:cNvPr id="39" name="Text 30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(pressure) and electrical power are cheap to measure. Flow is not. PumpRupee infers flow from the two that 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clamp-on kit and a web dashboard turn power + pressure into “₹ wasted per year, and why”.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6890" y="4360774"/>
            <a:ext cx="4707331" cy="213970"/>
          </a:xfrm>
          <a:prstGeom prst="rect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0859" y="3255264"/>
            <a:ext cx="1711757" cy="1105510"/>
          </a:xfrm>
          <a:prstGeom prst="roundRect">
            <a:avLst>
              <a:gd name="adj" fmla="val 8271"/>
            </a:avLst>
          </a:prstGeom>
          <a:solidFill>
            <a:srgbClr val="3A4A45"/>
          </a:solidFill>
          <a:ln w="12700">
            <a:solidFill>
              <a:srgbClr val="3A4A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9167" y="3326587"/>
            <a:ext cx="85588" cy="962863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44534" y="3326587"/>
            <a:ext cx="85588" cy="962863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79900" y="3326587"/>
            <a:ext cx="85588" cy="962863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15267" y="3326587"/>
            <a:ext cx="85588" cy="962863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0633" y="3326587"/>
            <a:ext cx="85588" cy="962863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3326587"/>
            <a:ext cx="85588" cy="962863"/>
          </a:xfrm>
          <a:prstGeom prst="rect">
            <a:avLst/>
          </a:prstGeom>
          <a:solidFill>
            <a:srgbClr val="55675F"/>
          </a:solidFill>
          <a:ln w="12700">
            <a:solidFill>
              <a:srgbClr val="5567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42616" y="3683203"/>
            <a:ext cx="320954" cy="285293"/>
          </a:xfrm>
          <a:prstGeom prst="rect">
            <a:avLst/>
          </a:prstGeom>
          <a:solidFill>
            <a:srgbClr val="7C8A84"/>
          </a:solidFill>
          <a:ln w="12700">
            <a:solidFill>
              <a:srgbClr val="7C8A8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7909" y="3183941"/>
            <a:ext cx="1141171" cy="1141171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1510" y="2185416"/>
            <a:ext cx="213970" cy="106984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91510" y="2185416"/>
            <a:ext cx="2032711" cy="21397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26434" y="3790188"/>
            <a:ext cx="1497787" cy="21397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68342" y="3683203"/>
            <a:ext cx="356616" cy="427939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8711" y="2078431"/>
            <a:ext cx="427939" cy="427939"/>
          </a:xfrm>
          <a:prstGeom prst="diamond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11284" y="1914388"/>
            <a:ext cx="42794" cy="17830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25696" y="1871594"/>
            <a:ext cx="213970" cy="57059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33713" y="2042770"/>
            <a:ext cx="71323" cy="156911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8126" y="1828800"/>
            <a:ext cx="249631" cy="213970"/>
          </a:xfrm>
          <a:prstGeom prst="roundRect">
            <a:avLst>
              <a:gd name="adj" fmla="val 21367"/>
            </a:avLst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5401" y="3469234"/>
            <a:ext cx="213970" cy="213970"/>
          </a:xfrm>
          <a:prstGeom prst="roundRect">
            <a:avLst>
              <a:gd name="adj" fmla="val 21367"/>
            </a:avLst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3280" y="2399386"/>
            <a:ext cx="42794" cy="85587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29384" y="1828800"/>
            <a:ext cx="1141171" cy="570586"/>
          </a:xfrm>
          <a:prstGeom prst="roundRect">
            <a:avLst>
              <a:gd name="adj" fmla="val 12821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42173" y="1885859"/>
            <a:ext cx="71323" cy="71323"/>
          </a:xfrm>
          <a:prstGeom prst="ellipse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72030" y="2684678"/>
            <a:ext cx="285293" cy="285293"/>
          </a:xfrm>
          <a:prstGeom prst="donu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70555" y="1935785"/>
            <a:ext cx="677570" cy="0"/>
          </a:xfrm>
          <a:prstGeom prst="line">
            <a:avLst/>
          </a:prstGeom>
          <a:noFill/>
          <a:ln w="19050">
            <a:solidFill>
              <a:srgbClr val="3DCD58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1929384" y="1885859"/>
            <a:ext cx="998525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929384" y="2114093"/>
            <a:ext cx="998525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30859" y="3647542"/>
            <a:ext cx="1711757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2927909" y="3611880"/>
            <a:ext cx="1141171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88950" y="2542032"/>
            <a:ext cx="167609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clamp (on motor cable)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569818" y="1557772"/>
            <a:ext cx="156911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transmitter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140403" y="2542032"/>
            <a:ext cx="1212494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valve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997757" y="4146804"/>
            <a:ext cx="1497787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Strainer + optional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transmitter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892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illustration of the kit on a pump skid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9360" y="1280160"/>
            <a:ext cx="5029200" cy="3390138"/>
          </a:xfrm>
          <a:prstGeom prst="roundRect">
            <a:avLst>
              <a:gd name="adj" fmla="val 1618"/>
            </a:avLst>
          </a:prstGeom>
          <a:solidFill>
            <a:srgbClr val="FFFFFF"/>
          </a:solidFill>
          <a:ln w="19050">
            <a:solidFill>
              <a:srgbClr val="0E5A3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27648" y="1298448"/>
            <a:ext cx="4992624" cy="228600"/>
          </a:xfrm>
          <a:prstGeom prst="rect">
            <a:avLst/>
          </a:prstGeom>
          <a:solidFill>
            <a:srgbClr val="E3F2E7"/>
          </a:solidFill>
          <a:ln w="12700">
            <a:solidFill>
              <a:srgbClr val="E3F2E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19088" y="135331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65392" y="135331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11696" y="1353312"/>
            <a:ext cx="91440" cy="91440"/>
          </a:xfrm>
          <a:prstGeom prst="ellipse">
            <a:avLst/>
          </a:prstGeom>
          <a:solidFill>
            <a:srgbClr val="3DCD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49440" y="1325880"/>
            <a:ext cx="4114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BFE3C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49440" y="1325880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pumprupee-dashboard.vercel.app</a:t>
            </a:r>
            <a:endParaRPr lang="en-US" sz="800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7648" y="1527048"/>
            <a:ext cx="4992624" cy="3143250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6309360" y="4716018"/>
            <a:ext cx="3840480" cy="310896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309360" y="471601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dashboard · simulated data</a:t>
            </a:r>
            <a:endParaRPr lang="en-US" sz="1000" dirty="0"/>
          </a:p>
        </p:txBody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5054346"/>
            <a:ext cx="219456" cy="219456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6620256" y="502691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waste per year, by cause</a:t>
            </a:r>
            <a:endParaRPr lang="en-US" sz="1050" dirty="0"/>
          </a:p>
        </p:txBody>
      </p:sp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5054346"/>
            <a:ext cx="219456" cy="219456"/>
          </a:xfrm>
          <a:prstGeom prst="rect">
            <a:avLst/>
          </a:prstGeom>
        </p:spPr>
      </p:pic>
      <p:sp>
        <p:nvSpPr>
          <p:cNvPr id="51" name="Text 46"/>
          <p:cNvSpPr txBox="1"/>
          <p:nvPr/>
        </p:nvSpPr>
        <p:spPr>
          <a:xfrm>
            <a:off x="9226296" y="502691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fix first + safe setpoint</a:t>
            </a:r>
            <a:endParaRPr lang="en-US" sz="1050" dirty="0"/>
          </a:p>
        </p:txBody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5356098"/>
            <a:ext cx="219456" cy="219456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6620256" y="532866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payback verdict for THIS pump</a:t>
            </a:r>
            <a:endParaRPr lang="en-US" sz="1050" dirty="0"/>
          </a:p>
        </p:txBody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0" y="5356098"/>
            <a:ext cx="219456" cy="219456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9226296" y="532866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saving after the fix</a:t>
            </a:r>
            <a:endParaRPr lang="en-US" sz="1050" dirty="0"/>
          </a:p>
        </p:txBody>
      </p:sp>
      <p:sp>
        <p:nvSpPr>
          <p:cNvPr id="56" name="Text 49"/>
          <p:cNvSpPr txBox="1"/>
          <p:nvPr/>
        </p:nvSpPr>
        <p:spPr>
          <a:xfrm>
            <a:off x="548640" y="5257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on → log 7–14 days → ₹ report → the right fix</a:t>
            </a:r>
            <a:endParaRPr lang="en-US" sz="1500" dirty="0"/>
          </a:p>
        </p:txBody>
      </p:sp>
      <p:sp>
        <p:nvSpPr>
          <p:cNvPr id="57" name="Shape 50"/>
          <p:cNvSpPr/>
          <p:nvPr/>
        </p:nvSpPr>
        <p:spPr>
          <a:xfrm>
            <a:off x="548640" y="5852160"/>
            <a:ext cx="11109960" cy="502920"/>
          </a:xfrm>
          <a:prstGeom prst="roundRect">
            <a:avLst>
              <a:gd name="adj" fmla="val 18182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548640" y="585216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and recommends. Does not control the pump.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to Smart Manufacturing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Electrify · Automate · Digitalise, at an entry cost an MSME can afford.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81328"/>
            <a:ext cx="530352" cy="530352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084" y="1608612"/>
            <a:ext cx="275783" cy="27578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8132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Electrify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4884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motor energy visible with a clamp-on power measurement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owners to the pumps where a right-sized drive pays back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481328"/>
            <a:ext cx="530352" cy="530352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124" y="1608612"/>
            <a:ext cx="275783" cy="27578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20640" y="148132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14884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diagnosis of waste by cause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Wear-drift alarm (CUSUM) on the pump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safe VFD setpoint; the drive does the controlling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83880" y="1481328"/>
            <a:ext cx="530352" cy="530352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164" y="1608612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69680" y="148132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Digitalise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14884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become a ₹ business case on a dashboard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proof of the saving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keeps the data and can use any drive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PumpRupee feeds drives and energy management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48640" y="42976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3F6E8"/>
          </a:solidFill>
          <a:ln w="25400">
            <a:solidFill>
              <a:srgbClr val="3DCD5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8368" y="4389120"/>
            <a:ext cx="329184" cy="329184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58368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58368" y="4773168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 audit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Clamp-on, 7–14 days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2578608" y="4846320"/>
            <a:ext cx="201168" cy="256032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2798064" y="42976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907792" y="4389120"/>
            <a:ext cx="329184" cy="329184"/>
          </a:xfrm>
          <a:prstGeom prst="ellipse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2907792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2907792" y="4773168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business case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by cause + VFD verdict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4828032" y="4846320"/>
            <a:ext cx="201168" cy="256032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047488" y="42976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157216" y="4389120"/>
            <a:ext cx="329184" cy="329184"/>
          </a:xfrm>
          <a:prstGeom prst="ellipse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5157216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28"/>
          <p:cNvSpPr txBox="1"/>
          <p:nvPr/>
        </p:nvSpPr>
        <p:spPr>
          <a:xfrm>
            <a:off x="5157216" y="4773168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installed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Altivar Process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7077456" y="4846320"/>
            <a:ext cx="201168" cy="256032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296912" y="42976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3F6E8"/>
          </a:solidFill>
          <a:ln w="25400">
            <a:solidFill>
              <a:srgbClr val="3DCD58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406640" y="4389120"/>
            <a:ext cx="329184" cy="329184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74066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7406640" y="4773168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 re-measures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kit, after the fix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9326880" y="4846320"/>
            <a:ext cx="201168" cy="256032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9546336" y="429768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9656064" y="4389120"/>
            <a:ext cx="329184" cy="329184"/>
          </a:xfrm>
          <a:prstGeom prst="ellipse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9656064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3" name="Text 38"/>
          <p:cNvSpPr txBox="1"/>
          <p:nvPr/>
        </p:nvSpPr>
        <p:spPr>
          <a:xfrm>
            <a:off x="9656064" y="4773168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saving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energy management, e.g. EcoStruxure</a:t>
            </a:r>
            <a:endParaRPr lang="en-US" sz="1300" dirty="0"/>
          </a:p>
        </p:txBody>
      </p:sp>
      <p:sp>
        <p:nvSpPr>
          <p:cNvPr id="44" name="Text 39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front door that expands VFD and energy-management adoption into MSMEs that skip audits today. Concept only: no drive or platform integration built.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User Journey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 from clamp-on to a verified saving.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20624" cy="420624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1381110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28016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on  </a:t>
            </a:r>
            <a:pPr indent="0" marL="0">
              <a:buNone/>
            </a:pPr>
            <a:r>
              <a:rPr lang="en-US" sz="115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clamp on the motor cable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773936"/>
            <a:ext cx="420624" cy="420624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1874886"/>
            <a:ext cx="218724" cy="2187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77393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sensors  </a:t>
            </a:r>
            <a:pPr indent="0" marL="0">
              <a:buNone/>
            </a:pPr>
            <a:r>
              <a:rPr lang="en-US" sz="115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on existing gauge ports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267712"/>
            <a:ext cx="420624" cy="420624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2368662"/>
            <a:ext cx="218724" cy="21872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26771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7–14 days  </a:t>
            </a:r>
            <a:pPr indent="0" marL="0">
              <a:buNone/>
            </a:pPr>
            <a:r>
              <a:rPr lang="en-US" sz="115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records power + pressure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2761488"/>
            <a:ext cx="420624" cy="420624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2862438"/>
            <a:ext cx="218724" cy="21872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276148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dashboard  </a:t>
            </a:r>
            <a:pPr indent="0" marL="0">
              <a:buNone/>
            </a:pPr>
            <a:r>
              <a:rPr lang="en-US" sz="115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report by cause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3255264"/>
            <a:ext cx="420624" cy="420624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90" y="3356214"/>
            <a:ext cx="218724" cy="21872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25526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fix  </a:t>
            </a:r>
            <a:pPr indent="0" marL="0">
              <a:buNone/>
            </a:pPr>
            <a:r>
              <a:rPr lang="en-US" sz="115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first; VFD verdict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548640" y="3749040"/>
            <a:ext cx="420624" cy="420624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90" y="3849990"/>
            <a:ext cx="218724" cy="21872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97280" y="37490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Re-measure  </a:t>
            </a:r>
            <a:pPr indent="0" marL="0">
              <a:buNone/>
            </a:pPr>
            <a:r>
              <a:rPr lang="en-US" sz="115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saving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548640" y="4242816"/>
            <a:ext cx="420624" cy="420624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590" y="4343766"/>
            <a:ext cx="218724" cy="21872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97280" y="424281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kit  </a:t>
            </a:r>
            <a:pPr indent="0" marL="0">
              <a:buNone/>
            </a:pPr>
            <a:r>
              <a:rPr lang="en-US" sz="115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pump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548640" y="48463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26" name="Text 17"/>
          <p:cNvSpPr txBox="1"/>
          <p:nvPr/>
        </p:nvSpPr>
        <p:spPr>
          <a:xfrm>
            <a:off x="548640" y="48463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waste by cause</a:t>
            </a:r>
            <a:endParaRPr lang="en-US" sz="1050" dirty="0"/>
          </a:p>
        </p:txBody>
      </p:sp>
      <p:sp>
        <p:nvSpPr>
          <p:cNvPr id="27" name="Shape 18"/>
          <p:cNvSpPr/>
          <p:nvPr/>
        </p:nvSpPr>
        <p:spPr>
          <a:xfrm>
            <a:off x="2194560" y="48463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2194560" y="48463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flow meter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3840480" y="48463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3840480" y="484632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shutdown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548640" y="52120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2" name="Text 23"/>
          <p:cNvSpPr txBox="1"/>
          <p:nvPr/>
        </p:nvSpPr>
        <p:spPr>
          <a:xfrm>
            <a:off x="548640" y="52120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verdict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2194560" y="52120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2194560" y="52120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savings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3840480" y="521208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3840480" y="52120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kit</a:t>
            </a:r>
            <a:endParaRPr lang="en-US" sz="105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669280"/>
            <a:ext cx="658368" cy="658368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1344168" y="57424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dashboard</a:t>
            </a:r>
            <a:endParaRPr lang="en-US" sz="1300" dirty="0"/>
          </a:p>
          <a:p>
            <a:pPr indent="0" marL="0">
              <a:buNone/>
            </a:pPr>
            <a:r>
              <a:rPr lang="en-US" sz="1200" u="sng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https://pumprupee-dashboard.vercel.app/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 · scan the QR code</a:t>
            </a:r>
            <a:endParaRPr lang="en-US" sz="1300" dirty="0"/>
          </a:p>
        </p:txBody>
      </p:sp>
      <p:sp>
        <p:nvSpPr>
          <p:cNvPr id="39" name="Shape 29"/>
          <p:cNvSpPr/>
          <p:nvPr/>
        </p:nvSpPr>
        <p:spPr>
          <a:xfrm>
            <a:off x="5440680" y="1280160"/>
            <a:ext cx="6217920" cy="4133088"/>
          </a:xfrm>
          <a:prstGeom prst="roundRect">
            <a:avLst>
              <a:gd name="adj" fmla="val 1327"/>
            </a:avLst>
          </a:prstGeom>
          <a:solidFill>
            <a:srgbClr val="FFFFFF"/>
          </a:solidFill>
          <a:ln w="19050">
            <a:solidFill>
              <a:srgbClr val="0E5A32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5458968" y="1298448"/>
            <a:ext cx="6181344" cy="228600"/>
          </a:xfrm>
          <a:prstGeom prst="rect">
            <a:avLst/>
          </a:prstGeom>
          <a:solidFill>
            <a:srgbClr val="E3F2E7"/>
          </a:solidFill>
          <a:ln w="12700">
            <a:solidFill>
              <a:srgbClr val="E3F2E7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5550408" y="135331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5696712" y="135331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5843016" y="1353312"/>
            <a:ext cx="91440" cy="91440"/>
          </a:xfrm>
          <a:prstGeom prst="ellipse">
            <a:avLst/>
          </a:prstGeom>
          <a:solidFill>
            <a:srgbClr val="3DCD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6080760" y="1325880"/>
            <a:ext cx="530352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BFE3C8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6080760" y="1325880"/>
            <a:ext cx="5303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pumprupee-dashboard.vercel.app</a:t>
            </a:r>
            <a:endParaRPr lang="en-US" sz="80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58968" y="1527048"/>
            <a:ext cx="6181344" cy="3886200"/>
          </a:xfrm>
          <a:prstGeom prst="rect">
            <a:avLst/>
          </a:prstGeom>
        </p:spPr>
      </p:pic>
      <p:sp>
        <p:nvSpPr>
          <p:cNvPr id="47" name="Shape 36"/>
          <p:cNvSpPr/>
          <p:nvPr/>
        </p:nvSpPr>
        <p:spPr>
          <a:xfrm>
            <a:off x="5660720" y="2651709"/>
            <a:ext cx="1322121" cy="19746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5541848" y="2532837"/>
            <a:ext cx="237744" cy="237744"/>
          </a:xfrm>
          <a:prstGeom prst="ellipse">
            <a:avLst/>
          </a:prstGeom>
          <a:solidFill>
            <a:srgbClr val="E07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38"/>
          <p:cNvSpPr txBox="1"/>
          <p:nvPr/>
        </p:nvSpPr>
        <p:spPr>
          <a:xfrm>
            <a:off x="5541848" y="253283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0" name="Shape 39"/>
          <p:cNvSpPr/>
          <p:nvPr/>
        </p:nvSpPr>
        <p:spPr>
          <a:xfrm>
            <a:off x="10116439" y="2651709"/>
            <a:ext cx="1322121" cy="19746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9997567" y="2532837"/>
            <a:ext cx="237744" cy="237744"/>
          </a:xfrm>
          <a:prstGeom prst="ellipse">
            <a:avLst/>
          </a:prstGeom>
          <a:solidFill>
            <a:srgbClr val="E07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9997567" y="253283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3" name="Shape 42"/>
          <p:cNvSpPr/>
          <p:nvPr/>
        </p:nvSpPr>
        <p:spPr>
          <a:xfrm>
            <a:off x="5669305" y="3321355"/>
            <a:ext cx="5760669" cy="72974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5550433" y="3202483"/>
            <a:ext cx="237744" cy="237744"/>
          </a:xfrm>
          <a:prstGeom prst="ellipse">
            <a:avLst/>
          </a:prstGeom>
          <a:solidFill>
            <a:srgbClr val="E07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44"/>
          <p:cNvSpPr txBox="1"/>
          <p:nvPr/>
        </p:nvSpPr>
        <p:spPr>
          <a:xfrm>
            <a:off x="5550433" y="320248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5440680" y="5458968"/>
            <a:ext cx="3840480" cy="310896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7" name="Text 46"/>
          <p:cNvSpPr txBox="1"/>
          <p:nvPr/>
        </p:nvSpPr>
        <p:spPr>
          <a:xfrm>
            <a:off x="5440680" y="54589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dashboard · simulated data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5440680" y="5806440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9" name="Text 48"/>
          <p:cNvSpPr txBox="1"/>
          <p:nvPr/>
        </p:nvSpPr>
        <p:spPr>
          <a:xfrm>
            <a:off x="5440680" y="58064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0" name="Text 49"/>
          <p:cNvSpPr txBox="1"/>
          <p:nvPr/>
        </p:nvSpPr>
        <p:spPr>
          <a:xfrm>
            <a:off x="5696712" y="57881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saving per year with a VFD (simulated)</a:t>
            </a:r>
            <a:endParaRPr lang="en-US" sz="1100" dirty="0"/>
          </a:p>
        </p:txBody>
      </p:sp>
      <p:sp>
        <p:nvSpPr>
          <p:cNvPr id="61" name="Shape 50"/>
          <p:cNvSpPr/>
          <p:nvPr/>
        </p:nvSpPr>
        <p:spPr>
          <a:xfrm>
            <a:off x="5440680" y="6053328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2" name="Text 51"/>
          <p:cNvSpPr txBox="1"/>
          <p:nvPr/>
        </p:nvSpPr>
        <p:spPr>
          <a:xfrm>
            <a:off x="5440680" y="60533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3" name="Text 52"/>
          <p:cNvSpPr txBox="1"/>
          <p:nvPr/>
        </p:nvSpPr>
        <p:spPr>
          <a:xfrm>
            <a:off x="5696712" y="60350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payback range</a:t>
            </a:r>
            <a:endParaRPr lang="en-US" sz="1100" dirty="0"/>
          </a:p>
        </p:txBody>
      </p:sp>
      <p:sp>
        <p:nvSpPr>
          <p:cNvPr id="64" name="Shape 53"/>
          <p:cNvSpPr/>
          <p:nvPr/>
        </p:nvSpPr>
        <p:spPr>
          <a:xfrm>
            <a:off x="5440680" y="6300216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5" name="Text 54"/>
          <p:cNvSpPr txBox="1"/>
          <p:nvPr/>
        </p:nvSpPr>
        <p:spPr>
          <a:xfrm>
            <a:off x="5440680" y="63002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6" name="Text 55"/>
          <p:cNvSpPr txBox="1"/>
          <p:nvPr/>
        </p:nvSpPr>
        <p:spPr>
          <a:xfrm>
            <a:off x="5696712" y="6281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fix first, with the safe setpoint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3A4A45"/>
          </a:solidFill>
          <a:ln w="12700">
            <a:solidFill>
              <a:srgbClr val="3A4A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05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38912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clamp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47088" y="1170432"/>
            <a:ext cx="219456" cy="219456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100584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03120" y="1005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93392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suction (opt.)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discharge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01568" y="1170432"/>
            <a:ext cx="219456" cy="219456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00584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0" y="1005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valve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47872" y="16002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process side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56048" y="1170432"/>
            <a:ext cx="219456" cy="219456"/>
          </a:xfrm>
          <a:prstGeom prst="rightArrow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00584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1005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103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kit: clamp + P2. Add P3 before a VFD purchase.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468880"/>
            <a:ext cx="896112" cy="566928"/>
          </a:xfrm>
          <a:prstGeom prst="roundRect">
            <a:avLst>
              <a:gd name="adj" fmla="val 9677"/>
            </a:avLst>
          </a:prstGeom>
          <a:solidFill>
            <a:srgbClr val="E3F6E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468880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545336" y="2468880"/>
            <a:ext cx="896112" cy="566928"/>
          </a:xfrm>
          <a:prstGeom prst="roundRect">
            <a:avLst>
              <a:gd name="adj" fmla="val 9677"/>
            </a:avLst>
          </a:prstGeom>
          <a:solidFill>
            <a:srgbClr val="E3F6E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45336" y="2468880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42032" y="2468880"/>
            <a:ext cx="896112" cy="566928"/>
          </a:xfrm>
          <a:prstGeom prst="roundRect">
            <a:avLst>
              <a:gd name="adj" fmla="val 9677"/>
            </a:avLst>
          </a:prstGeom>
          <a:solidFill>
            <a:srgbClr val="E3F6E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42032" y="2468880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flow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38728" y="2468880"/>
            <a:ext cx="896112" cy="566928"/>
          </a:xfrm>
          <a:prstGeom prst="roundRect">
            <a:avLst>
              <a:gd name="adj" fmla="val 9677"/>
            </a:avLst>
          </a:prstGeom>
          <a:solidFill>
            <a:srgbClr val="E3F6E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38728" y="2468880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split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35424" y="2468880"/>
            <a:ext cx="896112" cy="566928"/>
          </a:xfrm>
          <a:prstGeom prst="roundRect">
            <a:avLst>
              <a:gd name="adj" fmla="val 9677"/>
            </a:avLst>
          </a:prstGeom>
          <a:solidFill>
            <a:srgbClr val="E3F6E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35424" y="2468880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CUSUM check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32120" y="2468880"/>
            <a:ext cx="896112" cy="566928"/>
          </a:xfrm>
          <a:prstGeom prst="roundRect">
            <a:avLst>
              <a:gd name="adj" fmla="val 9677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32120" y="2468880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report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108960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= </a:t>
            </a:r>
            <a:pPr indent="0" marL="0">
              <a:buNone/>
            </a:pPr>
            <a:r>
              <a:rPr lang="en-US" sz="105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split of blame between causes.  </a:t>
            </a:r>
            <a:pPr indent="0" marL="0">
              <a:buNone/>
            </a:pPr>
            <a:r>
              <a:rPr lang="en-US" sz="10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CUSUM = </a:t>
            </a:r>
            <a:pPr indent="0" marL="0">
              <a:buNone/>
            </a:pPr>
            <a:r>
              <a:rPr lang="en-US" sz="105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alarm when the pump slowly wears.  </a:t>
            </a:r>
            <a:pPr indent="0" marL="0">
              <a:buNone/>
            </a:pPr>
            <a:r>
              <a:rPr lang="en-US" sz="10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= </a:t>
            </a:r>
            <a:pPr indent="0" marL="0">
              <a:buNone/>
            </a:pPr>
            <a:r>
              <a:rPr lang="en-US" sz="105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units per m³ pumped.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611880"/>
            <a:ext cx="59893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8368" y="365760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Grundfos NB 65-160/157 curves (fit to maker data)</a:t>
            </a:r>
            <a:endParaRPr lang="en-US" sz="12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594360" y="3886200"/>
          <a:ext cx="589788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 txBox="1"/>
          <p:nvPr/>
        </p:nvSpPr>
        <p:spPr>
          <a:xfrm>
            <a:off x="658368" y="59893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 off-peak 61.6 m³/h the throttled pump delivers 31.7 m; the pipe needs 15.4 m. The gap is priced in ₹. Simulated; system curve assumed.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858000" y="1005840"/>
            <a:ext cx="4800600" cy="4014026"/>
          </a:xfrm>
          <a:prstGeom prst="roundRect">
            <a:avLst>
              <a:gd name="adj" fmla="val 1367"/>
            </a:avLst>
          </a:prstGeom>
          <a:solidFill>
            <a:srgbClr val="FFFFFF"/>
          </a:solidFill>
          <a:ln w="19050">
            <a:solidFill>
              <a:srgbClr val="0E5A3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876288" y="1024128"/>
            <a:ext cx="4764024" cy="228600"/>
          </a:xfrm>
          <a:prstGeom prst="rect">
            <a:avLst/>
          </a:prstGeom>
          <a:solidFill>
            <a:srgbClr val="E3F2E7"/>
          </a:solidFill>
          <a:ln w="12700">
            <a:solidFill>
              <a:srgbClr val="E3F2E7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967728" y="107899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114032" y="107899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260336" y="1078992"/>
            <a:ext cx="91440" cy="91440"/>
          </a:xfrm>
          <a:prstGeom prst="ellipse">
            <a:avLst/>
          </a:prstGeom>
          <a:solidFill>
            <a:srgbClr val="3DCD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498080" y="1051560"/>
            <a:ext cx="38862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BFE3C8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98080" y="1051560"/>
            <a:ext cx="3886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pumprupee-dashboard.vercel.app</a:t>
            </a:r>
            <a:endParaRPr lang="en-US" sz="800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1252728"/>
            <a:ext cx="4764024" cy="3767138"/>
          </a:xfrm>
          <a:prstGeom prst="rect">
            <a:avLst/>
          </a:prstGeom>
        </p:spPr>
      </p:pic>
      <p:sp>
        <p:nvSpPr>
          <p:cNvPr id="43" name="Shape 39"/>
          <p:cNvSpPr/>
          <p:nvPr/>
        </p:nvSpPr>
        <p:spPr>
          <a:xfrm>
            <a:off x="7038397" y="1785372"/>
            <a:ext cx="831378" cy="9263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919525" y="1666500"/>
            <a:ext cx="237744" cy="237744"/>
          </a:xfrm>
          <a:prstGeom prst="ellipse">
            <a:avLst/>
          </a:prstGeom>
          <a:solidFill>
            <a:srgbClr val="E07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6919525" y="16665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7038397" y="3346914"/>
            <a:ext cx="1066271" cy="9263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919525" y="3228042"/>
            <a:ext cx="237744" cy="237744"/>
          </a:xfrm>
          <a:prstGeom prst="ellipse">
            <a:avLst/>
          </a:prstGeom>
          <a:solidFill>
            <a:srgbClr val="E07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6919525" y="322804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9785620" y="3340297"/>
            <a:ext cx="721220" cy="92634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9666748" y="3221425"/>
            <a:ext cx="237744" cy="237744"/>
          </a:xfrm>
          <a:prstGeom prst="ellipse">
            <a:avLst/>
          </a:prstGeom>
          <a:solidFill>
            <a:srgbClr val="E07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9666748" y="322142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6858000" y="5065586"/>
            <a:ext cx="3840480" cy="310896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6858000" y="506558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dashboard · simulated data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6858000" y="5413057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858000" y="541305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7114032" y="5394770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 of ESP32 logs (simulated playback)</a:t>
            </a:r>
            <a:endParaRPr lang="en-US" sz="1050" dirty="0"/>
          </a:p>
        </p:txBody>
      </p:sp>
      <p:sp>
        <p:nvSpPr>
          <p:cNvPr id="57" name="Shape 53"/>
          <p:cNvSpPr/>
          <p:nvPr/>
        </p:nvSpPr>
        <p:spPr>
          <a:xfrm>
            <a:off x="6858000" y="5659946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6858000" y="56599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9" name="Text 55"/>
          <p:cNvSpPr txBox="1"/>
          <p:nvPr/>
        </p:nvSpPr>
        <p:spPr>
          <a:xfrm>
            <a:off x="7114032" y="564165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inferred from curve + power + head</a:t>
            </a:r>
            <a:endParaRPr lang="en-US" sz="1050" dirty="0"/>
          </a:p>
        </p:txBody>
      </p:sp>
      <p:sp>
        <p:nvSpPr>
          <p:cNvPr id="60" name="Shape 56"/>
          <p:cNvSpPr/>
          <p:nvPr/>
        </p:nvSpPr>
        <p:spPr>
          <a:xfrm>
            <a:off x="6858000" y="5906833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1" name="Text 57"/>
          <p:cNvSpPr txBox="1"/>
          <p:nvPr/>
        </p:nvSpPr>
        <p:spPr>
          <a:xfrm>
            <a:off x="6858000" y="590683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2" name="Text 58"/>
          <p:cNvSpPr txBox="1"/>
          <p:nvPr/>
        </p:nvSpPr>
        <p:spPr>
          <a:xfrm>
            <a:off x="7114032" y="588854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 vs study mean</a:t>
            </a:r>
            <a:endParaRPr lang="en-US" sz="1050" dirty="0"/>
          </a:p>
        </p:txBody>
      </p:sp>
      <p:sp>
        <p:nvSpPr>
          <p:cNvPr id="63" name="Text 59"/>
          <p:cNvSpPr txBox="1"/>
          <p:nvPr/>
        </p:nvSpPr>
        <p:spPr>
          <a:xfrm>
            <a:off x="6858000" y="615372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±3 points only with a measured system curve; otherwise about ±10.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&amp; Simulated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503920" cy="310896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9611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– Grundfos NB 65-160/157, 11 kW · 10 m lift · 5% margin · 16 h/day · 300 days · ₹8/kWh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5029200" cy="3390138"/>
          </a:xfrm>
          <a:prstGeom prst="roundRect">
            <a:avLst>
              <a:gd name="adj" fmla="val 1618"/>
            </a:avLst>
          </a:prstGeom>
          <a:solidFill>
            <a:srgbClr val="FFFFFF"/>
          </a:solidFill>
          <a:ln w="19050">
            <a:solidFill>
              <a:srgbClr val="0E5A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1298448"/>
            <a:ext cx="4992624" cy="228600"/>
          </a:xfrm>
          <a:prstGeom prst="rect">
            <a:avLst/>
          </a:prstGeom>
          <a:solidFill>
            <a:srgbClr val="E3F2E7"/>
          </a:solidFill>
          <a:ln w="12700">
            <a:solidFill>
              <a:srgbClr val="E3F2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35331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35331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" y="1353312"/>
            <a:ext cx="91440" cy="91440"/>
          </a:xfrm>
          <a:prstGeom prst="ellipse">
            <a:avLst/>
          </a:prstGeom>
          <a:solidFill>
            <a:srgbClr val="3DCD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1325880"/>
            <a:ext cx="4114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BFE3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25880" y="1325880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pumprupee-dashboard.vercel.app</a:t>
            </a:r>
            <a:endParaRPr lang="en-US" sz="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27048"/>
            <a:ext cx="4992624" cy="314325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127806" y="2991551"/>
            <a:ext cx="845295" cy="55473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08934" y="2872679"/>
            <a:ext cx="237744" cy="237744"/>
          </a:xfrm>
          <a:prstGeom prst="ellipse">
            <a:avLst/>
          </a:prstGeom>
          <a:solidFill>
            <a:srgbClr val="E07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8934" y="287267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746089" y="3669716"/>
            <a:ext cx="1787615" cy="97079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27217" y="3550844"/>
            <a:ext cx="237744" cy="237744"/>
          </a:xfrm>
          <a:prstGeom prst="ellipse">
            <a:avLst/>
          </a:prstGeom>
          <a:solidFill>
            <a:srgbClr val="E07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27217" y="35508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73976" y="3641979"/>
            <a:ext cx="2733429" cy="28430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5104" y="3523107"/>
            <a:ext cx="237744" cy="237744"/>
          </a:xfrm>
          <a:prstGeom prst="ellipse">
            <a:avLst/>
          </a:prstGeom>
          <a:solidFill>
            <a:srgbClr val="E07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5104" y="352310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85800" y="4716018"/>
            <a:ext cx="3840480" cy="310896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471601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dashboard · simulated data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400800" y="1280160"/>
            <a:ext cx="5029200" cy="3390138"/>
          </a:xfrm>
          <a:prstGeom prst="roundRect">
            <a:avLst>
              <a:gd name="adj" fmla="val 1618"/>
            </a:avLst>
          </a:prstGeom>
          <a:solidFill>
            <a:srgbClr val="FFFFFF"/>
          </a:solidFill>
          <a:ln w="19050">
            <a:solidFill>
              <a:srgbClr val="0E5A3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19088" y="1298448"/>
            <a:ext cx="4992624" cy="228600"/>
          </a:xfrm>
          <a:prstGeom prst="rect">
            <a:avLst/>
          </a:prstGeom>
          <a:solidFill>
            <a:srgbClr val="E3F2E7"/>
          </a:solidFill>
          <a:ln w="12700">
            <a:solidFill>
              <a:srgbClr val="E3F2E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10528" y="135331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656832" y="135331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803136" y="1353312"/>
            <a:ext cx="91440" cy="91440"/>
          </a:xfrm>
          <a:prstGeom prst="ellipse">
            <a:avLst/>
          </a:prstGeom>
          <a:solidFill>
            <a:srgbClr val="3DCD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040880" y="1325880"/>
            <a:ext cx="411480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BFE3C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40880" y="1325880"/>
            <a:ext cx="4114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pumprupee-dashboard.vercel.app</a:t>
            </a:r>
            <a:endParaRPr lang="en-US" sz="8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527048"/>
            <a:ext cx="4992624" cy="314325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8671294" y="2397290"/>
            <a:ext cx="1635063" cy="20802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552422" y="2278418"/>
            <a:ext cx="237744" cy="237744"/>
          </a:xfrm>
          <a:prstGeom prst="ellipse">
            <a:avLst/>
          </a:prstGeom>
          <a:solidFill>
            <a:srgbClr val="E07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552422" y="227841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8456334" y="2737066"/>
            <a:ext cx="688544" cy="253098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337462" y="2618194"/>
            <a:ext cx="237744" cy="237744"/>
          </a:xfrm>
          <a:prstGeom prst="ellipse">
            <a:avLst/>
          </a:prstGeom>
          <a:solidFill>
            <a:srgbClr val="E07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8337462" y="261819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10617313" y="3083776"/>
            <a:ext cx="624457" cy="104013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0498441" y="2964904"/>
            <a:ext cx="237744" cy="237744"/>
          </a:xfrm>
          <a:prstGeom prst="ellipse">
            <a:avLst/>
          </a:prstGeom>
          <a:solidFill>
            <a:srgbClr val="E07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0498441" y="2964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6400800" y="4716018"/>
            <a:ext cx="3840480" cy="310896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6400800" y="471601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dashboard · simulated data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685800" y="5063490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85800" y="506349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5" name="Text 41"/>
          <p:cNvSpPr txBox="1"/>
          <p:nvPr/>
        </p:nvSpPr>
        <p:spPr>
          <a:xfrm>
            <a:off x="941832" y="504520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is the largest share of waste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685800" y="5264658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685800" y="52646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8" name="Text 44"/>
          <p:cNvSpPr txBox="1"/>
          <p:nvPr/>
        </p:nvSpPr>
        <p:spPr>
          <a:xfrm>
            <a:off x="941832" y="524637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₹/yr attributed to the wrong cause, by sensor tier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685800" y="5465826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685800" y="546582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Text 47"/>
          <p:cNvSpPr txBox="1"/>
          <p:nvPr/>
        </p:nvSpPr>
        <p:spPr>
          <a:xfrm>
            <a:off x="941832" y="544753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share is partly by construction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6400800" y="5063490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6400800" y="506349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4" name="Text 50"/>
          <p:cNvSpPr txBox="1"/>
          <p:nvPr/>
        </p:nvSpPr>
        <p:spPr>
          <a:xfrm>
            <a:off x="6656832" y="504520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verdict for this pump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6400800" y="5264658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6" name="Text 52"/>
          <p:cNvSpPr txBox="1"/>
          <p:nvPr/>
        </p:nvSpPr>
        <p:spPr>
          <a:xfrm>
            <a:off x="6400800" y="526465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7" name="Text 53"/>
          <p:cNvSpPr txBox="1"/>
          <p:nvPr/>
        </p:nvSpPr>
        <p:spPr>
          <a:xfrm>
            <a:off x="6656832" y="524637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 in ₹</a:t>
            </a:r>
            <a:endParaRPr lang="en-US" sz="1000" dirty="0"/>
          </a:p>
        </p:txBody>
      </p:sp>
      <p:sp>
        <p:nvSpPr>
          <p:cNvPr id="58" name="Shape 54"/>
          <p:cNvSpPr/>
          <p:nvPr/>
        </p:nvSpPr>
        <p:spPr>
          <a:xfrm>
            <a:off x="6400800" y="5465826"/>
            <a:ext cx="182880" cy="18288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59" name="Text 55"/>
          <p:cNvSpPr txBox="1"/>
          <p:nvPr/>
        </p:nvSpPr>
        <p:spPr>
          <a:xfrm>
            <a:off x="6400800" y="546582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0" name="Text 56"/>
          <p:cNvSpPr txBox="1"/>
          <p:nvPr/>
        </p:nvSpPr>
        <p:spPr>
          <a:xfrm>
            <a:off x="6656832" y="544753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month</a:t>
            </a:r>
            <a:endParaRPr lang="en-US" sz="1000" dirty="0"/>
          </a:p>
        </p:txBody>
      </p:sp>
      <p:sp>
        <p:nvSpPr>
          <p:cNvPr id="61" name="Shape 57"/>
          <p:cNvSpPr/>
          <p:nvPr/>
        </p:nvSpPr>
        <p:spPr>
          <a:xfrm>
            <a:off x="548640" y="5779008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640080" y="578815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₹69,292 / ₹1,27,178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(constant / proportional)</a:t>
            </a:r>
            <a:endParaRPr lang="en-US" sz="1500" dirty="0"/>
          </a:p>
        </p:txBody>
      </p:sp>
      <p:sp>
        <p:nvSpPr>
          <p:cNvPr id="63" name="Shape 59"/>
          <p:cNvSpPr/>
          <p:nvPr/>
        </p:nvSpPr>
        <p:spPr>
          <a:xfrm>
            <a:off x="3362249" y="5779008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3453689" y="578815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83–93%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waste is the valve</a:t>
            </a:r>
            <a:endParaRPr lang="en-US" sz="1500" dirty="0"/>
          </a:p>
        </p:txBody>
      </p:sp>
      <p:sp>
        <p:nvSpPr>
          <p:cNvPr id="65" name="Shape 61"/>
          <p:cNvSpPr/>
          <p:nvPr/>
        </p:nvSpPr>
        <p:spPr>
          <a:xfrm>
            <a:off x="6175858" y="5779008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6267298" y="578815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4–19 months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payback, oversized pump</a:t>
            </a:r>
            <a:endParaRPr lang="en-US" sz="1500" dirty="0"/>
          </a:p>
        </p:txBody>
      </p:sp>
      <p:sp>
        <p:nvSpPr>
          <p:cNvPr id="67" name="Shape 63"/>
          <p:cNvSpPr/>
          <p:nvPr/>
        </p:nvSpPr>
        <p:spPr>
          <a:xfrm>
            <a:off x="8989466" y="5779008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E3F6E8"/>
          </a:solidFill>
          <a:ln w="19050">
            <a:solidFill>
              <a:srgbClr val="3DCD58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9080906" y="5788152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 / ±10 pts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/ without measured system curve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on proven tools. The new part is the integration for MSMEs.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4480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exists (we build on it)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9164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KSB PumpMeter, US DOE PSAT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Samotics (motor-current efficiency)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Schneider Altivar Process (sensorless flow), EcoStruxure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IoT vendors and ESCOs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 split and CUSUM: known methods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4480560" cy="2194560"/>
          </a:xfrm>
          <a:prstGeom prst="roundRect">
            <a:avLst>
              <a:gd name="adj" fmla="val 3333"/>
            </a:avLst>
          </a:prstGeom>
          <a:solidFill>
            <a:srgbClr val="E3F6E8"/>
          </a:solidFill>
          <a:ln w="31750">
            <a:solidFill>
              <a:srgbClr val="3DCD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657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integration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977640"/>
            <a:ext cx="4206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waste split by cause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the value of an extra sensor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shared kit, no flow meter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before/after verification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Pump-specific VFD verdict before capex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32588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E8EEEA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0" y="1325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0" y="132588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E8EEEA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1325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audit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509760" y="132588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E8EEEA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1325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607040" y="132588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07040" y="13258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PumpRupee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1892808"/>
            <a:ext cx="6355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FD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94960" y="18928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cost, small plant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18928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+ install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18928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per visit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18928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0" y="18928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₹6,100–13,300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03520" y="2377440"/>
            <a:ext cx="6355080" cy="457200"/>
          </a:xfrm>
          <a:prstGeom prst="rect">
            <a:avLst/>
          </a:prstGeom>
          <a:solidFill>
            <a:srgbClr val="EEF4F0"/>
          </a:solidFill>
          <a:ln w="6350">
            <a:solidFill>
              <a:srgbClr val="D3DFD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94960" y="2377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shutdown</a:t>
            </a:r>
            <a:endParaRPr lang="en-US" sz="115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468880"/>
            <a:ext cx="274320" cy="274320"/>
          </a:xfrm>
          <a:prstGeom prst="rect">
            <a:avLst/>
          </a:prstGeom>
        </p:spPr>
      </p:pic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468880"/>
            <a:ext cx="274320" cy="274320"/>
          </a:xfrm>
          <a:prstGeom prst="rect">
            <a:avLst/>
          </a:prstGeom>
        </p:spPr>
      </p:pic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2468880"/>
            <a:ext cx="274320" cy="274320"/>
          </a:xfrm>
          <a:prstGeom prst="rect">
            <a:avLst/>
          </a:prstGeom>
        </p:spPr>
      </p:pic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2468880"/>
            <a:ext cx="274320" cy="274320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5303520" y="2862072"/>
            <a:ext cx="6355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FD7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394960" y="28620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₹</a:t>
            </a:r>
            <a:endParaRPr lang="en-US" sz="115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953512"/>
            <a:ext cx="274320" cy="274320"/>
          </a:xfrm>
          <a:prstGeom prst="rect">
            <a:avLst/>
          </a:prstGeom>
        </p:spPr>
      </p:pic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0" y="2953512"/>
            <a:ext cx="274320" cy="274320"/>
          </a:xfrm>
          <a:prstGeom prst="rect">
            <a:avLst/>
          </a:prstGeom>
        </p:spPr>
      </p:pic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0" y="2953512"/>
            <a:ext cx="274320" cy="274320"/>
          </a:xfrm>
          <a:prstGeom prst="rect">
            <a:avLst/>
          </a:prstGeom>
        </p:spPr>
      </p:pic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0" y="2953512"/>
            <a:ext cx="274320" cy="27432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5303520" y="3346704"/>
            <a:ext cx="6355080" cy="457200"/>
          </a:xfrm>
          <a:prstGeom prst="rect">
            <a:avLst/>
          </a:prstGeom>
          <a:solidFill>
            <a:srgbClr val="EEF4F0"/>
          </a:solidFill>
          <a:ln w="6350">
            <a:solidFill>
              <a:srgbClr val="D3DFD7"/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5394960" y="33467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breakdown</a:t>
            </a:r>
            <a:endParaRPr lang="en-US" sz="115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0960" y="3438144"/>
            <a:ext cx="274320" cy="274320"/>
          </a:xfrm>
          <a:prstGeom prst="rect">
            <a:avLst/>
          </a:prstGeom>
        </p:spPr>
      </p:pic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8240" y="3438144"/>
            <a:ext cx="274320" cy="274320"/>
          </a:xfrm>
          <a:prstGeom prst="rect">
            <a:avLst/>
          </a:prstGeom>
        </p:spPr>
      </p:pic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75520" y="3438144"/>
            <a:ext cx="274320" cy="274320"/>
          </a:xfrm>
          <a:prstGeom prst="rect">
            <a:avLst/>
          </a:prstGeom>
        </p:spPr>
      </p:pic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72800" y="3438144"/>
            <a:ext cx="274320" cy="274320"/>
          </a:xfrm>
          <a:prstGeom prst="rect">
            <a:avLst/>
          </a:prstGeom>
        </p:spPr>
      </p:pic>
      <p:sp>
        <p:nvSpPr>
          <p:cNvPr id="42" name="Shape 28"/>
          <p:cNvSpPr/>
          <p:nvPr/>
        </p:nvSpPr>
        <p:spPr>
          <a:xfrm>
            <a:off x="5303520" y="3831336"/>
            <a:ext cx="6355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FD7"/>
            </a:solidFill>
            <a:prstDash val="solid"/>
          </a:ln>
        </p:spPr>
      </p:sp>
      <p:sp>
        <p:nvSpPr>
          <p:cNvPr id="43" name="Text 29"/>
          <p:cNvSpPr txBox="1"/>
          <p:nvPr/>
        </p:nvSpPr>
        <p:spPr>
          <a:xfrm>
            <a:off x="5394960" y="38313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verdict</a:t>
            </a:r>
            <a:endParaRPr lang="en-US" sz="115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80960" y="3922776"/>
            <a:ext cx="274320" cy="274320"/>
          </a:xfrm>
          <a:prstGeom prst="rect">
            <a:avLst/>
          </a:prstGeom>
        </p:spPr>
      </p:pic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78240" y="3922776"/>
            <a:ext cx="274320" cy="274320"/>
          </a:xfrm>
          <a:prstGeom prst="rect">
            <a:avLst/>
          </a:prstGeom>
        </p:spPr>
      </p:pic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75520" y="3922776"/>
            <a:ext cx="274320" cy="274320"/>
          </a:xfrm>
          <a:prstGeom prst="rect">
            <a:avLst/>
          </a:prstGeom>
        </p:spPr>
      </p:pic>
      <p:pic>
        <p:nvPicPr>
          <p:cNvPr id="4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972800" y="3922776"/>
            <a:ext cx="274320" cy="274320"/>
          </a:xfrm>
          <a:prstGeom prst="rect">
            <a:avLst/>
          </a:prstGeom>
        </p:spPr>
      </p:pic>
      <p:sp>
        <p:nvSpPr>
          <p:cNvPr id="48" name="Shape 30"/>
          <p:cNvSpPr/>
          <p:nvPr/>
        </p:nvSpPr>
        <p:spPr>
          <a:xfrm>
            <a:off x="5303520" y="4315968"/>
            <a:ext cx="6355080" cy="457200"/>
          </a:xfrm>
          <a:prstGeom prst="rect">
            <a:avLst/>
          </a:prstGeom>
          <a:solidFill>
            <a:srgbClr val="EEF4F0"/>
          </a:solidFill>
          <a:ln w="6350">
            <a:solidFill>
              <a:srgbClr val="D3DFD7"/>
            </a:solidFill>
            <a:prstDash val="solid"/>
          </a:ln>
        </p:spPr>
      </p:sp>
      <p:sp>
        <p:nvSpPr>
          <p:cNvPr id="49" name="Text 31"/>
          <p:cNvSpPr txBox="1"/>
          <p:nvPr/>
        </p:nvSpPr>
        <p:spPr>
          <a:xfrm>
            <a:off x="5394960" y="4315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savings</a:t>
            </a:r>
            <a:endParaRPr lang="en-US" sz="1150" dirty="0"/>
          </a:p>
        </p:txBody>
      </p:sp>
      <p:pic>
        <p:nvPicPr>
          <p:cNvPr id="5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80960" y="4407408"/>
            <a:ext cx="274320" cy="274320"/>
          </a:xfrm>
          <a:prstGeom prst="rect">
            <a:avLst/>
          </a:prstGeom>
        </p:spPr>
      </p:pic>
      <p:pic>
        <p:nvPicPr>
          <p:cNvPr id="5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78240" y="4407408"/>
            <a:ext cx="274320" cy="274320"/>
          </a:xfrm>
          <a:prstGeom prst="rect">
            <a:avLst/>
          </a:prstGeom>
        </p:spPr>
      </p:pic>
      <p:pic>
        <p:nvPicPr>
          <p:cNvPr id="5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875520" y="4407408"/>
            <a:ext cx="274320" cy="274320"/>
          </a:xfrm>
          <a:prstGeom prst="rect">
            <a:avLst/>
          </a:prstGeom>
        </p:spPr>
      </p:pic>
      <p:pic>
        <p:nvPicPr>
          <p:cNvPr id="5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72800" y="4407408"/>
            <a:ext cx="274320" cy="274320"/>
          </a:xfrm>
          <a:prstGeom prst="rect">
            <a:avLst/>
          </a:prstGeom>
        </p:spPr>
      </p:pic>
      <p:sp>
        <p:nvSpPr>
          <p:cNvPr id="54" name="Shape 32"/>
          <p:cNvSpPr/>
          <p:nvPr/>
        </p:nvSpPr>
        <p:spPr>
          <a:xfrm>
            <a:off x="5303520" y="4800600"/>
            <a:ext cx="6355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FD7"/>
            </a:solidFill>
            <a:prstDash val="solid"/>
          </a:ln>
        </p:spPr>
      </p:sp>
      <p:sp>
        <p:nvSpPr>
          <p:cNvPr id="55" name="Text 33"/>
          <p:cNvSpPr txBox="1"/>
          <p:nvPr/>
        </p:nvSpPr>
        <p:spPr>
          <a:xfrm>
            <a:off x="5394960" y="4800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small MSMEs</a:t>
            </a:r>
            <a:endParaRPr lang="en-US" sz="1150" dirty="0"/>
          </a:p>
        </p:txBody>
      </p:sp>
      <p:pic>
        <p:nvPicPr>
          <p:cNvPr id="5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80960" y="4892040"/>
            <a:ext cx="274320" cy="274320"/>
          </a:xfrm>
          <a:prstGeom prst="rect">
            <a:avLst/>
          </a:prstGeom>
        </p:spPr>
      </p:pic>
      <p:pic>
        <p:nvPicPr>
          <p:cNvPr id="5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78240" y="4892040"/>
            <a:ext cx="274320" cy="274320"/>
          </a:xfrm>
          <a:prstGeom prst="rect">
            <a:avLst/>
          </a:prstGeom>
        </p:spPr>
      </p:pic>
      <p:pic>
        <p:nvPicPr>
          <p:cNvPr id="58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75520" y="4892040"/>
            <a:ext cx="274320" cy="274320"/>
          </a:xfrm>
          <a:prstGeom prst="rect">
            <a:avLst/>
          </a:prstGeom>
        </p:spPr>
      </p:pic>
      <p:pic>
        <p:nvPicPr>
          <p:cNvPr id="59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972800" y="4892040"/>
            <a:ext cx="274320" cy="274320"/>
          </a:xfrm>
          <a:prstGeom prst="rect">
            <a:avLst/>
          </a:prstGeom>
        </p:spPr>
      </p:pic>
      <p:sp>
        <p:nvSpPr>
          <p:cNvPr id="60" name="Text 34"/>
          <p:cNvSpPr txBox="1"/>
          <p:nvPr/>
        </p:nvSpPr>
        <p:spPr>
          <a:xfrm>
            <a:off x="5303520" y="53035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  ~ partly / varies  ✘ no. Our general assessment; PumpRupee's ticks are design targets (simulated).</a:t>
            </a:r>
            <a:endParaRPr lang="en-US" sz="950" dirty="0"/>
          </a:p>
        </p:txBody>
      </p:sp>
      <p:sp>
        <p:nvSpPr>
          <p:cNvPr id="61" name="Shape 35"/>
          <p:cNvSpPr/>
          <p:nvPr/>
        </p:nvSpPr>
        <p:spPr>
          <a:xfrm>
            <a:off x="548640" y="5897880"/>
            <a:ext cx="11109960" cy="502920"/>
          </a:xfrm>
          <a:prstGeom prst="roundRect">
            <a:avLst>
              <a:gd name="adj" fmla="val 18182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62" name="Text 36"/>
          <p:cNvSpPr txBox="1"/>
          <p:nvPr/>
        </p:nvSpPr>
        <p:spPr>
          <a:xfrm>
            <a:off x="548640" y="589788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no low-cost shared kit that combines these. Full platforms are the next step after PumpRupee.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4937760" cy="310896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961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– per 11 kW pump; prices indicative, not quotes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658368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3560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one-time kit vs a yearly saving (₹)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8288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Kit, one-time and reusable (top tier)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130552"/>
            <a:ext cx="497255" cy="365760"/>
          </a:xfrm>
          <a:prstGeom prst="rect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74495" y="21305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₹13,300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6060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per year, constant pressure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907792"/>
            <a:ext cx="2590661" cy="365760"/>
          </a:xfrm>
          <a:prstGeom prst="rect">
            <a:avLst/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67901" y="29077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₹69,292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3832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per year, proportional pressure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85032"/>
            <a:ext cx="4754880" cy="365760"/>
          </a:xfrm>
          <a:prstGeom prst="rect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32120" y="36850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₹1,27,178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2062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kit ≈ 5–19% of a year's simulated saving on one pump.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1371600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1572768"/>
            <a:ext cx="548640" cy="54864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4034" y="1704442"/>
            <a:ext cx="285293" cy="285293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138160" y="1444752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6.1–11.3 t</a:t>
            </a:r>
            <a:endParaRPr lang="en-US" sz="1800" dirty="0"/>
          </a:p>
          <a:p>
            <a:pPr indent="0" marL="0">
              <a:buNone/>
            </a:pPr>
            <a:r>
              <a:rPr lang="en-US" sz="105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avoided per pump per year (0.710 kg/kWh)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7315200" y="2450592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52360" y="2651760"/>
            <a:ext cx="548640" cy="54864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034" y="2783434"/>
            <a:ext cx="285293" cy="285293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138160" y="2523744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₹50,200–1,09,400</a:t>
            </a:r>
            <a:endParaRPr lang="en-US" sz="1800" dirty="0"/>
          </a:p>
          <a:p>
            <a:pPr indent="0" marL="0">
              <a:buNone/>
            </a:pPr>
            <a:r>
              <a:rPr lang="en-US" sz="105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VFD purchase avoided where it won't pay back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7315200" y="3529584"/>
            <a:ext cx="4343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452360" y="3730752"/>
            <a:ext cx="548640" cy="548640"/>
          </a:xfrm>
          <a:prstGeom prst="ellipse">
            <a:avLst/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034" y="3862426"/>
            <a:ext cx="285293" cy="285293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138160" y="3602736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4–19 months</a:t>
            </a:r>
            <a:endParaRPr lang="en-US" sz="1800" dirty="0"/>
          </a:p>
          <a:p>
            <a:pPr indent="0" marL="0">
              <a:buNone/>
            </a:pPr>
            <a:r>
              <a:rPr lang="en-US" sz="105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payback, oversized pump (2–4+ years if right-sized, high lift)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548640" y="502920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48640" y="50292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plant owners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2560320" y="50292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2560320" y="50292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teams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4297680" y="502920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4297680" y="50292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auditors / ESCOs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492240" y="50292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492240" y="50292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channel partners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8321040" y="502920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0E5A32"/>
          </a:solidFill>
          <a:ln w="12700">
            <a:solidFill>
              <a:srgbClr val="0E5A32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321040" y="50292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industrial efficiency goals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548640" y="5486400"/>
            <a:ext cx="11109960" cy="822960"/>
          </a:xfrm>
          <a:prstGeom prst="roundRect">
            <a:avLst>
              <a:gd name="adj" fmla="val 8889"/>
            </a:avLst>
          </a:prstGeom>
          <a:solidFill>
            <a:srgbClr val="FFF4E5"/>
          </a:solidFill>
          <a:ln w="19050">
            <a:solidFill>
              <a:srgbClr val="E07B00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731520" y="5513832"/>
            <a:ext cx="10789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illustration, not a projection: </a:t>
            </a:r>
            <a:pPr indent="0" marL="0">
              <a:buNone/>
            </a:pPr>
            <a:r>
              <a:rPr lang="en-US" sz="120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N pumps × per-pump saving. For N = 10: ₹6,92,920–12,71,780 per year and 61–113 t CO₂ per year, using the 11 kW base case. The 54–60% saving for heavily oversized pumps is an upper bound only.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done, what is next, and which limit each phase removes.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97280" y="1691640"/>
            <a:ext cx="9966960" cy="0"/>
          </a:xfrm>
          <a:prstGeom prst="line">
            <a:avLst/>
          </a:prstGeom>
          <a:noFill/>
          <a:ln w="38100">
            <a:solidFill>
              <a:srgbClr val="9AA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463040"/>
            <a:ext cx="457200" cy="457200"/>
          </a:xfrm>
          <a:prstGeom prst="ellipse">
            <a:avLst/>
          </a:prstGeom>
          <a:solidFill>
            <a:srgbClr val="3DCD58"/>
          </a:solidFill>
          <a:ln w="25400">
            <a:solidFill>
              <a:srgbClr val="0E5A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2103120" cy="25146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76272"/>
            <a:ext cx="1920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+ dashboard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Grundfos curve fits, stress tests, working web dashboard (simulated data).</a:t>
            </a:r>
            <a:endParaRPr lang="en-US" sz="150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removed: none yet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18795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3DCD58"/>
          </a:solidFill>
          <a:ln w="12700">
            <a:solidFill>
              <a:srgbClr val="3DCD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1879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75304" y="1463040"/>
            <a:ext cx="457200" cy="457200"/>
          </a:xfrm>
          <a:prstGeom prst="ellipse">
            <a:avLst/>
          </a:prstGeom>
          <a:solidFill>
            <a:srgbClr val="F8D9B0"/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7530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98064" y="2103120"/>
            <a:ext cx="2103120" cy="25146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89504" y="2176272"/>
            <a:ext cx="1920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test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pump, ESP32 kit and a reference flow meter.</a:t>
            </a:r>
            <a:endParaRPr lang="en-US" sz="150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flow-inference accuracy, head = discharge − suction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889504" y="418795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8D9B0"/>
          </a:solidFill>
          <a:ln w="12700">
            <a:solidFill>
              <a:srgbClr val="F8D9B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89504" y="41879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24728" y="1463040"/>
            <a:ext cx="457200" cy="457200"/>
          </a:xfrm>
          <a:prstGeom prst="ellipse">
            <a:avLst/>
          </a:prstGeom>
          <a:solidFill>
            <a:srgbClr val="D3DFD7"/>
          </a:solidFill>
          <a:ln w="25400">
            <a:solidFill>
              <a:srgbClr val="5565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47488" y="2103120"/>
            <a:ext cx="2103120" cy="25146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38928" y="2176272"/>
            <a:ext cx="1920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Pilot, 1–2 plants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system curve on site; log 7–14 days.</a:t>
            </a:r>
            <a:endParaRPr lang="en-US" sz="150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±10 → ±3 points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138928" y="418795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3DFD7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38928" y="41879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74152" y="1463040"/>
            <a:ext cx="457200" cy="457200"/>
          </a:xfrm>
          <a:prstGeom prst="ellipse">
            <a:avLst/>
          </a:prstGeom>
          <a:solidFill>
            <a:srgbClr val="D3DFD7"/>
          </a:solidFill>
          <a:ln w="25400">
            <a:solidFill>
              <a:srgbClr val="55655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7415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296912" y="2103120"/>
            <a:ext cx="2103120" cy="25146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88352" y="2176272"/>
            <a:ext cx="1920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forecast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forecast with the measured saving after a fix.</a:t>
            </a:r>
            <a:endParaRPr lang="en-US" sz="150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Removes: optimistic system-curve fit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388352" y="418795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3DFD7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88352" y="41879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323576" y="1463040"/>
            <a:ext cx="457200" cy="457200"/>
          </a:xfrm>
          <a:prstGeom prst="ellipse">
            <a:avLst/>
          </a:prstGeom>
          <a:solidFill>
            <a:srgbClr val="D3DFD7"/>
          </a:solidFill>
          <a:ln w="25400">
            <a:solidFill>
              <a:srgbClr val="55655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2357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546336" y="2103120"/>
            <a:ext cx="2103120" cy="251460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37776" y="2176272"/>
            <a:ext cx="1920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Multi-pump, multi-plant; ESCO and channel use.</a:t>
            </a:r>
            <a:endParaRPr lang="en-US" sz="1500" dirty="0"/>
          </a:p>
          <a:p>
            <a:pPr indent="0" marL="0">
              <a:buNone/>
            </a:pPr>
            <a:r>
              <a:rPr lang="en-US" sz="105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Widens: parallel pumps, drives, NPSH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637776" y="418795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D3DFD7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637776" y="41879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800600"/>
            <a:ext cx="11109960" cy="1554480"/>
          </a:xfrm>
          <a:prstGeom prst="roundRect">
            <a:avLst>
              <a:gd name="adj" fmla="val 4706"/>
            </a:avLst>
          </a:prstGeom>
          <a:solidFill>
            <a:srgbClr val="FFF4E5"/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4846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 we validate next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77240" y="516636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and software prototype only: no lab or field data, no real quotes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±3 points only with a measured system curve; otherwise about ±10; the curve fit is optimistic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pump, steady state. Out of scope: parallel pumps, closed loops, pumps already on drives, min-flow/NPSH, control dynamics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ANS_4X · Schneider Electric Yuva Yodha 2026 · Smart Manufacturing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1554480"/>
            <a:ext cx="1280160" cy="1280160"/>
          </a:xfrm>
          <a:prstGeom prst="ellipse">
            <a:avLst/>
          </a:prstGeom>
          <a:solidFill>
            <a:srgbClr val="E3F6E8"/>
          </a:solidFill>
          <a:ln w="25400">
            <a:solidFill>
              <a:srgbClr val="3DCD5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5544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7180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Akshaya V G</a:t>
            </a:r>
            <a:endParaRPr lang="en-US" sz="1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&amp; Software/Dashboard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and the PumpRupee web dashboard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62249" y="137160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48049" y="1554480"/>
            <a:ext cx="1280160" cy="1280160"/>
          </a:xfrm>
          <a:prstGeom prst="ellipse">
            <a:avLst/>
          </a:prstGeom>
          <a:solidFill>
            <a:srgbClr val="E3F6E8"/>
          </a:solidFill>
          <a:ln w="25400">
            <a:solidFill>
              <a:srgbClr val="3DCD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48049" y="15544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99409" y="297180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Adithyaa J</a:t>
            </a:r>
            <a:endParaRPr lang="en-US" sz="1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Hardware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logger, power clamp and pressure-sensor integration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75858" y="137160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61658" y="1554480"/>
            <a:ext cx="1280160" cy="1280160"/>
          </a:xfrm>
          <a:prstGeom prst="ellipse">
            <a:avLst/>
          </a:prstGeom>
          <a:solidFill>
            <a:srgbClr val="E3F6E8"/>
          </a:solidFill>
          <a:ln w="25400">
            <a:solidFill>
              <a:srgbClr val="3DCD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61658" y="15544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13018" y="297180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Nikilaesh B</a:t>
            </a:r>
            <a:endParaRPr lang="en-US" sz="1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Analytics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hydraulics model, Shapley waste split and VFD payback logic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89466" y="137160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3DF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75266" y="1554480"/>
            <a:ext cx="1280160" cy="1280160"/>
          </a:xfrm>
          <a:prstGeom prst="ellipse">
            <a:avLst/>
          </a:prstGeom>
          <a:solidFill>
            <a:srgbClr val="E3F6E8"/>
          </a:solidFill>
          <a:ln w="25400">
            <a:solidFill>
              <a:srgbClr val="3DCD5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75266" y="15544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26626" y="2971800"/>
            <a:ext cx="23774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6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Siva Subramaniam S</a:t>
            </a:r>
            <a:endParaRPr lang="en-US" sz="18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Validation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Pump-curve simulation, CUSUM wear-drift testing, pilot and roadmap planning</a:t>
            </a:r>
            <a:endParaRPr lang="en-US" sz="18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120640"/>
            <a:ext cx="1005840" cy="100584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691640" y="519379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dashboard</a:t>
            </a:r>
            <a:endParaRPr lang="en-US" sz="1300" dirty="0"/>
          </a:p>
          <a:p>
            <a:pPr indent="0" marL="0">
              <a:buNone/>
            </a:pPr>
            <a:r>
              <a:rPr lang="en-US" sz="1200" u="sng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https://pumprupee-dashboard.vercel.app/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5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 · scan the QR code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852160" y="5257800"/>
            <a:ext cx="5806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kit. Clever inference. Answers in rupees.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55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PumpRupee - Schneider Electric Yuva Yodha 2026 - Team ANS_4X</dc:title>
  <dc:subject>PptxGenJS Presentation</dc:subject>
  <dc:creator>ANS_4X</dc:creator>
  <cp:lastModifiedBy>ANS_4X</cp:lastModifiedBy>
  <cp:revision>1</cp:revision>
  <dcterms:created xsi:type="dcterms:W3CDTF">2026-10-03T16:29:15Z</dcterms:created>
  <dcterms:modified xsi:type="dcterms:W3CDTF">2026-10-03T16:29:15Z</dcterms:modified>
</cp:coreProperties>
</file>