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the live dashboard from the QR code. Simulated data throughout. One sentence: PumpRupee tells an MSME owner how many rupees a pump wastes, why, and whether a VFD will pay back for that pump, using a cheap clamp-on kit and no flow meter.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Anchor on the owner being blind. The 30-40% figure is an audit practitioner's report about ultrasonic meters, not our measurement.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dashboard shown is the working prototype with simulated data. The kit is clamp-on: no pipe cutting, no shutdown. It never controls the pump.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Schneider products are named only as the natural next step after an audit. Say it positively: PumpRupee finds which pumps justify an Altivar-class drive.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numbered callouts on the dashboard: 1 the rupee saving, 2 the payback range, 3 the cheapest-fix-first order. Everything shown is simulated.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Calibration: two scale factors (head, power) are fitted from 7-14 days of logs by profile likelihood; no flow meter. The system curve is the biggest error source, which is why the optional P3 sensor exists.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Screenshots are from the working prototype dashboard, simulated data. Forecast error: 1.4 points with a process-side sensor vs 10.5 points without, under stress. A +/-30% flow reading is worse than no calibration.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Never say 'none exists'. Altivar Process does sensorless flow inside the drive after it is bought; PumpRupee helps decide which pumps deserve one and verifies the saving.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5-19% = 6,100/127,178 = 4.8% up to 13,300/69,292 = 19.2%. N=10 is arithmetic, not a forecast.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Lead with 'done' and 'next'. Ask: a pilot plant and a reference flow meter.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number traces to the Grundfos readouts, the CEA factor, indicative online prices, or our own simulation scripts. Close with the key message and the live link.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6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PumpRupee  |  Team ANS_4X  |  Yuva Yodha 2026, Smart Manufacturing  |  All results simulated; prices indicative, not quotes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55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F6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55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pumprupee-dashboard.vercel.app/" TargetMode="External"/><Relationship Id="rId1" Type="http://schemas.openxmlformats.org/officeDocument/2006/relationships/image" Target="../media/image-1-1.png"/><Relationship Id="rId3" Type="http://schemas.openxmlformats.org/officeDocument/2006/relationships/image" Target="../media/image-1-2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9" Type="http://schemas.openxmlformats.org/officeDocument/2006/relationships/hyperlink" Target="https://pumprupee-dashboard.vercel.app/" TargetMode="External"/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10" Type="http://schemas.openxmlformats.org/officeDocument/2006/relationships/image" Target="../media/image-5-9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image" Target="../media/image-8-9.png"/><Relationship Id="rId10" Type="http://schemas.openxmlformats.org/officeDocument/2006/relationships/image" Target="../media/image-8-10.png"/><Relationship Id="rId11" Type="http://schemas.openxmlformats.org/officeDocument/2006/relationships/image" Target="../media/image-8-11.png"/><Relationship Id="rId12" Type="http://schemas.openxmlformats.org/officeDocument/2006/relationships/image" Target="../media/image-8-12.png"/><Relationship Id="rId13" Type="http://schemas.openxmlformats.org/officeDocument/2006/relationships/image" Target="../media/image-8-13.png"/><Relationship Id="rId14" Type="http://schemas.openxmlformats.org/officeDocument/2006/relationships/image" Target="../media/image-8-14.png"/><Relationship Id="rId15" Type="http://schemas.openxmlformats.org/officeDocument/2006/relationships/image" Target="../media/image-8-15.png"/><Relationship Id="rId16" Type="http://schemas.openxmlformats.org/officeDocument/2006/relationships/image" Target="../media/image-8-16.png"/><Relationship Id="rId17" Type="http://schemas.openxmlformats.org/officeDocument/2006/relationships/image" Target="../media/image-8-17.png"/><Relationship Id="rId18" Type="http://schemas.openxmlformats.org/officeDocument/2006/relationships/image" Target="../media/image-8-18.png"/><Relationship Id="rId19" Type="http://schemas.openxmlformats.org/officeDocument/2006/relationships/image" Target="../media/image-8-19.png"/><Relationship Id="rId20" Type="http://schemas.openxmlformats.org/officeDocument/2006/relationships/image" Target="../media/image-8-20.png"/><Relationship Id="rId21" Type="http://schemas.openxmlformats.org/officeDocument/2006/relationships/image" Target="../media/image-8-21.png"/><Relationship Id="rId22" Type="http://schemas.openxmlformats.org/officeDocument/2006/relationships/image" Target="../media/image-8-22.png"/><Relationship Id="rId23" Type="http://schemas.openxmlformats.org/officeDocument/2006/relationships/image" Target="../media/image-8-23.png"/><Relationship Id="rId24" Type="http://schemas.openxmlformats.org/officeDocument/2006/relationships/image" Target="../media/image-8-24.png"/><Relationship Id="rId25" Type="http://schemas.openxmlformats.org/officeDocument/2006/relationships/slideLayout" Target="../slideLayouts/slideLayout2.xml"/><Relationship Id="rId2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6" Type="http://schemas.openxmlformats.org/officeDocument/2006/relationships/hyperlink" Target="https://pumprupee-dashboard.vercel.app/" TargetMode="External"/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5303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PumpRupee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645920"/>
            <a:ext cx="5120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the rupees your pumps waste, before you buy a VFD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640080" y="3017520"/>
            <a:ext cx="1554480" cy="310896"/>
          </a:xfrm>
          <a:prstGeom prst="roundRect">
            <a:avLst>
              <a:gd name="adj" fmla="val 50000"/>
            </a:avLst>
          </a:prstGeom>
          <a:solidFill>
            <a:srgbClr val="0E5A32"/>
          </a:solidFill>
          <a:ln w="12700">
            <a:solidFill>
              <a:srgbClr val="0E5A3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3017520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flow meter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286000" y="3017520"/>
            <a:ext cx="1371600" cy="310896"/>
          </a:xfrm>
          <a:prstGeom prst="roundRect">
            <a:avLst>
              <a:gd name="adj" fmla="val 50000"/>
            </a:avLst>
          </a:prstGeom>
          <a:solidFill>
            <a:srgbClr val="0E5A32"/>
          </a:solidFill>
          <a:ln w="12700">
            <a:solidFill>
              <a:srgbClr val="0E5A3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286000" y="3017520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shutdown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749040" y="3017520"/>
            <a:ext cx="1920240" cy="310896"/>
          </a:xfrm>
          <a:prstGeom prst="roundRect">
            <a:avLst>
              <a:gd name="adj" fmla="val 50000"/>
            </a:avLst>
          </a:prstGeom>
          <a:solidFill>
            <a:srgbClr val="0E5A32"/>
          </a:solidFill>
          <a:ln w="12700">
            <a:solidFill>
              <a:srgbClr val="0E5A3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49040" y="3017520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 waste by cause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365760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ANS_4X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406908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Schneider Electric Yuva Yodha Energy Tech Hackathon 2026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452628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Track: Smart Manufacturing  ·  Electrify · Automate · Digitalise</a:t>
            </a:r>
            <a:endParaRPr lang="en-US" sz="1200" dirty="0"/>
          </a:p>
        </p:txBody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120640"/>
            <a:ext cx="868680" cy="8686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1645920" y="5193792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prototype dashboard</a:t>
            </a:r>
            <a:endParaRPr lang="en-US" sz="1300" dirty="0"/>
          </a:p>
          <a:p>
            <a:pPr indent="0" marL="0">
              <a:buNone/>
            </a:pPr>
            <a:r>
              <a:rPr lang="en-US" sz="1200" u="sng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https://pumprupee-dashboard.vercel.app/</a:t>
            </a:r>
            <a:endParaRPr lang="en-US" sz="1300" dirty="0"/>
          </a:p>
          <a:p>
            <a:pPr indent="0" marL="0">
              <a:buNone/>
            </a:pPr>
            <a:r>
              <a:rPr lang="en-US" sz="100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Simulated data · scan the QR code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6172200" y="1143000"/>
            <a:ext cx="5486400" cy="3675888"/>
          </a:xfrm>
          <a:prstGeom prst="roundRect">
            <a:avLst>
              <a:gd name="adj" fmla="val 1493"/>
            </a:avLst>
          </a:prstGeom>
          <a:solidFill>
            <a:srgbClr val="FFFFFF"/>
          </a:solidFill>
          <a:ln w="19050">
            <a:solidFill>
              <a:srgbClr val="0E5A32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190488" y="1161288"/>
            <a:ext cx="5449824" cy="228600"/>
          </a:xfrm>
          <a:prstGeom prst="rect">
            <a:avLst/>
          </a:prstGeom>
          <a:solidFill>
            <a:srgbClr val="E3F2E7"/>
          </a:solidFill>
          <a:ln w="12700">
            <a:solidFill>
              <a:srgbClr val="E3F2E7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281928" y="1216152"/>
            <a:ext cx="91440" cy="91440"/>
          </a:xfrm>
          <a:prstGeom prst="ellipse">
            <a:avLst/>
          </a:prstGeom>
          <a:solidFill>
            <a:srgbClr val="EF444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428232" y="1216152"/>
            <a:ext cx="91440" cy="9144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574536" y="1216152"/>
            <a:ext cx="91440" cy="91440"/>
          </a:xfrm>
          <a:prstGeom prst="ellipse">
            <a:avLst/>
          </a:prstGeom>
          <a:solidFill>
            <a:srgbClr val="3DCD5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812280" y="1188720"/>
            <a:ext cx="4572000" cy="155448"/>
          </a:xfrm>
          <a:prstGeom prst="roundRect">
            <a:avLst>
              <a:gd name="adj" fmla="val 47059"/>
            </a:avLst>
          </a:prstGeom>
          <a:solidFill>
            <a:srgbClr val="FFFFFF"/>
          </a:solidFill>
          <a:ln w="6350">
            <a:solidFill>
              <a:srgbClr val="BFE3C8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812280" y="1188720"/>
            <a:ext cx="45720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pumprupee-dashboard.vercel.app</a:t>
            </a:r>
            <a:endParaRPr lang="en-US" sz="800" dirty="0"/>
          </a:p>
        </p:txBody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0488" y="1389888"/>
            <a:ext cx="5449824" cy="3429000"/>
          </a:xfrm>
          <a:prstGeom prst="rect">
            <a:avLst/>
          </a:prstGeom>
        </p:spPr>
      </p:pic>
      <p:sp>
        <p:nvSpPr>
          <p:cNvPr id="23" name="Shape 19"/>
          <p:cNvSpPr/>
          <p:nvPr/>
        </p:nvSpPr>
        <p:spPr>
          <a:xfrm>
            <a:off x="6172200" y="4864608"/>
            <a:ext cx="3840480" cy="310896"/>
          </a:xfrm>
          <a:prstGeom prst="roundRect">
            <a:avLst>
              <a:gd name="adj" fmla="val 50000"/>
            </a:avLst>
          </a:prstGeom>
          <a:solidFill>
            <a:srgbClr val="E07B00"/>
          </a:solidFill>
          <a:ln w="12700">
            <a:solidFill>
              <a:srgbClr val="E07B00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172200" y="4864608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prototype dashboard · simulated data</a:t>
            </a:r>
            <a:endParaRPr lang="en-US" sz="1000" dirty="0"/>
          </a:p>
        </p:txBody>
      </p:sp>
      <p:sp>
        <p:nvSpPr>
          <p:cNvPr id="25" name="Text 21"/>
          <p:cNvSpPr txBox="1"/>
          <p:nvPr/>
        </p:nvSpPr>
        <p:spPr>
          <a:xfrm>
            <a:off x="6172200" y="54406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results are simulated (Grundfos NB 65-160/157, 11 kW). Prices are indicative, not quotes.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Oversized pumps run throttled. The extra energy is burnt across a valve, every hour, and nobody sees it.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233172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D3DFD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508760"/>
            <a:ext cx="566928" cy="566928"/>
          </a:xfrm>
          <a:prstGeom prst="ellipse">
            <a:avLst/>
          </a:prstGeom>
          <a:solidFill>
            <a:srgbClr val="0E5A32"/>
          </a:solidFill>
          <a:ln w="12700">
            <a:solidFill>
              <a:srgbClr val="0E5A32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1863" y="1644823"/>
            <a:ext cx="294803" cy="29480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85800" y="2176272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Oversized pump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Sized above the real duty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2971800" y="2011680"/>
            <a:ext cx="411480" cy="292608"/>
          </a:xfrm>
          <a:prstGeom prst="rightArrow">
            <a:avLst/>
          </a:prstGeom>
          <a:solidFill>
            <a:srgbClr val="3DCD58"/>
          </a:solidFill>
          <a:ln w="12700">
            <a:solidFill>
              <a:srgbClr val="3DCD58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465576" y="1371600"/>
            <a:ext cx="233172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D3DFD7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602736" y="1508760"/>
            <a:ext cx="566928" cy="566928"/>
          </a:xfrm>
          <a:prstGeom prst="ellipse">
            <a:avLst/>
          </a:prstGeom>
          <a:solidFill>
            <a:srgbClr val="0E5A32"/>
          </a:solidFill>
          <a:ln w="12700">
            <a:solidFill>
              <a:srgbClr val="0E5A32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38799" y="1644823"/>
            <a:ext cx="294803" cy="294803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602736" y="2176272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Valve half shut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Throttled to hold flow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5888736" y="2011680"/>
            <a:ext cx="411480" cy="292608"/>
          </a:xfrm>
          <a:prstGeom prst="rightArrow">
            <a:avLst/>
          </a:prstGeom>
          <a:solidFill>
            <a:srgbClr val="3DCD58"/>
          </a:solidFill>
          <a:ln w="12700">
            <a:solidFill>
              <a:srgbClr val="3DCD58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6382512" y="1371600"/>
            <a:ext cx="233172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D3DFD7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6519672" y="1508760"/>
            <a:ext cx="566928" cy="566928"/>
          </a:xfrm>
          <a:prstGeom prst="ellipse">
            <a:avLst/>
          </a:prstGeom>
          <a:solidFill>
            <a:srgbClr val="0E5A32"/>
          </a:solidFill>
          <a:ln w="12700">
            <a:solidFill>
              <a:srgbClr val="0E5A32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5735" y="1644823"/>
            <a:ext cx="294803" cy="294803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6519672" y="2176272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lost as heat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 burnt in the valve</a:t>
            </a:r>
            <a:endParaRPr lang="en-US" sz="1600" dirty="0"/>
          </a:p>
        </p:txBody>
      </p:sp>
      <p:sp>
        <p:nvSpPr>
          <p:cNvPr id="18" name="Shape 13"/>
          <p:cNvSpPr/>
          <p:nvPr/>
        </p:nvSpPr>
        <p:spPr>
          <a:xfrm>
            <a:off x="8805672" y="2011680"/>
            <a:ext cx="411480" cy="292608"/>
          </a:xfrm>
          <a:prstGeom prst="rightArrow">
            <a:avLst/>
          </a:prstGeom>
          <a:solidFill>
            <a:srgbClr val="3DCD58"/>
          </a:solidFill>
          <a:ln w="12700">
            <a:solidFill>
              <a:srgbClr val="3DCD58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9299448" y="1371600"/>
            <a:ext cx="233172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D3DFD7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9436608" y="1508760"/>
            <a:ext cx="566928" cy="566928"/>
          </a:xfrm>
          <a:prstGeom prst="ellipse">
            <a:avLst/>
          </a:prstGeom>
          <a:solidFill>
            <a:srgbClr val="E07B00"/>
          </a:solidFill>
          <a:ln w="12700">
            <a:solidFill>
              <a:srgbClr val="E07B00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72671" y="1644823"/>
            <a:ext cx="294803" cy="294803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9436608" y="2176272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 leaking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every bill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548640" y="31546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pay for the pump AND for fighting the valve.</a:t>
            </a:r>
            <a:endParaRPr lang="en-US" sz="2200" dirty="0"/>
          </a:p>
        </p:txBody>
      </p:sp>
      <p:sp>
        <p:nvSpPr>
          <p:cNvPr id="24" name="Shape 18"/>
          <p:cNvSpPr/>
          <p:nvPr/>
        </p:nvSpPr>
        <p:spPr>
          <a:xfrm>
            <a:off x="548640" y="3794760"/>
            <a:ext cx="361188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3DFD7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731520" y="3931920"/>
            <a:ext cx="502920" cy="502920"/>
          </a:xfrm>
          <a:prstGeom prst="ellipse">
            <a:avLst/>
          </a:prstGeom>
          <a:solidFill>
            <a:srgbClr val="0E5A32"/>
          </a:solidFill>
          <a:ln w="12700">
            <a:solidFill>
              <a:srgbClr val="0E5A32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2221" y="4052621"/>
            <a:ext cx="261518" cy="261518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371600" y="393192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Oversizing is common</a:t>
            </a:r>
            <a:endParaRPr lang="en-US" sz="1600" dirty="0"/>
          </a:p>
        </p:txBody>
      </p:sp>
      <p:sp>
        <p:nvSpPr>
          <p:cNvPr id="28" name="Text 21"/>
          <p:cNvSpPr txBox="1"/>
          <p:nvPr/>
        </p:nvSpPr>
        <p:spPr>
          <a:xfrm>
            <a:off x="731520" y="4572000"/>
            <a:ext cx="3246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energy-audit practitioner: wrong sizing leading to throttling is the most common cause.</a:t>
            </a:r>
            <a:endParaRPr lang="en-US" sz="1300" dirty="0"/>
          </a:p>
        </p:txBody>
      </p:sp>
      <p:sp>
        <p:nvSpPr>
          <p:cNvPr id="29" name="Shape 22"/>
          <p:cNvSpPr/>
          <p:nvPr/>
        </p:nvSpPr>
        <p:spPr>
          <a:xfrm>
            <a:off x="4297680" y="3794760"/>
            <a:ext cx="361188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3DFD7"/>
            </a:solidFill>
            <a:prstDash val="solid"/>
          </a:ln>
        </p:spPr>
      </p:sp>
      <p:sp>
        <p:nvSpPr>
          <p:cNvPr id="30" name="Shape 23"/>
          <p:cNvSpPr/>
          <p:nvPr/>
        </p:nvSpPr>
        <p:spPr>
          <a:xfrm>
            <a:off x="4480560" y="3931920"/>
            <a:ext cx="502920" cy="502920"/>
          </a:xfrm>
          <a:prstGeom prst="ellipse">
            <a:avLst/>
          </a:prstGeom>
          <a:solidFill>
            <a:srgbClr val="0E5A32"/>
          </a:solidFill>
          <a:ln w="12700">
            <a:solidFill>
              <a:srgbClr val="0E5A32"/>
            </a:solidFill>
            <a:prstDash val="solid"/>
          </a:ln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01261" y="4052621"/>
            <a:ext cx="261518" cy="261518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5120640" y="393192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 is hard to measure</a:t>
            </a:r>
            <a:endParaRPr lang="en-US" sz="1600" dirty="0"/>
          </a:p>
        </p:txBody>
      </p:sp>
      <p:sp>
        <p:nvSpPr>
          <p:cNvPr id="33" name="Text 25"/>
          <p:cNvSpPr txBox="1"/>
          <p:nvPr/>
        </p:nvSpPr>
        <p:spPr>
          <a:xfrm>
            <a:off x="4480560" y="4572000"/>
            <a:ext cx="3246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Ultrasonic meters: 30–40% of readings go wrong (practitioner report). Pressure and power are easy.</a:t>
            </a:r>
            <a:endParaRPr lang="en-US" sz="1300" dirty="0"/>
          </a:p>
        </p:txBody>
      </p:sp>
      <p:sp>
        <p:nvSpPr>
          <p:cNvPr id="34" name="Shape 26"/>
          <p:cNvSpPr/>
          <p:nvPr/>
        </p:nvSpPr>
        <p:spPr>
          <a:xfrm>
            <a:off x="8046720" y="3794760"/>
            <a:ext cx="361188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3DFD7"/>
            </a:solidFill>
            <a:prstDash val="solid"/>
          </a:ln>
        </p:spPr>
      </p:sp>
      <p:sp>
        <p:nvSpPr>
          <p:cNvPr id="35" name="Shape 27"/>
          <p:cNvSpPr/>
          <p:nvPr/>
        </p:nvSpPr>
        <p:spPr>
          <a:xfrm>
            <a:off x="8229600" y="3931920"/>
            <a:ext cx="502920" cy="502920"/>
          </a:xfrm>
          <a:prstGeom prst="ellipse">
            <a:avLst/>
          </a:prstGeom>
          <a:solidFill>
            <a:srgbClr val="0E5A32"/>
          </a:solidFill>
          <a:ln w="12700">
            <a:solidFill>
              <a:srgbClr val="0E5A32"/>
            </a:solidFill>
            <a:prstDash val="solid"/>
          </a:ln>
        </p:spPr>
      </p:sp>
      <p:pic>
        <p:nvPicPr>
          <p:cNvPr id="36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50301" y="4052621"/>
            <a:ext cx="261518" cy="261518"/>
          </a:xfrm>
          <a:prstGeom prst="rect">
            <a:avLst/>
          </a:prstGeom>
        </p:spPr>
      </p:pic>
      <p:sp>
        <p:nvSpPr>
          <p:cNvPr id="37" name="Text 28"/>
          <p:cNvSpPr txBox="1"/>
          <p:nvPr/>
        </p:nvSpPr>
        <p:spPr>
          <a:xfrm>
            <a:off x="8869680" y="393192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Audits miss small plants</a:t>
            </a:r>
            <a:endParaRPr lang="en-US" sz="1600" dirty="0"/>
          </a:p>
        </p:txBody>
      </p:sp>
      <p:sp>
        <p:nvSpPr>
          <p:cNvPr id="38" name="Text 29"/>
          <p:cNvSpPr txBox="1"/>
          <p:nvPr/>
        </p:nvSpPr>
        <p:spPr>
          <a:xfrm>
            <a:off x="8229600" y="4572000"/>
            <a:ext cx="3246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audits are a poor fit for small plants; very small plants rarely prioritise this.</a:t>
            </a:r>
            <a:endParaRPr lang="en-US" sz="1300" dirty="0"/>
          </a:p>
        </p:txBody>
      </p:sp>
      <p:sp>
        <p:nvSpPr>
          <p:cNvPr id="39" name="Text 30"/>
          <p:cNvSpPr txBox="1"/>
          <p:nvPr/>
        </p:nvSpPr>
        <p:spPr>
          <a:xfrm>
            <a:off x="548640" y="58521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 (pressure) and electrical power are cheap to measure. Flow is not. PumpRupee infers flow from the two that are.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55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Solution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clamp-on kit and a web dashboard turn power + pressure into “₹ wasted per year, and why”.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16890" y="4360774"/>
            <a:ext cx="4707331" cy="213970"/>
          </a:xfrm>
          <a:prstGeom prst="rect">
            <a:avLst/>
          </a:prstGeom>
          <a:solidFill>
            <a:srgbClr val="9AA5A0"/>
          </a:solidFill>
          <a:ln w="12700">
            <a:solidFill>
              <a:srgbClr val="9AA5A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30859" y="3255264"/>
            <a:ext cx="1711757" cy="1105510"/>
          </a:xfrm>
          <a:prstGeom prst="roundRect">
            <a:avLst>
              <a:gd name="adj" fmla="val 8271"/>
            </a:avLst>
          </a:prstGeom>
          <a:solidFill>
            <a:srgbClr val="3A4A45"/>
          </a:solidFill>
          <a:ln w="12700">
            <a:solidFill>
              <a:srgbClr val="3A4A4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9167" y="3326587"/>
            <a:ext cx="85588" cy="962863"/>
          </a:xfrm>
          <a:prstGeom prst="rect">
            <a:avLst/>
          </a:prstGeom>
          <a:solidFill>
            <a:srgbClr val="55675F"/>
          </a:solidFill>
          <a:ln w="12700">
            <a:solidFill>
              <a:srgbClr val="55675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344534" y="3326587"/>
            <a:ext cx="85588" cy="962863"/>
          </a:xfrm>
          <a:prstGeom prst="rect">
            <a:avLst/>
          </a:prstGeom>
          <a:solidFill>
            <a:srgbClr val="55675F"/>
          </a:solidFill>
          <a:ln w="12700">
            <a:solidFill>
              <a:srgbClr val="55675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579900" y="3326587"/>
            <a:ext cx="85588" cy="962863"/>
          </a:xfrm>
          <a:prstGeom prst="rect">
            <a:avLst/>
          </a:prstGeom>
          <a:solidFill>
            <a:srgbClr val="55675F"/>
          </a:solidFill>
          <a:ln w="12700">
            <a:solidFill>
              <a:srgbClr val="55675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815267" y="3326587"/>
            <a:ext cx="85588" cy="962863"/>
          </a:xfrm>
          <a:prstGeom prst="rect">
            <a:avLst/>
          </a:prstGeom>
          <a:solidFill>
            <a:srgbClr val="55675F"/>
          </a:solidFill>
          <a:ln w="12700">
            <a:solidFill>
              <a:srgbClr val="55675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0633" y="3326587"/>
            <a:ext cx="85588" cy="962863"/>
          </a:xfrm>
          <a:prstGeom prst="rect">
            <a:avLst/>
          </a:prstGeom>
          <a:solidFill>
            <a:srgbClr val="55675F"/>
          </a:solidFill>
          <a:ln w="12700">
            <a:solidFill>
              <a:srgbClr val="55675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286000" y="3326587"/>
            <a:ext cx="85588" cy="962863"/>
          </a:xfrm>
          <a:prstGeom prst="rect">
            <a:avLst/>
          </a:prstGeom>
          <a:solidFill>
            <a:srgbClr val="55675F"/>
          </a:solidFill>
          <a:ln w="12700">
            <a:solidFill>
              <a:srgbClr val="55675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42616" y="3683203"/>
            <a:ext cx="320954" cy="285293"/>
          </a:xfrm>
          <a:prstGeom prst="rect">
            <a:avLst/>
          </a:prstGeom>
          <a:solidFill>
            <a:srgbClr val="7C8A84"/>
          </a:solidFill>
          <a:ln w="12700">
            <a:solidFill>
              <a:srgbClr val="7C8A8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27909" y="3183941"/>
            <a:ext cx="1141171" cy="1141171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391510" y="2185416"/>
            <a:ext cx="213970" cy="1069848"/>
          </a:xfrm>
          <a:prstGeom prst="rect">
            <a:avLst/>
          </a:prstGeom>
          <a:solidFill>
            <a:srgbClr val="B0BEC5"/>
          </a:solidFill>
          <a:ln w="12700">
            <a:solidFill>
              <a:srgbClr val="B0BEC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391510" y="2185416"/>
            <a:ext cx="2032711" cy="213970"/>
          </a:xfrm>
          <a:prstGeom prst="rect">
            <a:avLst/>
          </a:prstGeom>
          <a:solidFill>
            <a:srgbClr val="B0BEC5"/>
          </a:solidFill>
          <a:ln w="12700">
            <a:solidFill>
              <a:srgbClr val="B0BEC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926434" y="3790188"/>
            <a:ext cx="1497787" cy="213970"/>
          </a:xfrm>
          <a:prstGeom prst="rect">
            <a:avLst/>
          </a:prstGeom>
          <a:solidFill>
            <a:srgbClr val="B0BEC5"/>
          </a:solidFill>
          <a:ln w="12700">
            <a:solidFill>
              <a:srgbClr val="B0BEC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68342" y="3683203"/>
            <a:ext cx="356616" cy="427939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318711" y="2078431"/>
            <a:ext cx="427939" cy="427939"/>
          </a:xfrm>
          <a:prstGeom prst="diamond">
            <a:avLst/>
          </a:prstGeom>
          <a:solidFill>
            <a:srgbClr val="E07B00"/>
          </a:solidFill>
          <a:ln w="12700">
            <a:solidFill>
              <a:srgbClr val="E07B0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11284" y="1914388"/>
            <a:ext cx="42794" cy="178308"/>
          </a:xfrm>
          <a:prstGeom prst="rect">
            <a:avLst/>
          </a:prstGeom>
          <a:solidFill>
            <a:srgbClr val="444444"/>
          </a:solidFill>
          <a:ln w="12700">
            <a:solidFill>
              <a:srgbClr val="44444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425696" y="1871594"/>
            <a:ext cx="213970" cy="57059"/>
          </a:xfrm>
          <a:prstGeom prst="rect">
            <a:avLst/>
          </a:prstGeom>
          <a:solidFill>
            <a:srgbClr val="444444"/>
          </a:solidFill>
          <a:ln w="12700">
            <a:solidFill>
              <a:srgbClr val="44444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833713" y="2042770"/>
            <a:ext cx="71323" cy="156911"/>
          </a:xfrm>
          <a:prstGeom prst="rect">
            <a:avLst/>
          </a:prstGeom>
          <a:solidFill>
            <a:srgbClr val="444444"/>
          </a:solidFill>
          <a:ln w="12700">
            <a:solidFill>
              <a:srgbClr val="44444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748126" y="1828800"/>
            <a:ext cx="249631" cy="213970"/>
          </a:xfrm>
          <a:prstGeom prst="roundRect">
            <a:avLst>
              <a:gd name="adj" fmla="val 21367"/>
            </a:avLst>
          </a:prstGeom>
          <a:solidFill>
            <a:srgbClr val="3DCD58"/>
          </a:solidFill>
          <a:ln w="12700">
            <a:solidFill>
              <a:srgbClr val="3DCD5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625401" y="3469234"/>
            <a:ext cx="213970" cy="213970"/>
          </a:xfrm>
          <a:prstGeom prst="roundRect">
            <a:avLst>
              <a:gd name="adj" fmla="val 21367"/>
            </a:avLst>
          </a:prstGeom>
          <a:solidFill>
            <a:srgbClr val="3DCD58"/>
          </a:solidFill>
          <a:ln w="12700">
            <a:solidFill>
              <a:srgbClr val="3DCD5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193280" y="2399386"/>
            <a:ext cx="42794" cy="855878"/>
          </a:xfrm>
          <a:prstGeom prst="rect">
            <a:avLst/>
          </a:prstGeom>
          <a:solidFill>
            <a:srgbClr val="222222"/>
          </a:solidFill>
          <a:ln w="12700">
            <a:solidFill>
              <a:srgbClr val="22222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29384" y="1828800"/>
            <a:ext cx="1141171" cy="570586"/>
          </a:xfrm>
          <a:prstGeom prst="roundRect">
            <a:avLst>
              <a:gd name="adj" fmla="val 12821"/>
            </a:avLst>
          </a:prstGeom>
          <a:solidFill>
            <a:srgbClr val="0E5A32"/>
          </a:solidFill>
          <a:ln w="12700">
            <a:solidFill>
              <a:srgbClr val="0E5A3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42173" y="1885859"/>
            <a:ext cx="71323" cy="71323"/>
          </a:xfrm>
          <a:prstGeom prst="ellipse">
            <a:avLst/>
          </a:prstGeom>
          <a:solidFill>
            <a:srgbClr val="3DCD58"/>
          </a:solidFill>
          <a:ln w="12700">
            <a:solidFill>
              <a:srgbClr val="3DCD5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072030" y="2684678"/>
            <a:ext cx="285293" cy="285293"/>
          </a:xfrm>
          <a:prstGeom prst="donut">
            <a:avLst/>
          </a:prstGeom>
          <a:solidFill>
            <a:srgbClr val="3DCD58"/>
          </a:solidFill>
          <a:ln w="12700">
            <a:solidFill>
              <a:srgbClr val="3DCD5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070555" y="1935785"/>
            <a:ext cx="677570" cy="0"/>
          </a:xfrm>
          <a:prstGeom prst="line">
            <a:avLst/>
          </a:prstGeom>
          <a:noFill/>
          <a:ln w="19050">
            <a:solidFill>
              <a:srgbClr val="3DCD58"/>
            </a:solidFill>
            <a:prstDash val="dash"/>
          </a:ln>
        </p:spPr>
      </p:sp>
      <p:sp>
        <p:nvSpPr>
          <p:cNvPr id="29" name="Text 27"/>
          <p:cNvSpPr txBox="1"/>
          <p:nvPr/>
        </p:nvSpPr>
        <p:spPr>
          <a:xfrm>
            <a:off x="1929384" y="1885859"/>
            <a:ext cx="998525" cy="2139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ESP32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1929384" y="2114093"/>
            <a:ext cx="998525" cy="2139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logger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930859" y="3647542"/>
            <a:ext cx="1711757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Motor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2927909" y="3611880"/>
            <a:ext cx="1141171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Pump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288950" y="2542032"/>
            <a:ext cx="1676095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clamp (on motor cable)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3569818" y="1557772"/>
            <a:ext cx="1569110" cy="2139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Pressure transmitter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4140403" y="2542032"/>
            <a:ext cx="1212494" cy="2139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Throttle valve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3997757" y="4146804"/>
            <a:ext cx="1497787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Strainer + optional</a:t>
            </a:r>
            <a:endParaRPr lang="en-US" sz="1200" dirty="0"/>
          </a:p>
          <a:p>
            <a:pPr algn="r" indent="0" marL="0">
              <a:buNone/>
            </a:pPr>
            <a:r>
              <a:rPr lang="en-US" sz="12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2nd transmitter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489204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illustration of the kit on a pump skid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309360" y="1280160"/>
            <a:ext cx="5029200" cy="3390138"/>
          </a:xfrm>
          <a:prstGeom prst="roundRect">
            <a:avLst>
              <a:gd name="adj" fmla="val 1618"/>
            </a:avLst>
          </a:prstGeom>
          <a:solidFill>
            <a:srgbClr val="FFFFFF"/>
          </a:solidFill>
          <a:ln w="19050">
            <a:solidFill>
              <a:srgbClr val="0E5A32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327648" y="1298448"/>
            <a:ext cx="4992624" cy="228600"/>
          </a:xfrm>
          <a:prstGeom prst="rect">
            <a:avLst/>
          </a:prstGeom>
          <a:solidFill>
            <a:srgbClr val="E3F2E7"/>
          </a:solidFill>
          <a:ln w="12700">
            <a:solidFill>
              <a:srgbClr val="E3F2E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419088" y="1353312"/>
            <a:ext cx="91440" cy="91440"/>
          </a:xfrm>
          <a:prstGeom prst="ellipse">
            <a:avLst/>
          </a:prstGeom>
          <a:solidFill>
            <a:srgbClr val="EF444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565392" y="1353312"/>
            <a:ext cx="91440" cy="9144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711696" y="1353312"/>
            <a:ext cx="91440" cy="91440"/>
          </a:xfrm>
          <a:prstGeom prst="ellipse">
            <a:avLst/>
          </a:prstGeom>
          <a:solidFill>
            <a:srgbClr val="3DCD5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949440" y="1325880"/>
            <a:ext cx="4114800" cy="155448"/>
          </a:xfrm>
          <a:prstGeom prst="roundRect">
            <a:avLst>
              <a:gd name="adj" fmla="val 47059"/>
            </a:avLst>
          </a:prstGeom>
          <a:solidFill>
            <a:srgbClr val="FFFFFF"/>
          </a:solidFill>
          <a:ln w="6350">
            <a:solidFill>
              <a:srgbClr val="BFE3C8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6949440" y="1325880"/>
            <a:ext cx="41148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pumprupee-dashboard.vercel.app</a:t>
            </a:r>
            <a:endParaRPr lang="en-US" sz="800" dirty="0"/>
          </a:p>
        </p:txBody>
      </p:sp>
      <p:pic>
        <p:nvPicPr>
          <p:cNvPr id="4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27648" y="1527048"/>
            <a:ext cx="4992624" cy="3143250"/>
          </a:xfrm>
          <a:prstGeom prst="rect">
            <a:avLst/>
          </a:prstGeom>
        </p:spPr>
      </p:pic>
      <p:sp>
        <p:nvSpPr>
          <p:cNvPr id="46" name="Shape 43"/>
          <p:cNvSpPr/>
          <p:nvPr/>
        </p:nvSpPr>
        <p:spPr>
          <a:xfrm>
            <a:off x="6309360" y="4716018"/>
            <a:ext cx="3840480" cy="310896"/>
          </a:xfrm>
          <a:prstGeom prst="roundRect">
            <a:avLst>
              <a:gd name="adj" fmla="val 50000"/>
            </a:avLst>
          </a:prstGeom>
          <a:solidFill>
            <a:srgbClr val="E07B00"/>
          </a:solidFill>
          <a:ln w="12700">
            <a:solidFill>
              <a:srgbClr val="E07B00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6309360" y="4716018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prototype dashboard · simulated data</a:t>
            </a:r>
            <a:endParaRPr lang="en-US" sz="1000" dirty="0"/>
          </a:p>
        </p:txBody>
      </p:sp>
      <p:pic>
        <p:nvPicPr>
          <p:cNvPr id="4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5054346"/>
            <a:ext cx="219456" cy="219456"/>
          </a:xfrm>
          <a:prstGeom prst="rect">
            <a:avLst/>
          </a:prstGeom>
        </p:spPr>
      </p:pic>
      <p:sp>
        <p:nvSpPr>
          <p:cNvPr id="49" name="Text 45"/>
          <p:cNvSpPr txBox="1"/>
          <p:nvPr/>
        </p:nvSpPr>
        <p:spPr>
          <a:xfrm>
            <a:off x="6620256" y="5026914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 waste per year, by cause</a:t>
            </a:r>
            <a:endParaRPr lang="en-US" sz="1050" dirty="0"/>
          </a:p>
        </p:txBody>
      </p:sp>
      <p:pic>
        <p:nvPicPr>
          <p:cNvPr id="5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15400" y="5054346"/>
            <a:ext cx="219456" cy="219456"/>
          </a:xfrm>
          <a:prstGeom prst="rect">
            <a:avLst/>
          </a:prstGeom>
        </p:spPr>
      </p:pic>
      <p:sp>
        <p:nvSpPr>
          <p:cNvPr id="51" name="Text 46"/>
          <p:cNvSpPr txBox="1"/>
          <p:nvPr/>
        </p:nvSpPr>
        <p:spPr>
          <a:xfrm>
            <a:off x="9226296" y="5026914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Cheapest fix first + safe setpoint</a:t>
            </a:r>
            <a:endParaRPr lang="en-US" sz="1050" dirty="0"/>
          </a:p>
        </p:txBody>
      </p:sp>
      <p:pic>
        <p:nvPicPr>
          <p:cNvPr id="5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0" y="5356098"/>
            <a:ext cx="219456" cy="219456"/>
          </a:xfrm>
          <a:prstGeom prst="rect">
            <a:avLst/>
          </a:prstGeom>
        </p:spPr>
      </p:pic>
      <p:sp>
        <p:nvSpPr>
          <p:cNvPr id="53" name="Text 47"/>
          <p:cNvSpPr txBox="1"/>
          <p:nvPr/>
        </p:nvSpPr>
        <p:spPr>
          <a:xfrm>
            <a:off x="6620256" y="532866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VFD payback verdict for THIS pump</a:t>
            </a:r>
            <a:endParaRPr lang="en-US" sz="1050" dirty="0"/>
          </a:p>
        </p:txBody>
      </p:sp>
      <p:pic>
        <p:nvPicPr>
          <p:cNvPr id="5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15400" y="5356098"/>
            <a:ext cx="219456" cy="219456"/>
          </a:xfrm>
          <a:prstGeom prst="rect">
            <a:avLst/>
          </a:prstGeom>
        </p:spPr>
      </p:pic>
      <p:sp>
        <p:nvSpPr>
          <p:cNvPr id="55" name="Text 48"/>
          <p:cNvSpPr txBox="1"/>
          <p:nvPr/>
        </p:nvSpPr>
        <p:spPr>
          <a:xfrm>
            <a:off x="9226296" y="532866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saving after the fix</a:t>
            </a:r>
            <a:endParaRPr lang="en-US" sz="1050" dirty="0"/>
          </a:p>
        </p:txBody>
      </p:sp>
      <p:sp>
        <p:nvSpPr>
          <p:cNvPr id="56" name="Text 49"/>
          <p:cNvSpPr txBox="1"/>
          <p:nvPr/>
        </p:nvSpPr>
        <p:spPr>
          <a:xfrm>
            <a:off x="548640" y="52578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Clamp on → log 7–14 days → ₹ report → the right fix</a:t>
            </a:r>
            <a:endParaRPr lang="en-US" sz="1500" dirty="0"/>
          </a:p>
        </p:txBody>
      </p:sp>
      <p:sp>
        <p:nvSpPr>
          <p:cNvPr id="57" name="Shape 50"/>
          <p:cNvSpPr/>
          <p:nvPr/>
        </p:nvSpPr>
        <p:spPr>
          <a:xfrm>
            <a:off x="548640" y="5852160"/>
            <a:ext cx="11109960" cy="502920"/>
          </a:xfrm>
          <a:prstGeom prst="roundRect">
            <a:avLst>
              <a:gd name="adj" fmla="val 18182"/>
            </a:avLst>
          </a:prstGeom>
          <a:solidFill>
            <a:srgbClr val="0E5A32"/>
          </a:solidFill>
          <a:ln w="12700">
            <a:solidFill>
              <a:srgbClr val="0E5A32"/>
            </a:solidFill>
            <a:prstDash val="solid"/>
          </a:ln>
        </p:spPr>
      </p:sp>
      <p:sp>
        <p:nvSpPr>
          <p:cNvPr id="58" name="Text 51"/>
          <p:cNvSpPr txBox="1"/>
          <p:nvPr/>
        </p:nvSpPr>
        <p:spPr>
          <a:xfrm>
            <a:off x="548640" y="5852160"/>
            <a:ext cx="11109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Audits and recommends. Does not control the pump.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55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Alignment to Smart Manufacturing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Electrify · Automate · Digitalise, at an entry cost an MSME can afford.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61188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D3DFD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481328"/>
            <a:ext cx="530352" cy="530352"/>
          </a:xfrm>
          <a:prstGeom prst="ellipse">
            <a:avLst/>
          </a:prstGeom>
          <a:solidFill>
            <a:srgbClr val="0E5A32"/>
          </a:solidFill>
          <a:ln w="12700">
            <a:solidFill>
              <a:srgbClr val="0E5A32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084" y="1608612"/>
            <a:ext cx="275783" cy="27578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71600" y="1481328"/>
            <a:ext cx="2651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Electrify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2148840"/>
            <a:ext cx="32918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Makes motor energy visible with a clamp-on power measurement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Points owners to the pumps where a right-sized drive pays back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297680" y="1371600"/>
            <a:ext cx="361188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D3DFD7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434840" y="1481328"/>
            <a:ext cx="530352" cy="530352"/>
          </a:xfrm>
          <a:prstGeom prst="ellipse">
            <a:avLst/>
          </a:prstGeom>
          <a:solidFill>
            <a:srgbClr val="0E5A32"/>
          </a:solidFill>
          <a:ln w="12700">
            <a:solidFill>
              <a:srgbClr val="0E5A32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62124" y="1608612"/>
            <a:ext cx="275783" cy="275783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120640" y="1481328"/>
            <a:ext cx="2651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</a:t>
            </a:r>
            <a:endParaRPr lang="en-US" sz="2200" dirty="0"/>
          </a:p>
        </p:txBody>
      </p:sp>
      <p:sp>
        <p:nvSpPr>
          <p:cNvPr id="13" name="Text 9"/>
          <p:cNvSpPr txBox="1"/>
          <p:nvPr/>
        </p:nvSpPr>
        <p:spPr>
          <a:xfrm>
            <a:off x="4480560" y="2148840"/>
            <a:ext cx="32918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 diagnosis of waste by cause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Wear-drift alarm (CUSUM) on the pump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Lowest safe VFD setpoint; the drive does the controlling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8046720" y="1371600"/>
            <a:ext cx="361188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D3DFD7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8183880" y="1481328"/>
            <a:ext cx="530352" cy="530352"/>
          </a:xfrm>
          <a:prstGeom prst="ellipse">
            <a:avLst/>
          </a:prstGeom>
          <a:solidFill>
            <a:srgbClr val="0E5A32"/>
          </a:solidFill>
          <a:ln w="12700">
            <a:solidFill>
              <a:srgbClr val="0E5A32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11164" y="1608612"/>
            <a:ext cx="275783" cy="275783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869680" y="1481328"/>
            <a:ext cx="2651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Digitalise</a:t>
            </a:r>
            <a:endParaRPr lang="en-US" sz="2200" dirty="0"/>
          </a:p>
        </p:txBody>
      </p:sp>
      <p:sp>
        <p:nvSpPr>
          <p:cNvPr id="18" name="Text 13"/>
          <p:cNvSpPr txBox="1"/>
          <p:nvPr/>
        </p:nvSpPr>
        <p:spPr>
          <a:xfrm>
            <a:off x="8229600" y="2148840"/>
            <a:ext cx="32918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Logs become a ₹ business case on a dashboard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Before/after proof of the saving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 keeps the data and can use any drive</a:t>
            </a:r>
            <a:endParaRPr lang="en-US" sz="1300" dirty="0"/>
          </a:p>
        </p:txBody>
      </p:sp>
      <p:sp>
        <p:nvSpPr>
          <p:cNvPr id="19" name="Text 14"/>
          <p:cNvSpPr txBox="1"/>
          <p:nvPr/>
        </p:nvSpPr>
        <p:spPr>
          <a:xfrm>
            <a:off x="548640" y="3886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PumpRupee feeds drives and energy management</a:t>
            </a:r>
            <a:endParaRPr lang="en-US" sz="1600" dirty="0"/>
          </a:p>
        </p:txBody>
      </p:sp>
      <p:sp>
        <p:nvSpPr>
          <p:cNvPr id="20" name="Shape 15"/>
          <p:cNvSpPr/>
          <p:nvPr/>
        </p:nvSpPr>
        <p:spPr>
          <a:xfrm>
            <a:off x="548640" y="4297680"/>
            <a:ext cx="2011680" cy="1371600"/>
          </a:xfrm>
          <a:prstGeom prst="roundRect">
            <a:avLst>
              <a:gd name="adj" fmla="val 5333"/>
            </a:avLst>
          </a:prstGeom>
          <a:solidFill>
            <a:srgbClr val="E3F6E8"/>
          </a:solidFill>
          <a:ln w="25400">
            <a:solidFill>
              <a:srgbClr val="3DCD58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658368" y="4389120"/>
            <a:ext cx="329184" cy="329184"/>
          </a:xfrm>
          <a:prstGeom prst="ellipse">
            <a:avLst/>
          </a:prstGeom>
          <a:solidFill>
            <a:srgbClr val="0E5A32"/>
          </a:solidFill>
          <a:ln w="12700">
            <a:solidFill>
              <a:srgbClr val="0E5A32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658368" y="43891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23" name="Text 18"/>
          <p:cNvSpPr txBox="1"/>
          <p:nvPr/>
        </p:nvSpPr>
        <p:spPr>
          <a:xfrm>
            <a:off x="658368" y="4773168"/>
            <a:ext cx="18105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PumpRupee audit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Clamp-on, 7–14 days</a:t>
            </a:r>
            <a:endParaRPr lang="en-US" sz="1300" dirty="0"/>
          </a:p>
        </p:txBody>
      </p:sp>
      <p:sp>
        <p:nvSpPr>
          <p:cNvPr id="24" name="Shape 19"/>
          <p:cNvSpPr/>
          <p:nvPr/>
        </p:nvSpPr>
        <p:spPr>
          <a:xfrm>
            <a:off x="2578608" y="4846320"/>
            <a:ext cx="201168" cy="256032"/>
          </a:xfrm>
          <a:prstGeom prst="rightArrow">
            <a:avLst/>
          </a:prstGeom>
          <a:solidFill>
            <a:srgbClr val="3DCD58"/>
          </a:solidFill>
          <a:ln w="12700">
            <a:solidFill>
              <a:srgbClr val="3DCD58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2798064" y="4297680"/>
            <a:ext cx="201168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3DFD7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2907792" y="4389120"/>
            <a:ext cx="329184" cy="329184"/>
          </a:xfrm>
          <a:prstGeom prst="ellipse">
            <a:avLst/>
          </a:prstGeom>
          <a:solidFill>
            <a:srgbClr val="9AA5A0"/>
          </a:solidFill>
          <a:ln w="12700">
            <a:solidFill>
              <a:srgbClr val="9AA5A0"/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2907792" y="43891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28" name="Text 23"/>
          <p:cNvSpPr txBox="1"/>
          <p:nvPr/>
        </p:nvSpPr>
        <p:spPr>
          <a:xfrm>
            <a:off x="2907792" y="4773168"/>
            <a:ext cx="18105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 business case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Waste by cause + VFD verdict</a:t>
            </a:r>
            <a:endParaRPr lang="en-US" sz="1300" dirty="0"/>
          </a:p>
        </p:txBody>
      </p:sp>
      <p:sp>
        <p:nvSpPr>
          <p:cNvPr id="29" name="Shape 24"/>
          <p:cNvSpPr/>
          <p:nvPr/>
        </p:nvSpPr>
        <p:spPr>
          <a:xfrm>
            <a:off x="4828032" y="4846320"/>
            <a:ext cx="201168" cy="256032"/>
          </a:xfrm>
          <a:prstGeom prst="rightArrow">
            <a:avLst/>
          </a:prstGeom>
          <a:solidFill>
            <a:srgbClr val="3DCD58"/>
          </a:solidFill>
          <a:ln w="12700">
            <a:solidFill>
              <a:srgbClr val="3DCD58"/>
            </a:solidFill>
            <a:prstDash val="solid"/>
          </a:ln>
        </p:spPr>
      </p:sp>
      <p:sp>
        <p:nvSpPr>
          <p:cNvPr id="30" name="Shape 25"/>
          <p:cNvSpPr/>
          <p:nvPr/>
        </p:nvSpPr>
        <p:spPr>
          <a:xfrm>
            <a:off x="5047488" y="4297680"/>
            <a:ext cx="201168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3DFD7"/>
            </a:solidFill>
            <a:prstDash val="solid"/>
          </a:ln>
        </p:spPr>
      </p:sp>
      <p:sp>
        <p:nvSpPr>
          <p:cNvPr id="31" name="Shape 26"/>
          <p:cNvSpPr/>
          <p:nvPr/>
        </p:nvSpPr>
        <p:spPr>
          <a:xfrm>
            <a:off x="5157216" y="4389120"/>
            <a:ext cx="329184" cy="329184"/>
          </a:xfrm>
          <a:prstGeom prst="ellipse">
            <a:avLst/>
          </a:prstGeom>
          <a:solidFill>
            <a:srgbClr val="9AA5A0"/>
          </a:solidFill>
          <a:ln w="12700">
            <a:solidFill>
              <a:srgbClr val="9AA5A0"/>
            </a:solidFill>
            <a:prstDash val="solid"/>
          </a:ln>
        </p:spPr>
      </p:sp>
      <p:sp>
        <p:nvSpPr>
          <p:cNvPr id="32" name="Text 27"/>
          <p:cNvSpPr txBox="1"/>
          <p:nvPr/>
        </p:nvSpPr>
        <p:spPr>
          <a:xfrm>
            <a:off x="5157216" y="43891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33" name="Text 28"/>
          <p:cNvSpPr txBox="1"/>
          <p:nvPr/>
        </p:nvSpPr>
        <p:spPr>
          <a:xfrm>
            <a:off x="5157216" y="4773168"/>
            <a:ext cx="18105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VFD installed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 Altivar Process</a:t>
            </a:r>
            <a:endParaRPr lang="en-US" sz="1300" dirty="0"/>
          </a:p>
        </p:txBody>
      </p:sp>
      <p:sp>
        <p:nvSpPr>
          <p:cNvPr id="34" name="Shape 29"/>
          <p:cNvSpPr/>
          <p:nvPr/>
        </p:nvSpPr>
        <p:spPr>
          <a:xfrm>
            <a:off x="7077456" y="4846320"/>
            <a:ext cx="201168" cy="256032"/>
          </a:xfrm>
          <a:prstGeom prst="rightArrow">
            <a:avLst/>
          </a:prstGeom>
          <a:solidFill>
            <a:srgbClr val="3DCD58"/>
          </a:solidFill>
          <a:ln w="12700">
            <a:solidFill>
              <a:srgbClr val="3DCD58"/>
            </a:solidFill>
            <a:prstDash val="solid"/>
          </a:ln>
        </p:spPr>
      </p:sp>
      <p:sp>
        <p:nvSpPr>
          <p:cNvPr id="35" name="Shape 30"/>
          <p:cNvSpPr/>
          <p:nvPr/>
        </p:nvSpPr>
        <p:spPr>
          <a:xfrm>
            <a:off x="7296912" y="4297680"/>
            <a:ext cx="2011680" cy="1371600"/>
          </a:xfrm>
          <a:prstGeom prst="roundRect">
            <a:avLst>
              <a:gd name="adj" fmla="val 5333"/>
            </a:avLst>
          </a:prstGeom>
          <a:solidFill>
            <a:srgbClr val="E3F6E8"/>
          </a:solidFill>
          <a:ln w="25400">
            <a:solidFill>
              <a:srgbClr val="3DCD58"/>
            </a:solidFill>
            <a:prstDash val="solid"/>
          </a:ln>
        </p:spPr>
      </p:sp>
      <p:sp>
        <p:nvSpPr>
          <p:cNvPr id="36" name="Shape 31"/>
          <p:cNvSpPr/>
          <p:nvPr/>
        </p:nvSpPr>
        <p:spPr>
          <a:xfrm>
            <a:off x="7406640" y="4389120"/>
            <a:ext cx="329184" cy="329184"/>
          </a:xfrm>
          <a:prstGeom prst="ellipse">
            <a:avLst/>
          </a:prstGeom>
          <a:solidFill>
            <a:srgbClr val="0E5A32"/>
          </a:solidFill>
          <a:ln w="12700">
            <a:solidFill>
              <a:srgbClr val="0E5A32"/>
            </a:solidFill>
            <a:prstDash val="solid"/>
          </a:ln>
        </p:spPr>
      </p:sp>
      <p:sp>
        <p:nvSpPr>
          <p:cNvPr id="37" name="Text 32"/>
          <p:cNvSpPr txBox="1"/>
          <p:nvPr/>
        </p:nvSpPr>
        <p:spPr>
          <a:xfrm>
            <a:off x="7406640" y="43891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38" name="Text 33"/>
          <p:cNvSpPr txBox="1"/>
          <p:nvPr/>
        </p:nvSpPr>
        <p:spPr>
          <a:xfrm>
            <a:off x="7406640" y="4773168"/>
            <a:ext cx="18105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PumpRupee re-measures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kit, after the fix</a:t>
            </a:r>
            <a:endParaRPr lang="en-US" sz="1300" dirty="0"/>
          </a:p>
        </p:txBody>
      </p:sp>
      <p:sp>
        <p:nvSpPr>
          <p:cNvPr id="39" name="Shape 34"/>
          <p:cNvSpPr/>
          <p:nvPr/>
        </p:nvSpPr>
        <p:spPr>
          <a:xfrm>
            <a:off x="9326880" y="4846320"/>
            <a:ext cx="201168" cy="256032"/>
          </a:xfrm>
          <a:prstGeom prst="rightArrow">
            <a:avLst/>
          </a:prstGeom>
          <a:solidFill>
            <a:srgbClr val="3DCD58"/>
          </a:solidFill>
          <a:ln w="12700">
            <a:solidFill>
              <a:srgbClr val="3DCD58"/>
            </a:solidFill>
            <a:prstDash val="solid"/>
          </a:ln>
        </p:spPr>
      </p:sp>
      <p:sp>
        <p:nvSpPr>
          <p:cNvPr id="40" name="Shape 35"/>
          <p:cNvSpPr/>
          <p:nvPr/>
        </p:nvSpPr>
        <p:spPr>
          <a:xfrm>
            <a:off x="9546336" y="4297680"/>
            <a:ext cx="201168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3DFD7"/>
            </a:solidFill>
            <a:prstDash val="solid"/>
          </a:ln>
        </p:spPr>
      </p:sp>
      <p:sp>
        <p:nvSpPr>
          <p:cNvPr id="41" name="Shape 36"/>
          <p:cNvSpPr/>
          <p:nvPr/>
        </p:nvSpPr>
        <p:spPr>
          <a:xfrm>
            <a:off x="9656064" y="4389120"/>
            <a:ext cx="329184" cy="329184"/>
          </a:xfrm>
          <a:prstGeom prst="ellipse">
            <a:avLst/>
          </a:prstGeom>
          <a:solidFill>
            <a:srgbClr val="9AA5A0"/>
          </a:solidFill>
          <a:ln w="12700">
            <a:solidFill>
              <a:srgbClr val="9AA5A0"/>
            </a:solidFill>
            <a:prstDash val="solid"/>
          </a:ln>
        </p:spPr>
      </p:sp>
      <p:sp>
        <p:nvSpPr>
          <p:cNvPr id="42" name="Text 37"/>
          <p:cNvSpPr txBox="1"/>
          <p:nvPr/>
        </p:nvSpPr>
        <p:spPr>
          <a:xfrm>
            <a:off x="9656064" y="43891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43" name="Text 38"/>
          <p:cNvSpPr txBox="1"/>
          <p:nvPr/>
        </p:nvSpPr>
        <p:spPr>
          <a:xfrm>
            <a:off x="9656064" y="4773168"/>
            <a:ext cx="18105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saving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Feeds energy management, e.g. EcoStruxure</a:t>
            </a:r>
            <a:endParaRPr lang="en-US" sz="1300" dirty="0"/>
          </a:p>
        </p:txBody>
      </p:sp>
      <p:sp>
        <p:nvSpPr>
          <p:cNvPr id="44" name="Text 39"/>
          <p:cNvSpPr txBox="1"/>
          <p:nvPr/>
        </p:nvSpPr>
        <p:spPr>
          <a:xfrm>
            <a:off x="548640" y="58064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low-cost front door that expands VFD and energy-management adoption into MSMEs that skip audits today. Concept only: no drive or platform integration built.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55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Features &amp; User Journey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steps from clamp-on to a verified saving.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420624" cy="420624"/>
          </a:xfrm>
          <a:prstGeom prst="ellipse">
            <a:avLst/>
          </a:prstGeom>
          <a:solidFill>
            <a:srgbClr val="0E5A32"/>
          </a:solidFill>
          <a:ln w="12700">
            <a:solidFill>
              <a:srgbClr val="0E5A32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9590" y="1381110"/>
            <a:ext cx="218724" cy="21872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97280" y="1280160"/>
            <a:ext cx="3931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Clamp on  </a:t>
            </a:r>
            <a:pPr indent="0" marL="0">
              <a:buNone/>
            </a:pPr>
            <a:r>
              <a:rPr lang="en-US" sz="115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clamp on the motor cable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548640" y="1773936"/>
            <a:ext cx="420624" cy="420624"/>
          </a:xfrm>
          <a:prstGeom prst="ellipse">
            <a:avLst/>
          </a:prstGeom>
          <a:solidFill>
            <a:srgbClr val="0E5A32"/>
          </a:solidFill>
          <a:ln w="12700">
            <a:solidFill>
              <a:srgbClr val="0E5A32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590" y="1874886"/>
            <a:ext cx="218724" cy="21872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097280" y="1773936"/>
            <a:ext cx="3931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 sensors  </a:t>
            </a:r>
            <a:pPr indent="0" marL="0">
              <a:buNone/>
            </a:pPr>
            <a:r>
              <a:rPr lang="en-US" sz="115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Pressure on existing gauge ports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548640" y="2267712"/>
            <a:ext cx="420624" cy="420624"/>
          </a:xfrm>
          <a:prstGeom prst="ellipse">
            <a:avLst/>
          </a:prstGeom>
          <a:solidFill>
            <a:srgbClr val="0E5A32"/>
          </a:solidFill>
          <a:ln w="12700">
            <a:solidFill>
              <a:srgbClr val="0E5A32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590" y="2368662"/>
            <a:ext cx="218724" cy="218724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97280" y="2267712"/>
            <a:ext cx="3931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7–14 days  </a:t>
            </a:r>
            <a:pPr indent="0" marL="0">
              <a:buNone/>
            </a:pPr>
            <a:r>
              <a:rPr lang="en-US" sz="115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ESP32 records power + pressure</a:t>
            </a:r>
            <a:endParaRPr lang="en-US" sz="1300" dirty="0"/>
          </a:p>
        </p:txBody>
      </p:sp>
      <p:sp>
        <p:nvSpPr>
          <p:cNvPr id="13" name="Shape 8"/>
          <p:cNvSpPr/>
          <p:nvPr/>
        </p:nvSpPr>
        <p:spPr>
          <a:xfrm>
            <a:off x="548640" y="2761488"/>
            <a:ext cx="420624" cy="420624"/>
          </a:xfrm>
          <a:prstGeom prst="ellipse">
            <a:avLst/>
          </a:prstGeom>
          <a:solidFill>
            <a:srgbClr val="E07B00"/>
          </a:solidFill>
          <a:ln w="12700">
            <a:solidFill>
              <a:srgbClr val="E07B00"/>
            </a:solidFill>
            <a:prstDash val="solid"/>
          </a:ln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590" y="2862438"/>
            <a:ext cx="218724" cy="218724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097280" y="2761488"/>
            <a:ext cx="3931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dashboard  </a:t>
            </a:r>
            <a:pPr indent="0" marL="0">
              <a:buNone/>
            </a:pPr>
            <a:r>
              <a:rPr lang="en-US" sz="115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 report by cause</a:t>
            </a:r>
            <a:endParaRPr lang="en-US" sz="1300" dirty="0"/>
          </a:p>
        </p:txBody>
      </p:sp>
      <p:sp>
        <p:nvSpPr>
          <p:cNvPr id="16" name="Shape 10"/>
          <p:cNvSpPr/>
          <p:nvPr/>
        </p:nvSpPr>
        <p:spPr>
          <a:xfrm>
            <a:off x="548640" y="3255264"/>
            <a:ext cx="420624" cy="420624"/>
          </a:xfrm>
          <a:prstGeom prst="ellipse">
            <a:avLst/>
          </a:prstGeom>
          <a:solidFill>
            <a:srgbClr val="0E5A32"/>
          </a:solidFill>
          <a:ln w="12700">
            <a:solidFill>
              <a:srgbClr val="0E5A32"/>
            </a:solidFill>
            <a:prstDash val="solid"/>
          </a:ln>
        </p:spPr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590" y="3356214"/>
            <a:ext cx="218724" cy="218724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097280" y="3255264"/>
            <a:ext cx="3931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the fix  </a:t>
            </a:r>
            <a:pPr indent="0" marL="0">
              <a:buNone/>
            </a:pPr>
            <a:r>
              <a:rPr lang="en-US" sz="115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Cheapest first; VFD verdict</a:t>
            </a:r>
            <a:endParaRPr lang="en-US" sz="1300" dirty="0"/>
          </a:p>
        </p:txBody>
      </p:sp>
      <p:sp>
        <p:nvSpPr>
          <p:cNvPr id="19" name="Shape 12"/>
          <p:cNvSpPr/>
          <p:nvPr/>
        </p:nvSpPr>
        <p:spPr>
          <a:xfrm>
            <a:off x="548640" y="3749040"/>
            <a:ext cx="420624" cy="420624"/>
          </a:xfrm>
          <a:prstGeom prst="ellipse">
            <a:avLst/>
          </a:prstGeom>
          <a:solidFill>
            <a:srgbClr val="0E5A32"/>
          </a:solidFill>
          <a:ln w="12700">
            <a:solidFill>
              <a:srgbClr val="0E5A32"/>
            </a:solidFill>
            <a:prstDash val="solid"/>
          </a:ln>
        </p:spPr>
      </p:sp>
      <p:pic>
        <p:nvPicPr>
          <p:cNvPr id="2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9590" y="3849990"/>
            <a:ext cx="218724" cy="218724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1097280" y="3749040"/>
            <a:ext cx="3931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Re-measure  </a:t>
            </a:r>
            <a:pPr indent="0" marL="0">
              <a:buNone/>
            </a:pPr>
            <a:r>
              <a:rPr lang="en-US" sz="115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the saving</a:t>
            </a:r>
            <a:endParaRPr lang="en-US" sz="1300" dirty="0"/>
          </a:p>
        </p:txBody>
      </p:sp>
      <p:sp>
        <p:nvSpPr>
          <p:cNvPr id="22" name="Shape 14"/>
          <p:cNvSpPr/>
          <p:nvPr/>
        </p:nvSpPr>
        <p:spPr>
          <a:xfrm>
            <a:off x="548640" y="4242816"/>
            <a:ext cx="420624" cy="420624"/>
          </a:xfrm>
          <a:prstGeom prst="ellipse">
            <a:avLst/>
          </a:prstGeom>
          <a:solidFill>
            <a:srgbClr val="0E5A32"/>
          </a:solidFill>
          <a:ln w="12700">
            <a:solidFill>
              <a:srgbClr val="0E5A32"/>
            </a:solidFill>
            <a:prstDash val="solid"/>
          </a:ln>
        </p:spPr>
      </p:sp>
      <p:pic>
        <p:nvPicPr>
          <p:cNvPr id="2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9590" y="4343766"/>
            <a:ext cx="218724" cy="218724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097280" y="4242816"/>
            <a:ext cx="3931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the kit  </a:t>
            </a:r>
            <a:pPr indent="0" marL="0">
              <a:buNone/>
            </a:pPr>
            <a:r>
              <a:rPr lang="en-US" sz="115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pump</a:t>
            </a:r>
            <a:endParaRPr lang="en-US" sz="1300" dirty="0"/>
          </a:p>
        </p:txBody>
      </p:sp>
      <p:sp>
        <p:nvSpPr>
          <p:cNvPr id="25" name="Shape 16"/>
          <p:cNvSpPr/>
          <p:nvPr/>
        </p:nvSpPr>
        <p:spPr>
          <a:xfrm>
            <a:off x="548640" y="4846320"/>
            <a:ext cx="1554480" cy="310896"/>
          </a:xfrm>
          <a:prstGeom prst="roundRect">
            <a:avLst>
              <a:gd name="adj" fmla="val 50000"/>
            </a:avLst>
          </a:prstGeom>
          <a:solidFill>
            <a:srgbClr val="0E5A32"/>
          </a:solidFill>
          <a:ln w="12700">
            <a:solidFill>
              <a:srgbClr val="0E5A32"/>
            </a:solidFill>
            <a:prstDash val="solid"/>
          </a:ln>
        </p:spPr>
      </p:sp>
      <p:sp>
        <p:nvSpPr>
          <p:cNvPr id="26" name="Text 17"/>
          <p:cNvSpPr txBox="1"/>
          <p:nvPr/>
        </p:nvSpPr>
        <p:spPr>
          <a:xfrm>
            <a:off x="548640" y="4846320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 waste by cause</a:t>
            </a:r>
            <a:endParaRPr lang="en-US" sz="1050" dirty="0"/>
          </a:p>
        </p:txBody>
      </p:sp>
      <p:sp>
        <p:nvSpPr>
          <p:cNvPr id="27" name="Shape 18"/>
          <p:cNvSpPr/>
          <p:nvPr/>
        </p:nvSpPr>
        <p:spPr>
          <a:xfrm>
            <a:off x="2194560" y="4846320"/>
            <a:ext cx="1554480" cy="310896"/>
          </a:xfrm>
          <a:prstGeom prst="roundRect">
            <a:avLst>
              <a:gd name="adj" fmla="val 50000"/>
            </a:avLst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28" name="Text 19"/>
          <p:cNvSpPr txBox="1"/>
          <p:nvPr/>
        </p:nvSpPr>
        <p:spPr>
          <a:xfrm>
            <a:off x="2194560" y="4846320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flow meter</a:t>
            </a:r>
            <a:endParaRPr lang="en-US" sz="1050" dirty="0"/>
          </a:p>
        </p:txBody>
      </p:sp>
      <p:sp>
        <p:nvSpPr>
          <p:cNvPr id="29" name="Shape 20"/>
          <p:cNvSpPr/>
          <p:nvPr/>
        </p:nvSpPr>
        <p:spPr>
          <a:xfrm>
            <a:off x="3840480" y="4846320"/>
            <a:ext cx="1554480" cy="310896"/>
          </a:xfrm>
          <a:prstGeom prst="roundRect">
            <a:avLst>
              <a:gd name="adj" fmla="val 50000"/>
            </a:avLst>
          </a:prstGeom>
          <a:solidFill>
            <a:srgbClr val="0E5A32"/>
          </a:solidFill>
          <a:ln w="12700">
            <a:solidFill>
              <a:srgbClr val="0E5A32"/>
            </a:solidFill>
            <a:prstDash val="solid"/>
          </a:ln>
        </p:spPr>
      </p:sp>
      <p:sp>
        <p:nvSpPr>
          <p:cNvPr id="30" name="Text 21"/>
          <p:cNvSpPr txBox="1"/>
          <p:nvPr/>
        </p:nvSpPr>
        <p:spPr>
          <a:xfrm>
            <a:off x="3840480" y="4846320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shutdown</a:t>
            </a:r>
            <a:endParaRPr lang="en-US" sz="1050" dirty="0"/>
          </a:p>
        </p:txBody>
      </p:sp>
      <p:sp>
        <p:nvSpPr>
          <p:cNvPr id="31" name="Shape 22"/>
          <p:cNvSpPr/>
          <p:nvPr/>
        </p:nvSpPr>
        <p:spPr>
          <a:xfrm>
            <a:off x="548640" y="5212080"/>
            <a:ext cx="1554480" cy="310896"/>
          </a:xfrm>
          <a:prstGeom prst="roundRect">
            <a:avLst>
              <a:gd name="adj" fmla="val 50000"/>
            </a:avLst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32" name="Text 23"/>
          <p:cNvSpPr txBox="1"/>
          <p:nvPr/>
        </p:nvSpPr>
        <p:spPr>
          <a:xfrm>
            <a:off x="548640" y="5212080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VFD verdict</a:t>
            </a:r>
            <a:endParaRPr lang="en-US" sz="1050" dirty="0"/>
          </a:p>
        </p:txBody>
      </p:sp>
      <p:sp>
        <p:nvSpPr>
          <p:cNvPr id="33" name="Shape 24"/>
          <p:cNvSpPr/>
          <p:nvPr/>
        </p:nvSpPr>
        <p:spPr>
          <a:xfrm>
            <a:off x="2194560" y="5212080"/>
            <a:ext cx="1554480" cy="310896"/>
          </a:xfrm>
          <a:prstGeom prst="roundRect">
            <a:avLst>
              <a:gd name="adj" fmla="val 50000"/>
            </a:avLst>
          </a:prstGeom>
          <a:solidFill>
            <a:srgbClr val="0E5A32"/>
          </a:solidFill>
          <a:ln w="12700">
            <a:solidFill>
              <a:srgbClr val="0E5A32"/>
            </a:solidFill>
            <a:prstDash val="solid"/>
          </a:ln>
        </p:spPr>
      </p:sp>
      <p:sp>
        <p:nvSpPr>
          <p:cNvPr id="34" name="Text 25"/>
          <p:cNvSpPr txBox="1"/>
          <p:nvPr/>
        </p:nvSpPr>
        <p:spPr>
          <a:xfrm>
            <a:off x="2194560" y="5212080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savings</a:t>
            </a:r>
            <a:endParaRPr lang="en-US" sz="1050" dirty="0"/>
          </a:p>
        </p:txBody>
      </p:sp>
      <p:sp>
        <p:nvSpPr>
          <p:cNvPr id="35" name="Shape 26"/>
          <p:cNvSpPr/>
          <p:nvPr/>
        </p:nvSpPr>
        <p:spPr>
          <a:xfrm>
            <a:off x="3840480" y="5212080"/>
            <a:ext cx="1554480" cy="310896"/>
          </a:xfrm>
          <a:prstGeom prst="roundRect">
            <a:avLst>
              <a:gd name="adj" fmla="val 50000"/>
            </a:avLst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36" name="Text 27"/>
          <p:cNvSpPr txBox="1"/>
          <p:nvPr/>
        </p:nvSpPr>
        <p:spPr>
          <a:xfrm>
            <a:off x="3840480" y="5212080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Reusable kit</a:t>
            </a:r>
            <a:endParaRPr lang="en-US" sz="1050" dirty="0"/>
          </a:p>
        </p:txBody>
      </p:sp>
      <p:pic>
        <p:nvPicPr>
          <p:cNvPr id="3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8640" y="5669280"/>
            <a:ext cx="658368" cy="658368"/>
          </a:xfrm>
          <a:prstGeom prst="rect">
            <a:avLst/>
          </a:prstGeom>
        </p:spPr>
      </p:pic>
      <p:sp>
        <p:nvSpPr>
          <p:cNvPr id="38" name="Text 28"/>
          <p:cNvSpPr txBox="1"/>
          <p:nvPr/>
        </p:nvSpPr>
        <p:spPr>
          <a:xfrm>
            <a:off x="1344168" y="5742432"/>
            <a:ext cx="3840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prototype dashboard</a:t>
            </a:r>
            <a:endParaRPr lang="en-US" sz="1300" dirty="0"/>
          </a:p>
          <a:p>
            <a:pPr indent="0" marL="0">
              <a:buNone/>
            </a:pPr>
            <a:r>
              <a:rPr lang="en-US" sz="1200" u="sng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https://pumprupee-dashboard.vercel.app/</a:t>
            </a:r>
            <a:endParaRPr lang="en-US" sz="1300" dirty="0"/>
          </a:p>
          <a:p>
            <a:pPr indent="0" marL="0">
              <a:buNone/>
            </a:pPr>
            <a:r>
              <a:rPr lang="en-US" sz="100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Simulated data · scan the QR code</a:t>
            </a:r>
            <a:endParaRPr lang="en-US" sz="1300" dirty="0"/>
          </a:p>
        </p:txBody>
      </p:sp>
      <p:sp>
        <p:nvSpPr>
          <p:cNvPr id="39" name="Shape 29"/>
          <p:cNvSpPr/>
          <p:nvPr/>
        </p:nvSpPr>
        <p:spPr>
          <a:xfrm>
            <a:off x="5440680" y="1280160"/>
            <a:ext cx="6217920" cy="4133088"/>
          </a:xfrm>
          <a:prstGeom prst="roundRect">
            <a:avLst>
              <a:gd name="adj" fmla="val 1327"/>
            </a:avLst>
          </a:prstGeom>
          <a:solidFill>
            <a:srgbClr val="FFFFFF"/>
          </a:solidFill>
          <a:ln w="19050">
            <a:solidFill>
              <a:srgbClr val="0E5A32"/>
            </a:solidFill>
            <a:prstDash val="solid"/>
          </a:ln>
        </p:spPr>
      </p:sp>
      <p:sp>
        <p:nvSpPr>
          <p:cNvPr id="40" name="Shape 30"/>
          <p:cNvSpPr/>
          <p:nvPr/>
        </p:nvSpPr>
        <p:spPr>
          <a:xfrm>
            <a:off x="5458968" y="1298448"/>
            <a:ext cx="6181344" cy="228600"/>
          </a:xfrm>
          <a:prstGeom prst="rect">
            <a:avLst/>
          </a:prstGeom>
          <a:solidFill>
            <a:srgbClr val="E3F2E7"/>
          </a:solidFill>
          <a:ln w="12700">
            <a:solidFill>
              <a:srgbClr val="E3F2E7"/>
            </a:solidFill>
            <a:prstDash val="solid"/>
          </a:ln>
        </p:spPr>
      </p:sp>
      <p:sp>
        <p:nvSpPr>
          <p:cNvPr id="41" name="Shape 31"/>
          <p:cNvSpPr/>
          <p:nvPr/>
        </p:nvSpPr>
        <p:spPr>
          <a:xfrm>
            <a:off x="5550408" y="1353312"/>
            <a:ext cx="91440" cy="91440"/>
          </a:xfrm>
          <a:prstGeom prst="ellipse">
            <a:avLst/>
          </a:prstGeom>
          <a:solidFill>
            <a:srgbClr val="EF444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Shape 32"/>
          <p:cNvSpPr/>
          <p:nvPr/>
        </p:nvSpPr>
        <p:spPr>
          <a:xfrm>
            <a:off x="5696712" y="1353312"/>
            <a:ext cx="91440" cy="9144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Shape 33"/>
          <p:cNvSpPr/>
          <p:nvPr/>
        </p:nvSpPr>
        <p:spPr>
          <a:xfrm>
            <a:off x="5843016" y="1353312"/>
            <a:ext cx="91440" cy="91440"/>
          </a:xfrm>
          <a:prstGeom prst="ellipse">
            <a:avLst/>
          </a:prstGeom>
          <a:solidFill>
            <a:srgbClr val="3DCD5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Shape 34"/>
          <p:cNvSpPr/>
          <p:nvPr/>
        </p:nvSpPr>
        <p:spPr>
          <a:xfrm>
            <a:off x="6080760" y="1325880"/>
            <a:ext cx="5303520" cy="155448"/>
          </a:xfrm>
          <a:prstGeom prst="roundRect">
            <a:avLst>
              <a:gd name="adj" fmla="val 47059"/>
            </a:avLst>
          </a:prstGeom>
          <a:solidFill>
            <a:srgbClr val="FFFFFF"/>
          </a:solidFill>
          <a:ln w="6350">
            <a:solidFill>
              <a:srgbClr val="BFE3C8"/>
            </a:solidFill>
            <a:prstDash val="solid"/>
          </a:ln>
        </p:spPr>
      </p:sp>
      <p:sp>
        <p:nvSpPr>
          <p:cNvPr id="45" name="Text 35"/>
          <p:cNvSpPr txBox="1"/>
          <p:nvPr/>
        </p:nvSpPr>
        <p:spPr>
          <a:xfrm>
            <a:off x="6080760" y="1325880"/>
            <a:ext cx="53035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pumprupee-dashboard.vercel.app</a:t>
            </a:r>
            <a:endParaRPr lang="en-US" sz="800" dirty="0"/>
          </a:p>
        </p:txBody>
      </p:sp>
      <p:pic>
        <p:nvPicPr>
          <p:cNvPr id="46" name="Image 8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458968" y="1527048"/>
            <a:ext cx="6181344" cy="3886200"/>
          </a:xfrm>
          <a:prstGeom prst="rect">
            <a:avLst/>
          </a:prstGeom>
        </p:spPr>
      </p:pic>
      <p:sp>
        <p:nvSpPr>
          <p:cNvPr id="47" name="Shape 36"/>
          <p:cNvSpPr/>
          <p:nvPr/>
        </p:nvSpPr>
        <p:spPr>
          <a:xfrm>
            <a:off x="5660720" y="2651709"/>
            <a:ext cx="1322121" cy="197460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E07B00"/>
            </a:solidFill>
            <a:prstDash val="solid"/>
          </a:ln>
        </p:spPr>
      </p:sp>
      <p:sp>
        <p:nvSpPr>
          <p:cNvPr id="48" name="Shape 37"/>
          <p:cNvSpPr/>
          <p:nvPr/>
        </p:nvSpPr>
        <p:spPr>
          <a:xfrm>
            <a:off x="5541848" y="2532837"/>
            <a:ext cx="237744" cy="237744"/>
          </a:xfrm>
          <a:prstGeom prst="ellipse">
            <a:avLst/>
          </a:prstGeom>
          <a:solidFill>
            <a:srgbClr val="E07B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9" name="Text 38"/>
          <p:cNvSpPr txBox="1"/>
          <p:nvPr/>
        </p:nvSpPr>
        <p:spPr>
          <a:xfrm>
            <a:off x="5541848" y="2532837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50" name="Shape 39"/>
          <p:cNvSpPr/>
          <p:nvPr/>
        </p:nvSpPr>
        <p:spPr>
          <a:xfrm>
            <a:off x="10116439" y="2651709"/>
            <a:ext cx="1322121" cy="197460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E07B00"/>
            </a:solidFill>
            <a:prstDash val="solid"/>
          </a:ln>
        </p:spPr>
      </p:sp>
      <p:sp>
        <p:nvSpPr>
          <p:cNvPr id="51" name="Shape 40"/>
          <p:cNvSpPr/>
          <p:nvPr/>
        </p:nvSpPr>
        <p:spPr>
          <a:xfrm>
            <a:off x="9997567" y="2532837"/>
            <a:ext cx="237744" cy="237744"/>
          </a:xfrm>
          <a:prstGeom prst="ellipse">
            <a:avLst/>
          </a:prstGeom>
          <a:solidFill>
            <a:srgbClr val="E07B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2" name="Text 41"/>
          <p:cNvSpPr txBox="1"/>
          <p:nvPr/>
        </p:nvSpPr>
        <p:spPr>
          <a:xfrm>
            <a:off x="9997567" y="2532837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53" name="Shape 42"/>
          <p:cNvSpPr/>
          <p:nvPr/>
        </p:nvSpPr>
        <p:spPr>
          <a:xfrm>
            <a:off x="5669305" y="3321355"/>
            <a:ext cx="5760669" cy="729742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E07B00"/>
            </a:solidFill>
            <a:prstDash val="solid"/>
          </a:ln>
        </p:spPr>
      </p:sp>
      <p:sp>
        <p:nvSpPr>
          <p:cNvPr id="54" name="Shape 43"/>
          <p:cNvSpPr/>
          <p:nvPr/>
        </p:nvSpPr>
        <p:spPr>
          <a:xfrm>
            <a:off x="5550433" y="3202483"/>
            <a:ext cx="237744" cy="237744"/>
          </a:xfrm>
          <a:prstGeom prst="ellipse">
            <a:avLst/>
          </a:prstGeom>
          <a:solidFill>
            <a:srgbClr val="E07B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5" name="Text 44"/>
          <p:cNvSpPr txBox="1"/>
          <p:nvPr/>
        </p:nvSpPr>
        <p:spPr>
          <a:xfrm>
            <a:off x="5550433" y="320248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56" name="Shape 45"/>
          <p:cNvSpPr/>
          <p:nvPr/>
        </p:nvSpPr>
        <p:spPr>
          <a:xfrm>
            <a:off x="5440680" y="5458968"/>
            <a:ext cx="3840480" cy="310896"/>
          </a:xfrm>
          <a:prstGeom prst="roundRect">
            <a:avLst>
              <a:gd name="adj" fmla="val 50000"/>
            </a:avLst>
          </a:prstGeom>
          <a:solidFill>
            <a:srgbClr val="E07B00"/>
          </a:solidFill>
          <a:ln w="12700">
            <a:solidFill>
              <a:srgbClr val="E07B00"/>
            </a:solidFill>
            <a:prstDash val="solid"/>
          </a:ln>
        </p:spPr>
      </p:sp>
      <p:sp>
        <p:nvSpPr>
          <p:cNvPr id="57" name="Text 46"/>
          <p:cNvSpPr txBox="1"/>
          <p:nvPr/>
        </p:nvSpPr>
        <p:spPr>
          <a:xfrm>
            <a:off x="5440680" y="5458968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prototype dashboard · simulated data</a:t>
            </a:r>
            <a:endParaRPr lang="en-US" sz="1000" dirty="0"/>
          </a:p>
        </p:txBody>
      </p:sp>
      <p:sp>
        <p:nvSpPr>
          <p:cNvPr id="58" name="Shape 47"/>
          <p:cNvSpPr/>
          <p:nvPr/>
        </p:nvSpPr>
        <p:spPr>
          <a:xfrm>
            <a:off x="5440680" y="5806440"/>
            <a:ext cx="182880" cy="182880"/>
          </a:xfrm>
          <a:prstGeom prst="ellipse">
            <a:avLst/>
          </a:prstGeom>
          <a:solidFill>
            <a:srgbClr val="E07B00"/>
          </a:solidFill>
          <a:ln w="12700">
            <a:solidFill>
              <a:srgbClr val="E07B00"/>
            </a:solidFill>
            <a:prstDash val="solid"/>
          </a:ln>
        </p:spPr>
      </p:sp>
      <p:sp>
        <p:nvSpPr>
          <p:cNvPr id="59" name="Text 48"/>
          <p:cNvSpPr txBox="1"/>
          <p:nvPr/>
        </p:nvSpPr>
        <p:spPr>
          <a:xfrm>
            <a:off x="5440680" y="5806440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60" name="Text 49"/>
          <p:cNvSpPr txBox="1"/>
          <p:nvPr/>
        </p:nvSpPr>
        <p:spPr>
          <a:xfrm>
            <a:off x="5696712" y="5788152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 saving per year with a VFD (simulated)</a:t>
            </a:r>
            <a:endParaRPr lang="en-US" sz="1100" dirty="0"/>
          </a:p>
        </p:txBody>
      </p:sp>
      <p:sp>
        <p:nvSpPr>
          <p:cNvPr id="61" name="Shape 50"/>
          <p:cNvSpPr/>
          <p:nvPr/>
        </p:nvSpPr>
        <p:spPr>
          <a:xfrm>
            <a:off x="5440680" y="6053328"/>
            <a:ext cx="182880" cy="182880"/>
          </a:xfrm>
          <a:prstGeom prst="ellipse">
            <a:avLst/>
          </a:prstGeom>
          <a:solidFill>
            <a:srgbClr val="E07B00"/>
          </a:solidFill>
          <a:ln w="12700">
            <a:solidFill>
              <a:srgbClr val="E07B00"/>
            </a:solidFill>
            <a:prstDash val="solid"/>
          </a:ln>
        </p:spPr>
      </p:sp>
      <p:sp>
        <p:nvSpPr>
          <p:cNvPr id="62" name="Text 51"/>
          <p:cNvSpPr txBox="1"/>
          <p:nvPr/>
        </p:nvSpPr>
        <p:spPr>
          <a:xfrm>
            <a:off x="5440680" y="6053328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63" name="Text 52"/>
          <p:cNvSpPr txBox="1"/>
          <p:nvPr/>
        </p:nvSpPr>
        <p:spPr>
          <a:xfrm>
            <a:off x="5696712" y="6035040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VFD payback range</a:t>
            </a:r>
            <a:endParaRPr lang="en-US" sz="1100" dirty="0"/>
          </a:p>
        </p:txBody>
      </p:sp>
      <p:sp>
        <p:nvSpPr>
          <p:cNvPr id="64" name="Shape 53"/>
          <p:cNvSpPr/>
          <p:nvPr/>
        </p:nvSpPr>
        <p:spPr>
          <a:xfrm>
            <a:off x="5440680" y="6300216"/>
            <a:ext cx="182880" cy="182880"/>
          </a:xfrm>
          <a:prstGeom prst="ellipse">
            <a:avLst/>
          </a:prstGeom>
          <a:solidFill>
            <a:srgbClr val="E07B00"/>
          </a:solidFill>
          <a:ln w="12700">
            <a:solidFill>
              <a:srgbClr val="E07B00"/>
            </a:solidFill>
            <a:prstDash val="solid"/>
          </a:ln>
        </p:spPr>
      </p:sp>
      <p:sp>
        <p:nvSpPr>
          <p:cNvPr id="65" name="Text 54"/>
          <p:cNvSpPr txBox="1"/>
          <p:nvPr/>
        </p:nvSpPr>
        <p:spPr>
          <a:xfrm>
            <a:off x="5440680" y="6300216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66" name="Text 55"/>
          <p:cNvSpPr txBox="1"/>
          <p:nvPr/>
        </p:nvSpPr>
        <p:spPr>
          <a:xfrm>
            <a:off x="5696712" y="6281928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Cheapest fix first, with the safe setpoint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55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Approach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005840"/>
            <a:ext cx="1280160" cy="548640"/>
          </a:xfrm>
          <a:prstGeom prst="roundRect">
            <a:avLst>
              <a:gd name="adj" fmla="val 13333"/>
            </a:avLst>
          </a:prstGeom>
          <a:solidFill>
            <a:srgbClr val="3A4A45"/>
          </a:solidFill>
          <a:ln w="12700">
            <a:solidFill>
              <a:srgbClr val="3A4A45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00584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Motor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438912" y="1600200"/>
            <a:ext cx="1508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clamp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1847088" y="1170432"/>
            <a:ext cx="219456" cy="219456"/>
          </a:xfrm>
          <a:prstGeom prst="rightArrow">
            <a:avLst/>
          </a:prstGeom>
          <a:solidFill>
            <a:srgbClr val="3DCD58"/>
          </a:solidFill>
          <a:ln w="12700">
            <a:solidFill>
              <a:srgbClr val="3DCD5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103120" y="1005840"/>
            <a:ext cx="1280160" cy="548640"/>
          </a:xfrm>
          <a:prstGeom prst="roundRect">
            <a:avLst>
              <a:gd name="adj" fmla="val 13333"/>
            </a:avLst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103120" y="100584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Pump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993392" y="1600200"/>
            <a:ext cx="1508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suction (opt.)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 discharge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401568" y="1170432"/>
            <a:ext cx="219456" cy="219456"/>
          </a:xfrm>
          <a:prstGeom prst="rightArrow">
            <a:avLst/>
          </a:prstGeom>
          <a:solidFill>
            <a:srgbClr val="3DCD58"/>
          </a:solidFill>
          <a:ln w="12700">
            <a:solidFill>
              <a:srgbClr val="3DCD5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657600" y="1005840"/>
            <a:ext cx="1280160" cy="548640"/>
          </a:xfrm>
          <a:prstGeom prst="roundRect">
            <a:avLst>
              <a:gd name="adj" fmla="val 13333"/>
            </a:avLst>
          </a:prstGeom>
          <a:solidFill>
            <a:srgbClr val="E07B00"/>
          </a:solidFill>
          <a:ln w="12700">
            <a:solidFill>
              <a:srgbClr val="E07B0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657600" y="100584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Throttle valve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3547872" y="1600200"/>
            <a:ext cx="1508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P3 process side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(optional)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56048" y="1170432"/>
            <a:ext cx="219456" cy="219456"/>
          </a:xfrm>
          <a:prstGeom prst="rightArrow">
            <a:avLst/>
          </a:prstGeom>
          <a:solidFill>
            <a:srgbClr val="3DCD58"/>
          </a:solidFill>
          <a:ln w="12700">
            <a:solidFill>
              <a:srgbClr val="3DCD5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212080" y="1005840"/>
            <a:ext cx="1280160" cy="548640"/>
          </a:xfrm>
          <a:prstGeom prst="roundRect">
            <a:avLst>
              <a:gd name="adj" fmla="val 13333"/>
            </a:avLst>
          </a:prstGeom>
          <a:solidFill>
            <a:srgbClr val="9AA5A0"/>
          </a:solidFill>
          <a:ln w="12700">
            <a:solidFill>
              <a:srgbClr val="9AA5A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212080" y="100584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210312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kit: clamp + P2. Add P3 before a VFD purchase.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48640" y="2468880"/>
            <a:ext cx="896112" cy="566928"/>
          </a:xfrm>
          <a:prstGeom prst="roundRect">
            <a:avLst>
              <a:gd name="adj" fmla="val 9677"/>
            </a:avLst>
          </a:prstGeom>
          <a:solidFill>
            <a:srgbClr val="E3F6E8"/>
          </a:solidFill>
          <a:ln w="12700">
            <a:solidFill>
              <a:srgbClr val="3DCD5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2468880"/>
            <a:ext cx="896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Logs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1545336" y="2468880"/>
            <a:ext cx="896112" cy="566928"/>
          </a:xfrm>
          <a:prstGeom prst="roundRect">
            <a:avLst>
              <a:gd name="adj" fmla="val 9677"/>
            </a:avLst>
          </a:prstGeom>
          <a:solidFill>
            <a:srgbClr val="E3F6E8"/>
          </a:solidFill>
          <a:ln w="12700">
            <a:solidFill>
              <a:srgbClr val="3DCD5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545336" y="2468880"/>
            <a:ext cx="896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Calibrate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2542032" y="2468880"/>
            <a:ext cx="896112" cy="566928"/>
          </a:xfrm>
          <a:prstGeom prst="roundRect">
            <a:avLst>
              <a:gd name="adj" fmla="val 9677"/>
            </a:avLst>
          </a:prstGeom>
          <a:solidFill>
            <a:srgbClr val="E3F6E8"/>
          </a:solidFill>
          <a:ln w="12700">
            <a:solidFill>
              <a:srgbClr val="3DCD5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2542032" y="2468880"/>
            <a:ext cx="896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 flow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3538728" y="2468880"/>
            <a:ext cx="896112" cy="566928"/>
          </a:xfrm>
          <a:prstGeom prst="roundRect">
            <a:avLst>
              <a:gd name="adj" fmla="val 9677"/>
            </a:avLst>
          </a:prstGeom>
          <a:solidFill>
            <a:srgbClr val="E3F6E8"/>
          </a:solidFill>
          <a:ln w="12700">
            <a:solidFill>
              <a:srgbClr val="3DCD5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3538728" y="2468880"/>
            <a:ext cx="896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Shapley split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535424" y="2468880"/>
            <a:ext cx="896112" cy="566928"/>
          </a:xfrm>
          <a:prstGeom prst="roundRect">
            <a:avLst>
              <a:gd name="adj" fmla="val 9677"/>
            </a:avLst>
          </a:prstGeom>
          <a:solidFill>
            <a:srgbClr val="E3F6E8"/>
          </a:solidFill>
          <a:ln w="12700">
            <a:solidFill>
              <a:srgbClr val="3DCD5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535424" y="2468880"/>
            <a:ext cx="896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CUSUM check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532120" y="2468880"/>
            <a:ext cx="896112" cy="566928"/>
          </a:xfrm>
          <a:prstGeom prst="roundRect">
            <a:avLst>
              <a:gd name="adj" fmla="val 9677"/>
            </a:avLst>
          </a:prstGeom>
          <a:solidFill>
            <a:srgbClr val="E07B00"/>
          </a:solidFill>
          <a:ln w="12700">
            <a:solidFill>
              <a:srgbClr val="E07B0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532120" y="2468880"/>
            <a:ext cx="896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 report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548640" y="3108960"/>
            <a:ext cx="5989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Shapley = </a:t>
            </a:r>
            <a:pPr indent="0" marL="0">
              <a:buNone/>
            </a:pPr>
            <a:r>
              <a:rPr lang="en-US" sz="105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 split of blame between causes.  </a:t>
            </a:r>
            <a:pPr indent="0" marL="0">
              <a:buNone/>
            </a:pPr>
            <a:r>
              <a:rPr lang="en-US" sz="105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CUSUM = </a:t>
            </a:r>
            <a:pPr indent="0" marL="0">
              <a:buNone/>
            </a:pPr>
            <a:r>
              <a:rPr lang="en-US" sz="105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alarm when the pump slowly wears.  </a:t>
            </a:r>
            <a:pPr indent="0" marL="0">
              <a:buNone/>
            </a:pPr>
            <a:r>
              <a:rPr lang="en-US" sz="105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 = </a:t>
            </a:r>
            <a:pPr indent="0" marL="0">
              <a:buNone/>
            </a:pPr>
            <a:r>
              <a:rPr lang="en-US" sz="105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electricity units per m³ pumped.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48640" y="3611880"/>
            <a:ext cx="3611880" cy="2697480"/>
          </a:xfrm>
          <a:prstGeom prst="roundRect">
            <a:avLst>
              <a:gd name="adj" fmla="val 2712"/>
            </a:avLst>
          </a:prstGeom>
          <a:solidFill>
            <a:srgbClr val="FFFFFF"/>
          </a:solidFill>
          <a:ln w="12700">
            <a:solidFill>
              <a:srgbClr val="D3DFD7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58368" y="3657600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Grundfos NB 65-160/157 curves</a:t>
            </a:r>
            <a:endParaRPr lang="en-US" sz="1100" dirty="0"/>
          </a:p>
        </p:txBody>
      </p:sp>
      <p:pic>
        <p:nvPicPr>
          <p:cNvPr id="3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3931920"/>
            <a:ext cx="3474720" cy="2057400"/>
          </a:xfrm>
          <a:prstGeom prst="rect">
            <a:avLst/>
          </a:prstGeom>
        </p:spPr>
      </p:pic>
      <p:sp>
        <p:nvSpPr>
          <p:cNvPr id="34" name="Text 31"/>
          <p:cNvSpPr txBox="1"/>
          <p:nvPr/>
        </p:nvSpPr>
        <p:spPr>
          <a:xfrm>
            <a:off x="658368" y="6053328"/>
            <a:ext cx="3429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Off-peak 61.6 m³/h. Simulated; the system curve is assumed.</a:t>
            </a:r>
            <a:endParaRPr lang="en-US" sz="900" dirty="0"/>
          </a:p>
        </p:txBody>
      </p:sp>
      <p:sp>
        <p:nvSpPr>
          <p:cNvPr id="35" name="Shape 32"/>
          <p:cNvSpPr/>
          <p:nvPr/>
        </p:nvSpPr>
        <p:spPr>
          <a:xfrm>
            <a:off x="4297680" y="3611880"/>
            <a:ext cx="2240280" cy="2697480"/>
          </a:xfrm>
          <a:prstGeom prst="roundRect">
            <a:avLst>
              <a:gd name="adj" fmla="val 3265"/>
            </a:avLst>
          </a:prstGeom>
          <a:solidFill>
            <a:srgbClr val="E3F6E8"/>
          </a:solidFill>
          <a:ln w="19050">
            <a:solidFill>
              <a:srgbClr val="3DCD58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4389120" y="365760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flow is inferred</a:t>
            </a:r>
            <a:endParaRPr lang="en-US" sz="1200" dirty="0"/>
          </a:p>
        </p:txBody>
      </p:sp>
      <p:sp>
        <p:nvSpPr>
          <p:cNvPr id="37" name="Text 34"/>
          <p:cNvSpPr txBox="1"/>
          <p:nvPr/>
        </p:nvSpPr>
        <p:spPr>
          <a:xfrm>
            <a:off x="4389120" y="3950208"/>
            <a:ext cx="2084832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 → flow from the pump curve H(Q)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→ shaft power via motor efficiency → flow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scales, s_h and s_p, fitted from 7–14 days of logs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anchors: shut-off head, closed-valve power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flow meter used</a:t>
            </a:r>
            <a:endParaRPr lang="en-US" sz="1050" dirty="0"/>
          </a:p>
        </p:txBody>
      </p:sp>
      <p:sp>
        <p:nvSpPr>
          <p:cNvPr id="38" name="Shape 35"/>
          <p:cNvSpPr/>
          <p:nvPr/>
        </p:nvSpPr>
        <p:spPr>
          <a:xfrm>
            <a:off x="6858000" y="1005840"/>
            <a:ext cx="4800600" cy="4014026"/>
          </a:xfrm>
          <a:prstGeom prst="roundRect">
            <a:avLst>
              <a:gd name="adj" fmla="val 1367"/>
            </a:avLst>
          </a:prstGeom>
          <a:solidFill>
            <a:srgbClr val="FFFFFF"/>
          </a:solidFill>
          <a:ln w="19050">
            <a:solidFill>
              <a:srgbClr val="0E5A32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6876288" y="1024128"/>
            <a:ext cx="4764024" cy="228600"/>
          </a:xfrm>
          <a:prstGeom prst="rect">
            <a:avLst/>
          </a:prstGeom>
          <a:solidFill>
            <a:srgbClr val="E3F2E7"/>
          </a:solidFill>
          <a:ln w="12700">
            <a:solidFill>
              <a:srgbClr val="E3F2E7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6967728" y="1078992"/>
            <a:ext cx="91440" cy="91440"/>
          </a:xfrm>
          <a:prstGeom prst="ellipse">
            <a:avLst/>
          </a:prstGeom>
          <a:solidFill>
            <a:srgbClr val="EF444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7114032" y="1078992"/>
            <a:ext cx="91440" cy="9144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7260336" y="1078992"/>
            <a:ext cx="91440" cy="91440"/>
          </a:xfrm>
          <a:prstGeom prst="ellipse">
            <a:avLst/>
          </a:prstGeom>
          <a:solidFill>
            <a:srgbClr val="3DCD5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7498080" y="1051560"/>
            <a:ext cx="3886200" cy="155448"/>
          </a:xfrm>
          <a:prstGeom prst="roundRect">
            <a:avLst>
              <a:gd name="adj" fmla="val 47059"/>
            </a:avLst>
          </a:prstGeom>
          <a:solidFill>
            <a:srgbClr val="FFFFFF"/>
          </a:solidFill>
          <a:ln w="6350">
            <a:solidFill>
              <a:srgbClr val="BFE3C8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7498080" y="1051560"/>
            <a:ext cx="38862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pumprupee-dashboard.vercel.app</a:t>
            </a:r>
            <a:endParaRPr lang="en-US" sz="800" dirty="0"/>
          </a:p>
        </p:txBody>
      </p:sp>
      <p:pic>
        <p:nvPicPr>
          <p:cNvPr id="4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6288" y="1252728"/>
            <a:ext cx="4764024" cy="3767138"/>
          </a:xfrm>
          <a:prstGeom prst="rect">
            <a:avLst/>
          </a:prstGeom>
        </p:spPr>
      </p:pic>
      <p:sp>
        <p:nvSpPr>
          <p:cNvPr id="46" name="Shape 42"/>
          <p:cNvSpPr/>
          <p:nvPr/>
        </p:nvSpPr>
        <p:spPr>
          <a:xfrm>
            <a:off x="7038397" y="1785372"/>
            <a:ext cx="831378" cy="92634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E07B00"/>
            </a:solidFill>
            <a:prstDash val="solid"/>
          </a:ln>
        </p:spPr>
      </p:sp>
      <p:sp>
        <p:nvSpPr>
          <p:cNvPr id="47" name="Shape 43"/>
          <p:cNvSpPr/>
          <p:nvPr/>
        </p:nvSpPr>
        <p:spPr>
          <a:xfrm>
            <a:off x="6919525" y="1666500"/>
            <a:ext cx="237744" cy="237744"/>
          </a:xfrm>
          <a:prstGeom prst="ellipse">
            <a:avLst/>
          </a:prstGeom>
          <a:solidFill>
            <a:srgbClr val="E07B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Text 44"/>
          <p:cNvSpPr txBox="1"/>
          <p:nvPr/>
        </p:nvSpPr>
        <p:spPr>
          <a:xfrm>
            <a:off x="6919525" y="166650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49" name="Shape 45"/>
          <p:cNvSpPr/>
          <p:nvPr/>
        </p:nvSpPr>
        <p:spPr>
          <a:xfrm>
            <a:off x="7038397" y="3346914"/>
            <a:ext cx="1066271" cy="92634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E07B00"/>
            </a:solidFill>
            <a:prstDash val="solid"/>
          </a:ln>
        </p:spPr>
      </p:sp>
      <p:sp>
        <p:nvSpPr>
          <p:cNvPr id="50" name="Shape 46"/>
          <p:cNvSpPr/>
          <p:nvPr/>
        </p:nvSpPr>
        <p:spPr>
          <a:xfrm>
            <a:off x="6919525" y="3228042"/>
            <a:ext cx="237744" cy="237744"/>
          </a:xfrm>
          <a:prstGeom prst="ellipse">
            <a:avLst/>
          </a:prstGeom>
          <a:solidFill>
            <a:srgbClr val="E07B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1" name="Text 47"/>
          <p:cNvSpPr txBox="1"/>
          <p:nvPr/>
        </p:nvSpPr>
        <p:spPr>
          <a:xfrm>
            <a:off x="6919525" y="322804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52" name="Shape 48"/>
          <p:cNvSpPr/>
          <p:nvPr/>
        </p:nvSpPr>
        <p:spPr>
          <a:xfrm>
            <a:off x="9785620" y="3340297"/>
            <a:ext cx="721220" cy="92634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E07B00"/>
            </a:solidFill>
            <a:prstDash val="solid"/>
          </a:ln>
        </p:spPr>
      </p:sp>
      <p:sp>
        <p:nvSpPr>
          <p:cNvPr id="53" name="Shape 49"/>
          <p:cNvSpPr/>
          <p:nvPr/>
        </p:nvSpPr>
        <p:spPr>
          <a:xfrm>
            <a:off x="9666748" y="3221425"/>
            <a:ext cx="237744" cy="237744"/>
          </a:xfrm>
          <a:prstGeom prst="ellipse">
            <a:avLst/>
          </a:prstGeom>
          <a:solidFill>
            <a:srgbClr val="E07B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4" name="Text 50"/>
          <p:cNvSpPr txBox="1"/>
          <p:nvPr/>
        </p:nvSpPr>
        <p:spPr>
          <a:xfrm>
            <a:off x="9666748" y="3221425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55" name="Shape 51"/>
          <p:cNvSpPr/>
          <p:nvPr/>
        </p:nvSpPr>
        <p:spPr>
          <a:xfrm>
            <a:off x="6858000" y="5065586"/>
            <a:ext cx="3840480" cy="310896"/>
          </a:xfrm>
          <a:prstGeom prst="roundRect">
            <a:avLst>
              <a:gd name="adj" fmla="val 50000"/>
            </a:avLst>
          </a:prstGeom>
          <a:solidFill>
            <a:srgbClr val="E07B00"/>
          </a:solidFill>
          <a:ln w="12700">
            <a:solidFill>
              <a:srgbClr val="E07B00"/>
            </a:solidFill>
            <a:prstDash val="solid"/>
          </a:ln>
        </p:spPr>
      </p:sp>
      <p:sp>
        <p:nvSpPr>
          <p:cNvPr id="56" name="Text 52"/>
          <p:cNvSpPr txBox="1"/>
          <p:nvPr/>
        </p:nvSpPr>
        <p:spPr>
          <a:xfrm>
            <a:off x="6858000" y="5065586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prototype dashboard · simulated data</a:t>
            </a:r>
            <a:endParaRPr lang="en-US" sz="1000" dirty="0"/>
          </a:p>
        </p:txBody>
      </p:sp>
      <p:sp>
        <p:nvSpPr>
          <p:cNvPr id="57" name="Shape 53"/>
          <p:cNvSpPr/>
          <p:nvPr/>
        </p:nvSpPr>
        <p:spPr>
          <a:xfrm>
            <a:off x="6858000" y="5413057"/>
            <a:ext cx="182880" cy="182880"/>
          </a:xfrm>
          <a:prstGeom prst="ellipse">
            <a:avLst/>
          </a:prstGeom>
          <a:solidFill>
            <a:srgbClr val="E07B00"/>
          </a:solidFill>
          <a:ln w="12700">
            <a:solidFill>
              <a:srgbClr val="E07B00"/>
            </a:solidFill>
            <a:prstDash val="solid"/>
          </a:ln>
        </p:spPr>
      </p:sp>
      <p:sp>
        <p:nvSpPr>
          <p:cNvPr id="58" name="Text 54"/>
          <p:cNvSpPr txBox="1"/>
          <p:nvPr/>
        </p:nvSpPr>
        <p:spPr>
          <a:xfrm>
            <a:off x="6858000" y="5413057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59" name="Text 55"/>
          <p:cNvSpPr txBox="1"/>
          <p:nvPr/>
        </p:nvSpPr>
        <p:spPr>
          <a:xfrm>
            <a:off x="7114032" y="5394770"/>
            <a:ext cx="4526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days of ESP32 logs (simulated playback)</a:t>
            </a:r>
            <a:endParaRPr lang="en-US" sz="1050" dirty="0"/>
          </a:p>
        </p:txBody>
      </p:sp>
      <p:sp>
        <p:nvSpPr>
          <p:cNvPr id="60" name="Shape 56"/>
          <p:cNvSpPr/>
          <p:nvPr/>
        </p:nvSpPr>
        <p:spPr>
          <a:xfrm>
            <a:off x="6858000" y="5659946"/>
            <a:ext cx="182880" cy="182880"/>
          </a:xfrm>
          <a:prstGeom prst="ellipse">
            <a:avLst/>
          </a:prstGeom>
          <a:solidFill>
            <a:srgbClr val="E07B00"/>
          </a:solidFill>
          <a:ln w="12700">
            <a:solidFill>
              <a:srgbClr val="E07B00"/>
            </a:solidFill>
            <a:prstDash val="solid"/>
          </a:ln>
        </p:spPr>
      </p:sp>
      <p:sp>
        <p:nvSpPr>
          <p:cNvPr id="61" name="Text 57"/>
          <p:cNvSpPr txBox="1"/>
          <p:nvPr/>
        </p:nvSpPr>
        <p:spPr>
          <a:xfrm>
            <a:off x="6858000" y="5659946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62" name="Text 58"/>
          <p:cNvSpPr txBox="1"/>
          <p:nvPr/>
        </p:nvSpPr>
        <p:spPr>
          <a:xfrm>
            <a:off x="7114032" y="5641658"/>
            <a:ext cx="4526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 inferred from curve + power + head</a:t>
            </a:r>
            <a:endParaRPr lang="en-US" sz="1050" dirty="0"/>
          </a:p>
        </p:txBody>
      </p:sp>
      <p:sp>
        <p:nvSpPr>
          <p:cNvPr id="63" name="Shape 59"/>
          <p:cNvSpPr/>
          <p:nvPr/>
        </p:nvSpPr>
        <p:spPr>
          <a:xfrm>
            <a:off x="6858000" y="5906833"/>
            <a:ext cx="182880" cy="182880"/>
          </a:xfrm>
          <a:prstGeom prst="ellipse">
            <a:avLst/>
          </a:prstGeom>
          <a:solidFill>
            <a:srgbClr val="E07B00"/>
          </a:solidFill>
          <a:ln w="12700">
            <a:solidFill>
              <a:srgbClr val="E07B00"/>
            </a:solidFill>
            <a:prstDash val="solid"/>
          </a:ln>
        </p:spPr>
      </p:sp>
      <p:sp>
        <p:nvSpPr>
          <p:cNvPr id="64" name="Text 60"/>
          <p:cNvSpPr txBox="1"/>
          <p:nvPr/>
        </p:nvSpPr>
        <p:spPr>
          <a:xfrm>
            <a:off x="6858000" y="5906833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65" name="Text 61"/>
          <p:cNvSpPr txBox="1"/>
          <p:nvPr/>
        </p:nvSpPr>
        <p:spPr>
          <a:xfrm>
            <a:off x="7114032" y="5888546"/>
            <a:ext cx="4526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Calibration error vs study mean</a:t>
            </a:r>
            <a:endParaRPr lang="en-US" sz="1050" dirty="0"/>
          </a:p>
        </p:txBody>
      </p:sp>
      <p:sp>
        <p:nvSpPr>
          <p:cNvPr id="66" name="Text 62"/>
          <p:cNvSpPr txBox="1"/>
          <p:nvPr/>
        </p:nvSpPr>
        <p:spPr>
          <a:xfrm>
            <a:off x="6858000" y="6153722"/>
            <a:ext cx="4800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±3 points only with a measured system curve; otherwise about ±10.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55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 &amp; Simulated Results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896112"/>
            <a:ext cx="8503920" cy="310896"/>
          </a:xfrm>
          <a:prstGeom prst="roundRect">
            <a:avLst>
              <a:gd name="adj" fmla="val 50000"/>
            </a:avLst>
          </a:prstGeom>
          <a:solidFill>
            <a:srgbClr val="E07B00"/>
          </a:solidFill>
          <a:ln w="12700">
            <a:solidFill>
              <a:srgbClr val="E07B0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896112"/>
            <a:ext cx="8503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SIMULATED – Grundfos NB 65-160/157, 11 kW · 10 m lift · 5% margin · 16 h/day · 300 days · ₹8/kWh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85800" y="1280160"/>
            <a:ext cx="5029200" cy="3390138"/>
          </a:xfrm>
          <a:prstGeom prst="roundRect">
            <a:avLst>
              <a:gd name="adj" fmla="val 1618"/>
            </a:avLst>
          </a:prstGeom>
          <a:solidFill>
            <a:srgbClr val="FFFFFF"/>
          </a:solidFill>
          <a:ln w="19050">
            <a:solidFill>
              <a:srgbClr val="0E5A3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04088" y="1298448"/>
            <a:ext cx="4992624" cy="228600"/>
          </a:xfrm>
          <a:prstGeom prst="rect">
            <a:avLst/>
          </a:prstGeom>
          <a:solidFill>
            <a:srgbClr val="E3F2E7"/>
          </a:solidFill>
          <a:ln w="12700">
            <a:solidFill>
              <a:srgbClr val="E3F2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5528" y="1353312"/>
            <a:ext cx="91440" cy="91440"/>
          </a:xfrm>
          <a:prstGeom prst="ellipse">
            <a:avLst/>
          </a:prstGeom>
          <a:solidFill>
            <a:srgbClr val="EF444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41832" y="1353312"/>
            <a:ext cx="91440" cy="9144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88136" y="1353312"/>
            <a:ext cx="91440" cy="91440"/>
          </a:xfrm>
          <a:prstGeom prst="ellipse">
            <a:avLst/>
          </a:prstGeom>
          <a:solidFill>
            <a:srgbClr val="3DCD5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325880" y="1325880"/>
            <a:ext cx="4114800" cy="155448"/>
          </a:xfrm>
          <a:prstGeom prst="roundRect">
            <a:avLst>
              <a:gd name="adj" fmla="val 47059"/>
            </a:avLst>
          </a:prstGeom>
          <a:solidFill>
            <a:srgbClr val="FFFFFF"/>
          </a:solidFill>
          <a:ln w="6350">
            <a:solidFill>
              <a:srgbClr val="BFE3C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325880" y="1325880"/>
            <a:ext cx="41148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pumprupee-dashboard.vercel.app</a:t>
            </a:r>
            <a:endParaRPr lang="en-US" sz="8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527048"/>
            <a:ext cx="4992624" cy="314325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1127806" y="2991551"/>
            <a:ext cx="845295" cy="554736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E07B00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008934" y="2872679"/>
            <a:ext cx="237744" cy="237744"/>
          </a:xfrm>
          <a:prstGeom prst="ellipse">
            <a:avLst/>
          </a:prstGeom>
          <a:solidFill>
            <a:srgbClr val="E07B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008934" y="2872679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3746089" y="3669716"/>
            <a:ext cx="1787615" cy="97079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E07B0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3627217" y="3550844"/>
            <a:ext cx="237744" cy="237744"/>
          </a:xfrm>
          <a:prstGeom prst="ellipse">
            <a:avLst/>
          </a:prstGeom>
          <a:solidFill>
            <a:srgbClr val="E07B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627217" y="355084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873976" y="3641979"/>
            <a:ext cx="2733429" cy="284302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E07B00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755104" y="3523107"/>
            <a:ext cx="237744" cy="237744"/>
          </a:xfrm>
          <a:prstGeom prst="ellipse">
            <a:avLst/>
          </a:prstGeom>
          <a:solidFill>
            <a:srgbClr val="E07B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755104" y="3523107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685800" y="4716018"/>
            <a:ext cx="3840480" cy="310896"/>
          </a:xfrm>
          <a:prstGeom prst="roundRect">
            <a:avLst>
              <a:gd name="adj" fmla="val 50000"/>
            </a:avLst>
          </a:prstGeom>
          <a:solidFill>
            <a:srgbClr val="E07B00"/>
          </a:solidFill>
          <a:ln w="12700">
            <a:solidFill>
              <a:srgbClr val="E07B00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85800" y="4716018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prototype dashboard · simulated data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6400800" y="1280160"/>
            <a:ext cx="5029200" cy="3390138"/>
          </a:xfrm>
          <a:prstGeom prst="roundRect">
            <a:avLst>
              <a:gd name="adj" fmla="val 1618"/>
            </a:avLst>
          </a:prstGeom>
          <a:solidFill>
            <a:srgbClr val="FFFFFF"/>
          </a:solidFill>
          <a:ln w="19050">
            <a:solidFill>
              <a:srgbClr val="0E5A32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6419088" y="1298448"/>
            <a:ext cx="4992624" cy="228600"/>
          </a:xfrm>
          <a:prstGeom prst="rect">
            <a:avLst/>
          </a:prstGeom>
          <a:solidFill>
            <a:srgbClr val="E3F2E7"/>
          </a:solidFill>
          <a:ln w="12700">
            <a:solidFill>
              <a:srgbClr val="E3F2E7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6510528" y="1353312"/>
            <a:ext cx="91440" cy="91440"/>
          </a:xfrm>
          <a:prstGeom prst="ellipse">
            <a:avLst/>
          </a:prstGeom>
          <a:solidFill>
            <a:srgbClr val="EF444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6656832" y="1353312"/>
            <a:ext cx="91440" cy="9144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6803136" y="1353312"/>
            <a:ext cx="91440" cy="91440"/>
          </a:xfrm>
          <a:prstGeom prst="ellipse">
            <a:avLst/>
          </a:prstGeom>
          <a:solidFill>
            <a:srgbClr val="3DCD5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040880" y="1325880"/>
            <a:ext cx="4114800" cy="155448"/>
          </a:xfrm>
          <a:prstGeom prst="roundRect">
            <a:avLst>
              <a:gd name="adj" fmla="val 47059"/>
            </a:avLst>
          </a:prstGeom>
          <a:solidFill>
            <a:srgbClr val="FFFFFF"/>
          </a:solidFill>
          <a:ln w="6350">
            <a:solidFill>
              <a:srgbClr val="BFE3C8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040880" y="1325880"/>
            <a:ext cx="41148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pumprupee-dashboard.vercel.app</a:t>
            </a:r>
            <a:endParaRPr lang="en-US" sz="800" dirty="0"/>
          </a:p>
        </p:txBody>
      </p:sp>
      <p:pic>
        <p:nvPicPr>
          <p:cNvPr id="3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9088" y="1527048"/>
            <a:ext cx="4992624" cy="3143250"/>
          </a:xfrm>
          <a:prstGeom prst="rect">
            <a:avLst/>
          </a:prstGeom>
        </p:spPr>
      </p:pic>
      <p:sp>
        <p:nvSpPr>
          <p:cNvPr id="32" name="Shape 28"/>
          <p:cNvSpPr/>
          <p:nvPr/>
        </p:nvSpPr>
        <p:spPr>
          <a:xfrm>
            <a:off x="8671294" y="2397290"/>
            <a:ext cx="1635063" cy="208026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E07B00"/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8552422" y="2278418"/>
            <a:ext cx="237744" cy="237744"/>
          </a:xfrm>
          <a:prstGeom prst="ellipse">
            <a:avLst/>
          </a:prstGeom>
          <a:solidFill>
            <a:srgbClr val="E07B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8552422" y="227841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35" name="Shape 31"/>
          <p:cNvSpPr/>
          <p:nvPr/>
        </p:nvSpPr>
        <p:spPr>
          <a:xfrm>
            <a:off x="8456334" y="2737066"/>
            <a:ext cx="688544" cy="253098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E07B00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8337462" y="2618194"/>
            <a:ext cx="237744" cy="237744"/>
          </a:xfrm>
          <a:prstGeom prst="ellipse">
            <a:avLst/>
          </a:prstGeom>
          <a:solidFill>
            <a:srgbClr val="E07B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8337462" y="261819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38" name="Shape 34"/>
          <p:cNvSpPr/>
          <p:nvPr/>
        </p:nvSpPr>
        <p:spPr>
          <a:xfrm>
            <a:off x="10617313" y="3083776"/>
            <a:ext cx="624457" cy="104013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E07B00"/>
            </a:solidFill>
            <a:prstDash val="solid"/>
          </a:ln>
        </p:spPr>
      </p:sp>
      <p:sp>
        <p:nvSpPr>
          <p:cNvPr id="39" name="Shape 35"/>
          <p:cNvSpPr/>
          <p:nvPr/>
        </p:nvSpPr>
        <p:spPr>
          <a:xfrm>
            <a:off x="10498441" y="2964904"/>
            <a:ext cx="237744" cy="237744"/>
          </a:xfrm>
          <a:prstGeom prst="ellipse">
            <a:avLst/>
          </a:prstGeom>
          <a:solidFill>
            <a:srgbClr val="E07B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10498441" y="296490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41" name="Shape 37"/>
          <p:cNvSpPr/>
          <p:nvPr/>
        </p:nvSpPr>
        <p:spPr>
          <a:xfrm>
            <a:off x="6400800" y="4716018"/>
            <a:ext cx="3840480" cy="310896"/>
          </a:xfrm>
          <a:prstGeom prst="roundRect">
            <a:avLst>
              <a:gd name="adj" fmla="val 50000"/>
            </a:avLst>
          </a:prstGeom>
          <a:solidFill>
            <a:srgbClr val="E07B00"/>
          </a:solidFill>
          <a:ln w="12700">
            <a:solidFill>
              <a:srgbClr val="E07B00"/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6400800" y="4716018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prototype dashboard · simulated data</a:t>
            </a:r>
            <a:endParaRPr lang="en-US" sz="1000" dirty="0"/>
          </a:p>
        </p:txBody>
      </p:sp>
      <p:sp>
        <p:nvSpPr>
          <p:cNvPr id="43" name="Shape 39"/>
          <p:cNvSpPr/>
          <p:nvPr/>
        </p:nvSpPr>
        <p:spPr>
          <a:xfrm>
            <a:off x="685800" y="5063490"/>
            <a:ext cx="182880" cy="182880"/>
          </a:xfrm>
          <a:prstGeom prst="ellipse">
            <a:avLst/>
          </a:prstGeom>
          <a:solidFill>
            <a:srgbClr val="E07B00"/>
          </a:solidFill>
          <a:ln w="12700">
            <a:solidFill>
              <a:srgbClr val="E07B00"/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685800" y="5063490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45" name="Text 41"/>
          <p:cNvSpPr txBox="1"/>
          <p:nvPr/>
        </p:nvSpPr>
        <p:spPr>
          <a:xfrm>
            <a:off x="941832" y="5045202"/>
            <a:ext cx="4754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Valve is the largest share of waste</a:t>
            </a:r>
            <a:endParaRPr lang="en-US" sz="1000" dirty="0"/>
          </a:p>
        </p:txBody>
      </p:sp>
      <p:sp>
        <p:nvSpPr>
          <p:cNvPr id="46" name="Shape 42"/>
          <p:cNvSpPr/>
          <p:nvPr/>
        </p:nvSpPr>
        <p:spPr>
          <a:xfrm>
            <a:off x="685800" y="5264658"/>
            <a:ext cx="182880" cy="182880"/>
          </a:xfrm>
          <a:prstGeom prst="ellipse">
            <a:avLst/>
          </a:prstGeom>
          <a:solidFill>
            <a:srgbClr val="E07B00"/>
          </a:solidFill>
          <a:ln w="12700">
            <a:solidFill>
              <a:srgbClr val="E07B00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685800" y="5264658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48" name="Text 44"/>
          <p:cNvSpPr txBox="1"/>
          <p:nvPr/>
        </p:nvSpPr>
        <p:spPr>
          <a:xfrm>
            <a:off x="941832" y="5246370"/>
            <a:ext cx="4754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₹/yr attributed to the wrong cause, by sensor tier</a:t>
            </a:r>
            <a:endParaRPr lang="en-US" sz="1000" dirty="0"/>
          </a:p>
        </p:txBody>
      </p:sp>
      <p:sp>
        <p:nvSpPr>
          <p:cNvPr id="49" name="Shape 45"/>
          <p:cNvSpPr/>
          <p:nvPr/>
        </p:nvSpPr>
        <p:spPr>
          <a:xfrm>
            <a:off x="685800" y="5465826"/>
            <a:ext cx="182880" cy="182880"/>
          </a:xfrm>
          <a:prstGeom prst="ellipse">
            <a:avLst/>
          </a:prstGeom>
          <a:solidFill>
            <a:srgbClr val="E07B00"/>
          </a:solidFill>
          <a:ln w="12700">
            <a:solidFill>
              <a:srgbClr val="E07B00"/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685800" y="5465826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51" name="Text 47"/>
          <p:cNvSpPr txBox="1"/>
          <p:nvPr/>
        </p:nvSpPr>
        <p:spPr>
          <a:xfrm>
            <a:off x="941832" y="5447538"/>
            <a:ext cx="4754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Valve share is partly by construction</a:t>
            </a:r>
            <a:endParaRPr lang="en-US" sz="1000" dirty="0"/>
          </a:p>
        </p:txBody>
      </p:sp>
      <p:sp>
        <p:nvSpPr>
          <p:cNvPr id="52" name="Shape 48"/>
          <p:cNvSpPr/>
          <p:nvPr/>
        </p:nvSpPr>
        <p:spPr>
          <a:xfrm>
            <a:off x="6400800" y="5063490"/>
            <a:ext cx="182880" cy="182880"/>
          </a:xfrm>
          <a:prstGeom prst="ellipse">
            <a:avLst/>
          </a:prstGeom>
          <a:solidFill>
            <a:srgbClr val="E07B00"/>
          </a:solidFill>
          <a:ln w="12700">
            <a:solidFill>
              <a:srgbClr val="E07B00"/>
            </a:solidFill>
            <a:prstDash val="solid"/>
          </a:ln>
        </p:spPr>
      </p:sp>
      <p:sp>
        <p:nvSpPr>
          <p:cNvPr id="53" name="Text 49"/>
          <p:cNvSpPr txBox="1"/>
          <p:nvPr/>
        </p:nvSpPr>
        <p:spPr>
          <a:xfrm>
            <a:off x="6400800" y="5063490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54" name="Text 50"/>
          <p:cNvSpPr txBox="1"/>
          <p:nvPr/>
        </p:nvSpPr>
        <p:spPr>
          <a:xfrm>
            <a:off x="6656832" y="5045202"/>
            <a:ext cx="4754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/ NO-GO verdict for this pump</a:t>
            </a:r>
            <a:endParaRPr lang="en-US" sz="1000" dirty="0"/>
          </a:p>
        </p:txBody>
      </p:sp>
      <p:sp>
        <p:nvSpPr>
          <p:cNvPr id="55" name="Shape 51"/>
          <p:cNvSpPr/>
          <p:nvPr/>
        </p:nvSpPr>
        <p:spPr>
          <a:xfrm>
            <a:off x="6400800" y="5264658"/>
            <a:ext cx="182880" cy="182880"/>
          </a:xfrm>
          <a:prstGeom prst="ellipse">
            <a:avLst/>
          </a:prstGeom>
          <a:solidFill>
            <a:srgbClr val="E07B00"/>
          </a:solidFill>
          <a:ln w="12700">
            <a:solidFill>
              <a:srgbClr val="E07B00"/>
            </a:solidFill>
            <a:prstDash val="solid"/>
          </a:ln>
        </p:spPr>
      </p:sp>
      <p:sp>
        <p:nvSpPr>
          <p:cNvPr id="56" name="Text 52"/>
          <p:cNvSpPr txBox="1"/>
          <p:nvPr/>
        </p:nvSpPr>
        <p:spPr>
          <a:xfrm>
            <a:off x="6400800" y="5264658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57" name="Text 53"/>
          <p:cNvSpPr txBox="1"/>
          <p:nvPr/>
        </p:nvSpPr>
        <p:spPr>
          <a:xfrm>
            <a:off x="6656832" y="5246370"/>
            <a:ext cx="4754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saving in ₹</a:t>
            </a:r>
            <a:endParaRPr lang="en-US" sz="1000" dirty="0"/>
          </a:p>
        </p:txBody>
      </p:sp>
      <p:sp>
        <p:nvSpPr>
          <p:cNvPr id="58" name="Shape 54"/>
          <p:cNvSpPr/>
          <p:nvPr/>
        </p:nvSpPr>
        <p:spPr>
          <a:xfrm>
            <a:off x="6400800" y="5465826"/>
            <a:ext cx="182880" cy="182880"/>
          </a:xfrm>
          <a:prstGeom prst="ellipse">
            <a:avLst/>
          </a:prstGeom>
          <a:solidFill>
            <a:srgbClr val="E07B00"/>
          </a:solidFill>
          <a:ln w="12700">
            <a:solidFill>
              <a:srgbClr val="E07B00"/>
            </a:solidFill>
            <a:prstDash val="solid"/>
          </a:ln>
        </p:spPr>
      </p:sp>
      <p:sp>
        <p:nvSpPr>
          <p:cNvPr id="59" name="Text 55"/>
          <p:cNvSpPr txBox="1"/>
          <p:nvPr/>
        </p:nvSpPr>
        <p:spPr>
          <a:xfrm>
            <a:off x="6400800" y="5465826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60" name="Text 56"/>
          <p:cNvSpPr txBox="1"/>
          <p:nvPr/>
        </p:nvSpPr>
        <p:spPr>
          <a:xfrm>
            <a:off x="6656832" y="5447538"/>
            <a:ext cx="4754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Break-even month</a:t>
            </a:r>
            <a:endParaRPr lang="en-US" sz="1000" dirty="0"/>
          </a:p>
        </p:txBody>
      </p:sp>
      <p:sp>
        <p:nvSpPr>
          <p:cNvPr id="61" name="Shape 57"/>
          <p:cNvSpPr/>
          <p:nvPr/>
        </p:nvSpPr>
        <p:spPr>
          <a:xfrm>
            <a:off x="548640" y="5779008"/>
            <a:ext cx="2651760" cy="621792"/>
          </a:xfrm>
          <a:prstGeom prst="roundRect">
            <a:avLst>
              <a:gd name="adj" fmla="val 11765"/>
            </a:avLst>
          </a:prstGeom>
          <a:solidFill>
            <a:srgbClr val="E3F6E8"/>
          </a:solidFill>
          <a:ln w="19050">
            <a:solidFill>
              <a:srgbClr val="3DCD58"/>
            </a:solidFill>
            <a:prstDash val="solid"/>
          </a:ln>
        </p:spPr>
      </p:sp>
      <p:sp>
        <p:nvSpPr>
          <p:cNvPr id="62" name="Text 58"/>
          <p:cNvSpPr txBox="1"/>
          <p:nvPr/>
        </p:nvSpPr>
        <p:spPr>
          <a:xfrm>
            <a:off x="640080" y="5788152"/>
            <a:ext cx="2468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₹69,292 / ₹1,27,178</a:t>
            </a:r>
            <a:endParaRPr lang="en-US" sz="15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year (constant / proportional)</a:t>
            </a:r>
            <a:endParaRPr lang="en-US" sz="1500" dirty="0"/>
          </a:p>
        </p:txBody>
      </p:sp>
      <p:sp>
        <p:nvSpPr>
          <p:cNvPr id="63" name="Shape 59"/>
          <p:cNvSpPr/>
          <p:nvPr/>
        </p:nvSpPr>
        <p:spPr>
          <a:xfrm>
            <a:off x="3362249" y="5779008"/>
            <a:ext cx="2651760" cy="621792"/>
          </a:xfrm>
          <a:prstGeom prst="roundRect">
            <a:avLst>
              <a:gd name="adj" fmla="val 11765"/>
            </a:avLst>
          </a:prstGeom>
          <a:solidFill>
            <a:srgbClr val="E3F6E8"/>
          </a:solidFill>
          <a:ln w="19050">
            <a:solidFill>
              <a:srgbClr val="3DCD58"/>
            </a:solidFill>
            <a:prstDash val="solid"/>
          </a:ln>
        </p:spPr>
      </p:sp>
      <p:sp>
        <p:nvSpPr>
          <p:cNvPr id="64" name="Text 60"/>
          <p:cNvSpPr txBox="1"/>
          <p:nvPr/>
        </p:nvSpPr>
        <p:spPr>
          <a:xfrm>
            <a:off x="3453689" y="5788152"/>
            <a:ext cx="2468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83–93%</a:t>
            </a:r>
            <a:endParaRPr lang="en-US" sz="15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waste is the valve</a:t>
            </a:r>
            <a:endParaRPr lang="en-US" sz="1500" dirty="0"/>
          </a:p>
        </p:txBody>
      </p:sp>
      <p:sp>
        <p:nvSpPr>
          <p:cNvPr id="65" name="Shape 61"/>
          <p:cNvSpPr/>
          <p:nvPr/>
        </p:nvSpPr>
        <p:spPr>
          <a:xfrm>
            <a:off x="6175858" y="5779008"/>
            <a:ext cx="2651760" cy="621792"/>
          </a:xfrm>
          <a:prstGeom prst="roundRect">
            <a:avLst>
              <a:gd name="adj" fmla="val 11765"/>
            </a:avLst>
          </a:prstGeom>
          <a:solidFill>
            <a:srgbClr val="E3F6E8"/>
          </a:solidFill>
          <a:ln w="19050">
            <a:solidFill>
              <a:srgbClr val="3DCD58"/>
            </a:solidFill>
            <a:prstDash val="solid"/>
          </a:ln>
        </p:spPr>
      </p:sp>
      <p:sp>
        <p:nvSpPr>
          <p:cNvPr id="66" name="Text 62"/>
          <p:cNvSpPr txBox="1"/>
          <p:nvPr/>
        </p:nvSpPr>
        <p:spPr>
          <a:xfrm>
            <a:off x="6267298" y="5788152"/>
            <a:ext cx="2468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4–19 months</a:t>
            </a:r>
            <a:endParaRPr lang="en-US" sz="15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VFD payback, oversized pump</a:t>
            </a:r>
            <a:endParaRPr lang="en-US" sz="1500" dirty="0"/>
          </a:p>
        </p:txBody>
      </p:sp>
      <p:sp>
        <p:nvSpPr>
          <p:cNvPr id="67" name="Shape 63"/>
          <p:cNvSpPr/>
          <p:nvPr/>
        </p:nvSpPr>
        <p:spPr>
          <a:xfrm>
            <a:off x="8989466" y="5779008"/>
            <a:ext cx="2651760" cy="621792"/>
          </a:xfrm>
          <a:prstGeom prst="roundRect">
            <a:avLst>
              <a:gd name="adj" fmla="val 11765"/>
            </a:avLst>
          </a:prstGeom>
          <a:solidFill>
            <a:srgbClr val="E3F6E8"/>
          </a:solidFill>
          <a:ln w="19050">
            <a:solidFill>
              <a:srgbClr val="3DCD58"/>
            </a:solidFill>
            <a:prstDash val="solid"/>
          </a:ln>
        </p:spPr>
      </p:sp>
      <p:sp>
        <p:nvSpPr>
          <p:cNvPr id="68" name="Text 64"/>
          <p:cNvSpPr txBox="1"/>
          <p:nvPr/>
        </p:nvSpPr>
        <p:spPr>
          <a:xfrm>
            <a:off x="9080906" y="5788152"/>
            <a:ext cx="2468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±3 / ±10 pts</a:t>
            </a:r>
            <a:endParaRPr lang="en-US" sz="15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/ without measured system curve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55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Innovation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build on proven tools. The new part is the integration for MSMEs.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448056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D3DFD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37160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exists (we build on it)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691640"/>
            <a:ext cx="42062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KSB PumpMeter, US DOE PSAT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Samotics (motor-current efficiency)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Schneider Altivar Process (sensorless flow), EcoStruxure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Indian IoT vendors and ESCOs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Shapley split and CUSUM: known methods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3611880"/>
            <a:ext cx="4480560" cy="2194560"/>
          </a:xfrm>
          <a:prstGeom prst="roundRect">
            <a:avLst>
              <a:gd name="adj" fmla="val 3333"/>
            </a:avLst>
          </a:prstGeom>
          <a:solidFill>
            <a:srgbClr val="E3F6E8"/>
          </a:solidFill>
          <a:ln w="31750">
            <a:solidFill>
              <a:srgbClr val="3DCD5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365760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integration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3977640"/>
            <a:ext cx="42062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 waste split by cause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Prices the value of an extra sensor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Low-cost shared kit, no flow meter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 before/after verification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Pump-specific VFD verdict before capex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315200" y="1325880"/>
            <a:ext cx="1051560" cy="502920"/>
          </a:xfrm>
          <a:prstGeom prst="roundRect">
            <a:avLst>
              <a:gd name="adj" fmla="val 9091"/>
            </a:avLst>
          </a:prstGeom>
          <a:solidFill>
            <a:srgbClr val="E8EEEA"/>
          </a:solidFill>
          <a:ln w="12700">
            <a:solidFill>
              <a:srgbClr val="D3DFD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0" y="13258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 meter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412480" y="1325880"/>
            <a:ext cx="1051560" cy="502920"/>
          </a:xfrm>
          <a:prstGeom prst="roundRect">
            <a:avLst>
              <a:gd name="adj" fmla="val 9091"/>
            </a:avLst>
          </a:prstGeom>
          <a:solidFill>
            <a:srgbClr val="E8EEEA"/>
          </a:solidFill>
          <a:ln w="12700">
            <a:solidFill>
              <a:srgbClr val="D3DFD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412480" y="13258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audit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9509760" y="1325880"/>
            <a:ext cx="1051560" cy="502920"/>
          </a:xfrm>
          <a:prstGeom prst="roundRect">
            <a:avLst>
              <a:gd name="adj" fmla="val 9091"/>
            </a:avLst>
          </a:prstGeom>
          <a:solidFill>
            <a:srgbClr val="E8EEEA"/>
          </a:solidFill>
          <a:ln w="12700">
            <a:solidFill>
              <a:srgbClr val="D3DFD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509760" y="13258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platform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0607040" y="1325880"/>
            <a:ext cx="1051560" cy="502920"/>
          </a:xfrm>
          <a:prstGeom prst="roundRect">
            <a:avLst>
              <a:gd name="adj" fmla="val 9091"/>
            </a:avLst>
          </a:prstGeom>
          <a:solidFill>
            <a:srgbClr val="0E5A32"/>
          </a:solidFill>
          <a:ln w="12700">
            <a:solidFill>
              <a:srgbClr val="0E5A3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607040" y="13258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PumpRupee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303520" y="1892808"/>
            <a:ext cx="635508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3DFD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394960" y="1892808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Upfront cost, small plant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7315200" y="1892808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Meter + install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8412480" y="1892808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 per visit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9509760" y="1892808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10607040" y="1892808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₹6,100–13,300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303520" y="2377440"/>
            <a:ext cx="6355080" cy="457200"/>
          </a:xfrm>
          <a:prstGeom prst="rect">
            <a:avLst/>
          </a:prstGeom>
          <a:solidFill>
            <a:srgbClr val="EEF4F0"/>
          </a:solidFill>
          <a:ln w="6350">
            <a:solidFill>
              <a:srgbClr val="D3DFD7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394960" y="237744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shutdown</a:t>
            </a:r>
            <a:endParaRPr lang="en-US" sz="1150" dirty="0"/>
          </a:p>
        </p:txBody>
      </p:sp>
      <p:pic>
        <p:nvPicPr>
          <p:cNvPr id="2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0" y="2468880"/>
            <a:ext cx="274320" cy="274320"/>
          </a:xfrm>
          <a:prstGeom prst="rect">
            <a:avLst/>
          </a:prstGeom>
        </p:spPr>
      </p:pic>
      <p:pic>
        <p:nvPicPr>
          <p:cNvPr id="2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0" y="2468880"/>
            <a:ext cx="274320" cy="274320"/>
          </a:xfrm>
          <a:prstGeom prst="rect">
            <a:avLst/>
          </a:prstGeom>
        </p:spPr>
      </p:pic>
      <p:pic>
        <p:nvPicPr>
          <p:cNvPr id="2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0" y="2468880"/>
            <a:ext cx="274320" cy="274320"/>
          </a:xfrm>
          <a:prstGeom prst="rect">
            <a:avLst/>
          </a:prstGeom>
        </p:spPr>
      </p:pic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2800" y="2468880"/>
            <a:ext cx="274320" cy="274320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5303520" y="2862072"/>
            <a:ext cx="635508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3DFD7"/>
            </a:solidFill>
            <a:prstDash val="solid"/>
          </a:ln>
        </p:spPr>
      </p:sp>
      <p:sp>
        <p:nvSpPr>
          <p:cNvPr id="31" name="Text 25"/>
          <p:cNvSpPr txBox="1"/>
          <p:nvPr/>
        </p:nvSpPr>
        <p:spPr>
          <a:xfrm>
            <a:off x="5394960" y="2862072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in ₹</a:t>
            </a:r>
            <a:endParaRPr lang="en-US" sz="1150" dirty="0"/>
          </a:p>
        </p:txBody>
      </p:sp>
      <p:pic>
        <p:nvPicPr>
          <p:cNvPr id="3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80960" y="2953512"/>
            <a:ext cx="274320" cy="274320"/>
          </a:xfrm>
          <a:prstGeom prst="rect">
            <a:avLst/>
          </a:prstGeom>
        </p:spPr>
      </p:pic>
      <p:pic>
        <p:nvPicPr>
          <p:cNvPr id="3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78240" y="2953512"/>
            <a:ext cx="274320" cy="274320"/>
          </a:xfrm>
          <a:prstGeom prst="rect">
            <a:avLst/>
          </a:prstGeom>
        </p:spPr>
      </p:pic>
      <p:pic>
        <p:nvPicPr>
          <p:cNvPr id="3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75520" y="2953512"/>
            <a:ext cx="274320" cy="274320"/>
          </a:xfrm>
          <a:prstGeom prst="rect">
            <a:avLst/>
          </a:prstGeom>
        </p:spPr>
      </p:pic>
      <p:pic>
        <p:nvPicPr>
          <p:cNvPr id="35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972800" y="2953512"/>
            <a:ext cx="274320" cy="274320"/>
          </a:xfrm>
          <a:prstGeom prst="rect">
            <a:avLst/>
          </a:prstGeom>
        </p:spPr>
      </p:pic>
      <p:sp>
        <p:nvSpPr>
          <p:cNvPr id="36" name="Shape 26"/>
          <p:cNvSpPr/>
          <p:nvPr/>
        </p:nvSpPr>
        <p:spPr>
          <a:xfrm>
            <a:off x="5303520" y="3346704"/>
            <a:ext cx="6355080" cy="457200"/>
          </a:xfrm>
          <a:prstGeom prst="rect">
            <a:avLst/>
          </a:prstGeom>
          <a:solidFill>
            <a:srgbClr val="EEF4F0"/>
          </a:solidFill>
          <a:ln w="6350">
            <a:solidFill>
              <a:srgbClr val="D3DFD7"/>
            </a:solidFill>
            <a:prstDash val="solid"/>
          </a:ln>
        </p:spPr>
      </p:sp>
      <p:sp>
        <p:nvSpPr>
          <p:cNvPr id="37" name="Text 27"/>
          <p:cNvSpPr txBox="1"/>
          <p:nvPr/>
        </p:nvSpPr>
        <p:spPr>
          <a:xfrm>
            <a:off x="5394960" y="3346704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Cause breakdown</a:t>
            </a:r>
            <a:endParaRPr lang="en-US" sz="1150" dirty="0"/>
          </a:p>
        </p:txBody>
      </p:sp>
      <p:pic>
        <p:nvPicPr>
          <p:cNvPr id="38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80960" y="3438144"/>
            <a:ext cx="274320" cy="274320"/>
          </a:xfrm>
          <a:prstGeom prst="rect">
            <a:avLst/>
          </a:prstGeom>
        </p:spPr>
      </p:pic>
      <p:pic>
        <p:nvPicPr>
          <p:cNvPr id="39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778240" y="3438144"/>
            <a:ext cx="274320" cy="274320"/>
          </a:xfrm>
          <a:prstGeom prst="rect">
            <a:avLst/>
          </a:prstGeom>
        </p:spPr>
      </p:pic>
      <p:pic>
        <p:nvPicPr>
          <p:cNvPr id="40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875520" y="3438144"/>
            <a:ext cx="274320" cy="274320"/>
          </a:xfrm>
          <a:prstGeom prst="rect">
            <a:avLst/>
          </a:prstGeom>
        </p:spPr>
      </p:pic>
      <p:pic>
        <p:nvPicPr>
          <p:cNvPr id="41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972800" y="3438144"/>
            <a:ext cx="274320" cy="274320"/>
          </a:xfrm>
          <a:prstGeom prst="rect">
            <a:avLst/>
          </a:prstGeom>
        </p:spPr>
      </p:pic>
      <p:sp>
        <p:nvSpPr>
          <p:cNvPr id="42" name="Shape 28"/>
          <p:cNvSpPr/>
          <p:nvPr/>
        </p:nvSpPr>
        <p:spPr>
          <a:xfrm>
            <a:off x="5303520" y="3831336"/>
            <a:ext cx="635508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3DFD7"/>
            </a:solidFill>
            <a:prstDash val="solid"/>
          </a:ln>
        </p:spPr>
      </p:sp>
      <p:sp>
        <p:nvSpPr>
          <p:cNvPr id="43" name="Text 29"/>
          <p:cNvSpPr txBox="1"/>
          <p:nvPr/>
        </p:nvSpPr>
        <p:spPr>
          <a:xfrm>
            <a:off x="5394960" y="3831336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VFD verdict</a:t>
            </a:r>
            <a:endParaRPr lang="en-US" sz="1150" dirty="0"/>
          </a:p>
        </p:txBody>
      </p:sp>
      <p:pic>
        <p:nvPicPr>
          <p:cNvPr id="44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680960" y="3922776"/>
            <a:ext cx="274320" cy="274320"/>
          </a:xfrm>
          <a:prstGeom prst="rect">
            <a:avLst/>
          </a:prstGeom>
        </p:spPr>
      </p:pic>
      <p:pic>
        <p:nvPicPr>
          <p:cNvPr id="45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778240" y="3922776"/>
            <a:ext cx="274320" cy="274320"/>
          </a:xfrm>
          <a:prstGeom prst="rect">
            <a:avLst/>
          </a:prstGeom>
        </p:spPr>
      </p:pic>
      <p:pic>
        <p:nvPicPr>
          <p:cNvPr id="46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875520" y="3922776"/>
            <a:ext cx="274320" cy="274320"/>
          </a:xfrm>
          <a:prstGeom prst="rect">
            <a:avLst/>
          </a:prstGeom>
        </p:spPr>
      </p:pic>
      <p:pic>
        <p:nvPicPr>
          <p:cNvPr id="47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0972800" y="3922776"/>
            <a:ext cx="274320" cy="274320"/>
          </a:xfrm>
          <a:prstGeom prst="rect">
            <a:avLst/>
          </a:prstGeom>
        </p:spPr>
      </p:pic>
      <p:sp>
        <p:nvSpPr>
          <p:cNvPr id="48" name="Shape 30"/>
          <p:cNvSpPr/>
          <p:nvPr/>
        </p:nvSpPr>
        <p:spPr>
          <a:xfrm>
            <a:off x="5303520" y="4315968"/>
            <a:ext cx="6355080" cy="457200"/>
          </a:xfrm>
          <a:prstGeom prst="rect">
            <a:avLst/>
          </a:prstGeom>
          <a:solidFill>
            <a:srgbClr val="EEF4F0"/>
          </a:solidFill>
          <a:ln w="6350">
            <a:solidFill>
              <a:srgbClr val="D3DFD7"/>
            </a:solidFill>
            <a:prstDash val="solid"/>
          </a:ln>
        </p:spPr>
      </p:sp>
      <p:sp>
        <p:nvSpPr>
          <p:cNvPr id="49" name="Text 31"/>
          <p:cNvSpPr txBox="1"/>
          <p:nvPr/>
        </p:nvSpPr>
        <p:spPr>
          <a:xfrm>
            <a:off x="5394960" y="4315968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savings</a:t>
            </a:r>
            <a:endParaRPr lang="en-US" sz="1150" dirty="0"/>
          </a:p>
        </p:txBody>
      </p:sp>
      <p:pic>
        <p:nvPicPr>
          <p:cNvPr id="50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680960" y="4407408"/>
            <a:ext cx="274320" cy="274320"/>
          </a:xfrm>
          <a:prstGeom prst="rect">
            <a:avLst/>
          </a:prstGeom>
        </p:spPr>
      </p:pic>
      <p:pic>
        <p:nvPicPr>
          <p:cNvPr id="51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778240" y="4407408"/>
            <a:ext cx="274320" cy="274320"/>
          </a:xfrm>
          <a:prstGeom prst="rect">
            <a:avLst/>
          </a:prstGeom>
        </p:spPr>
      </p:pic>
      <p:pic>
        <p:nvPicPr>
          <p:cNvPr id="52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9875520" y="4407408"/>
            <a:ext cx="274320" cy="274320"/>
          </a:xfrm>
          <a:prstGeom prst="rect">
            <a:avLst/>
          </a:prstGeom>
        </p:spPr>
      </p:pic>
      <p:pic>
        <p:nvPicPr>
          <p:cNvPr id="53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0972800" y="4407408"/>
            <a:ext cx="274320" cy="274320"/>
          </a:xfrm>
          <a:prstGeom prst="rect">
            <a:avLst/>
          </a:prstGeom>
        </p:spPr>
      </p:pic>
      <p:sp>
        <p:nvSpPr>
          <p:cNvPr id="54" name="Shape 32"/>
          <p:cNvSpPr/>
          <p:nvPr/>
        </p:nvSpPr>
        <p:spPr>
          <a:xfrm>
            <a:off x="5303520" y="4800600"/>
            <a:ext cx="635508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3DFD7"/>
            </a:solidFill>
            <a:prstDash val="solid"/>
          </a:ln>
        </p:spPr>
      </p:sp>
      <p:sp>
        <p:nvSpPr>
          <p:cNvPr id="55" name="Text 33"/>
          <p:cNvSpPr txBox="1"/>
          <p:nvPr/>
        </p:nvSpPr>
        <p:spPr>
          <a:xfrm>
            <a:off x="5394960" y="48006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Fits small MSMEs</a:t>
            </a:r>
            <a:endParaRPr lang="en-US" sz="1150" dirty="0"/>
          </a:p>
        </p:txBody>
      </p:sp>
      <p:pic>
        <p:nvPicPr>
          <p:cNvPr id="56" name="Image 20" descr="preencoded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7680960" y="4892040"/>
            <a:ext cx="274320" cy="274320"/>
          </a:xfrm>
          <a:prstGeom prst="rect">
            <a:avLst/>
          </a:prstGeom>
        </p:spPr>
      </p:pic>
      <p:pic>
        <p:nvPicPr>
          <p:cNvPr id="57" name="Image 21" descr="preencoded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8778240" y="4892040"/>
            <a:ext cx="274320" cy="274320"/>
          </a:xfrm>
          <a:prstGeom prst="rect">
            <a:avLst/>
          </a:prstGeom>
        </p:spPr>
      </p:pic>
      <p:pic>
        <p:nvPicPr>
          <p:cNvPr id="58" name="Image 22" descr="preencoded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9875520" y="4892040"/>
            <a:ext cx="274320" cy="274320"/>
          </a:xfrm>
          <a:prstGeom prst="rect">
            <a:avLst/>
          </a:prstGeom>
        </p:spPr>
      </p:pic>
      <p:pic>
        <p:nvPicPr>
          <p:cNvPr id="59" name="Image 23" descr="preencoded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10972800" y="4892040"/>
            <a:ext cx="274320" cy="274320"/>
          </a:xfrm>
          <a:prstGeom prst="rect">
            <a:avLst/>
          </a:prstGeom>
        </p:spPr>
      </p:pic>
      <p:sp>
        <p:nvSpPr>
          <p:cNvPr id="60" name="Text 34"/>
          <p:cNvSpPr txBox="1"/>
          <p:nvPr/>
        </p:nvSpPr>
        <p:spPr>
          <a:xfrm>
            <a:off x="5303520" y="5303520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yes  ~ partly / varies  ✘ no. Our general assessment; PumpRupee's ticks are design targets (simulated).</a:t>
            </a:r>
            <a:endParaRPr lang="en-US" sz="950" dirty="0"/>
          </a:p>
        </p:txBody>
      </p:sp>
      <p:sp>
        <p:nvSpPr>
          <p:cNvPr id="61" name="Shape 35"/>
          <p:cNvSpPr/>
          <p:nvPr/>
        </p:nvSpPr>
        <p:spPr>
          <a:xfrm>
            <a:off x="548640" y="5897880"/>
            <a:ext cx="11109960" cy="502920"/>
          </a:xfrm>
          <a:prstGeom prst="roundRect">
            <a:avLst>
              <a:gd name="adj" fmla="val 18182"/>
            </a:avLst>
          </a:prstGeom>
          <a:solidFill>
            <a:srgbClr val="0E5A32"/>
          </a:solidFill>
          <a:ln w="12700">
            <a:solidFill>
              <a:srgbClr val="0E5A32"/>
            </a:solidFill>
            <a:prstDash val="solid"/>
          </a:ln>
        </p:spPr>
      </p:sp>
      <p:sp>
        <p:nvSpPr>
          <p:cNvPr id="62" name="Text 36"/>
          <p:cNvSpPr txBox="1"/>
          <p:nvPr/>
        </p:nvSpPr>
        <p:spPr>
          <a:xfrm>
            <a:off x="548640" y="5897880"/>
            <a:ext cx="11109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found no low-cost shared kit that combines these. Full platforms are the next step after PumpRupee.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55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Impact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896112"/>
            <a:ext cx="4937760" cy="310896"/>
          </a:xfrm>
          <a:prstGeom prst="roundRect">
            <a:avLst>
              <a:gd name="adj" fmla="val 50000"/>
            </a:avLst>
          </a:prstGeom>
          <a:solidFill>
            <a:srgbClr val="E07B00"/>
          </a:solidFill>
          <a:ln w="12700">
            <a:solidFill>
              <a:srgbClr val="E07B0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896112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SIMULATED – per 11 kW pump; prices indicative, not quotes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6583680" cy="3154680"/>
          </a:xfrm>
          <a:prstGeom prst="roundRect">
            <a:avLst>
              <a:gd name="adj" fmla="val 2319"/>
            </a:avLst>
          </a:prstGeom>
          <a:solidFill>
            <a:srgbClr val="FFFFFF"/>
          </a:solidFill>
          <a:ln w="12700">
            <a:solidFill>
              <a:srgbClr val="D3DFD7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1435608"/>
            <a:ext cx="6309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one-time kit vs a yearly saving (₹)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828800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Kit, one-time and reusable (top tier)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85800" y="2130552"/>
            <a:ext cx="497255" cy="365760"/>
          </a:xfrm>
          <a:prstGeom prst="rect">
            <a:avLst/>
          </a:prstGeom>
          <a:solidFill>
            <a:srgbClr val="9AA5A0"/>
          </a:solidFill>
          <a:ln w="12700">
            <a:solidFill>
              <a:srgbClr val="9AA5A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274495" y="2130552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₹13,300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2606040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Saving per year, constant pressure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85800" y="2907792"/>
            <a:ext cx="2590661" cy="365760"/>
          </a:xfrm>
          <a:prstGeom prst="rect">
            <a:avLst/>
          </a:prstGeom>
          <a:solidFill>
            <a:srgbClr val="3DCD58"/>
          </a:solidFill>
          <a:ln w="12700">
            <a:solidFill>
              <a:srgbClr val="3DCD5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367901" y="2907792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₹69,292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3383280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Saving per year, proportional pressure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85800" y="3685032"/>
            <a:ext cx="4754880" cy="365760"/>
          </a:xfrm>
          <a:prstGeom prst="rect">
            <a:avLst/>
          </a:prstGeom>
          <a:solidFill>
            <a:srgbClr val="0E5A32"/>
          </a:solidFill>
          <a:ln w="12700">
            <a:solidFill>
              <a:srgbClr val="0E5A3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532120" y="3685032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₹1,27,178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4206240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kit ≈ 5–19% of a year's simulated saving on one pump.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315200" y="1371600"/>
            <a:ext cx="434340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3DFD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452360" y="1572768"/>
            <a:ext cx="548640" cy="548640"/>
          </a:xfrm>
          <a:prstGeom prst="ellipse">
            <a:avLst/>
          </a:prstGeom>
          <a:solidFill>
            <a:srgbClr val="0E5A32"/>
          </a:solidFill>
          <a:ln w="12700">
            <a:solidFill>
              <a:srgbClr val="0E5A32"/>
            </a:solidFill>
            <a:prstDash val="solid"/>
          </a:ln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4034" y="1704442"/>
            <a:ext cx="285293" cy="285293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8138160" y="1444752"/>
            <a:ext cx="3429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6.1–11.3 t</a:t>
            </a:r>
            <a:endParaRPr lang="en-US" sz="1800" dirty="0"/>
          </a:p>
          <a:p>
            <a:pPr indent="0" marL="0">
              <a:buNone/>
            </a:pPr>
            <a:r>
              <a:rPr lang="en-US" sz="105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CO₂ avoided per pump per year (0.710 kg/kWh)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7315200" y="2450592"/>
            <a:ext cx="434340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3DFD7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452360" y="2651760"/>
            <a:ext cx="548640" cy="548640"/>
          </a:xfrm>
          <a:prstGeom prst="ellipse">
            <a:avLst/>
          </a:prstGeom>
          <a:solidFill>
            <a:srgbClr val="E07B00"/>
          </a:solidFill>
          <a:ln w="12700">
            <a:solidFill>
              <a:srgbClr val="E07B00"/>
            </a:solidFill>
            <a:prstDash val="solid"/>
          </a:ln>
        </p:spPr>
      </p:sp>
      <p:pic>
        <p:nvPicPr>
          <p:cNvPr id="2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4034" y="2783434"/>
            <a:ext cx="285293" cy="285293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8138160" y="2523744"/>
            <a:ext cx="3429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₹50,200–1,09,400</a:t>
            </a:r>
            <a:endParaRPr lang="en-US" sz="1800" dirty="0"/>
          </a:p>
          <a:p>
            <a:pPr indent="0" marL="0">
              <a:buNone/>
            </a:pPr>
            <a:r>
              <a:rPr lang="en-US" sz="105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 VFD purchase avoided where it won't pay back</a:t>
            </a:r>
            <a:endParaRPr lang="en-US" sz="1800" dirty="0"/>
          </a:p>
        </p:txBody>
      </p:sp>
      <p:sp>
        <p:nvSpPr>
          <p:cNvPr id="25" name="Shape 21"/>
          <p:cNvSpPr/>
          <p:nvPr/>
        </p:nvSpPr>
        <p:spPr>
          <a:xfrm>
            <a:off x="7315200" y="3529584"/>
            <a:ext cx="434340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3DFD7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7452360" y="3730752"/>
            <a:ext cx="548640" cy="548640"/>
          </a:xfrm>
          <a:prstGeom prst="ellipse">
            <a:avLst/>
          </a:prstGeom>
          <a:solidFill>
            <a:srgbClr val="0E5A32"/>
          </a:solidFill>
          <a:ln w="12700">
            <a:solidFill>
              <a:srgbClr val="0E5A32"/>
            </a:solidFill>
            <a:prstDash val="solid"/>
          </a:ln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4034" y="3862426"/>
            <a:ext cx="285293" cy="285293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8138160" y="3602736"/>
            <a:ext cx="3429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4–19 months</a:t>
            </a:r>
            <a:endParaRPr lang="en-US" sz="1800" dirty="0"/>
          </a:p>
          <a:p>
            <a:pPr indent="0" marL="0">
              <a:buNone/>
            </a:pPr>
            <a:r>
              <a:rPr lang="en-US" sz="105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payback, oversized pump (2–4+ years if right-sized, high lift)</a:t>
            </a:r>
            <a:endParaRPr lang="en-US" sz="1800" dirty="0"/>
          </a:p>
        </p:txBody>
      </p:sp>
      <p:sp>
        <p:nvSpPr>
          <p:cNvPr id="29" name="Text 24"/>
          <p:cNvSpPr txBox="1"/>
          <p:nvPr/>
        </p:nvSpPr>
        <p:spPr>
          <a:xfrm>
            <a:off x="548640" y="47091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benefits</a:t>
            </a:r>
            <a:endParaRPr lang="en-US" sz="1400" dirty="0"/>
          </a:p>
        </p:txBody>
      </p:sp>
      <p:sp>
        <p:nvSpPr>
          <p:cNvPr id="30" name="Shape 25"/>
          <p:cNvSpPr/>
          <p:nvPr/>
        </p:nvSpPr>
        <p:spPr>
          <a:xfrm>
            <a:off x="548640" y="5029200"/>
            <a:ext cx="1828800" cy="310896"/>
          </a:xfrm>
          <a:prstGeom prst="roundRect">
            <a:avLst>
              <a:gd name="adj" fmla="val 50000"/>
            </a:avLst>
          </a:prstGeom>
          <a:solidFill>
            <a:srgbClr val="0E5A32"/>
          </a:solidFill>
          <a:ln w="12700">
            <a:solidFill>
              <a:srgbClr val="0E5A32"/>
            </a:solidFill>
            <a:prstDash val="solid"/>
          </a:ln>
        </p:spPr>
      </p:sp>
      <p:sp>
        <p:nvSpPr>
          <p:cNvPr id="31" name="Text 26"/>
          <p:cNvSpPr txBox="1"/>
          <p:nvPr/>
        </p:nvSpPr>
        <p:spPr>
          <a:xfrm>
            <a:off x="548640" y="5029200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MSME plant owners</a:t>
            </a:r>
            <a:endParaRPr lang="en-US" sz="1050" dirty="0"/>
          </a:p>
        </p:txBody>
      </p:sp>
      <p:sp>
        <p:nvSpPr>
          <p:cNvPr id="32" name="Shape 27"/>
          <p:cNvSpPr/>
          <p:nvPr/>
        </p:nvSpPr>
        <p:spPr>
          <a:xfrm>
            <a:off x="2560320" y="5029200"/>
            <a:ext cx="1645920" cy="310896"/>
          </a:xfrm>
          <a:prstGeom prst="roundRect">
            <a:avLst>
              <a:gd name="adj" fmla="val 50000"/>
            </a:avLst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33" name="Text 28"/>
          <p:cNvSpPr txBox="1"/>
          <p:nvPr/>
        </p:nvSpPr>
        <p:spPr>
          <a:xfrm>
            <a:off x="2560320" y="5029200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Maintenance teams</a:t>
            </a:r>
            <a:endParaRPr lang="en-US" sz="1050" dirty="0"/>
          </a:p>
        </p:txBody>
      </p:sp>
      <p:sp>
        <p:nvSpPr>
          <p:cNvPr id="34" name="Shape 29"/>
          <p:cNvSpPr/>
          <p:nvPr/>
        </p:nvSpPr>
        <p:spPr>
          <a:xfrm>
            <a:off x="4297680" y="5029200"/>
            <a:ext cx="2103120" cy="310896"/>
          </a:xfrm>
          <a:prstGeom prst="roundRect">
            <a:avLst>
              <a:gd name="adj" fmla="val 50000"/>
            </a:avLst>
          </a:prstGeom>
          <a:solidFill>
            <a:srgbClr val="0E5A32"/>
          </a:solidFill>
          <a:ln w="12700">
            <a:solidFill>
              <a:srgbClr val="0E5A32"/>
            </a:solidFill>
            <a:prstDash val="solid"/>
          </a:ln>
        </p:spPr>
      </p:sp>
      <p:sp>
        <p:nvSpPr>
          <p:cNvPr id="35" name="Text 30"/>
          <p:cNvSpPr txBox="1"/>
          <p:nvPr/>
        </p:nvSpPr>
        <p:spPr>
          <a:xfrm>
            <a:off x="4297680" y="502920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auditors / ESCOs</a:t>
            </a:r>
            <a:endParaRPr lang="en-US" sz="1050" dirty="0"/>
          </a:p>
        </p:txBody>
      </p:sp>
      <p:sp>
        <p:nvSpPr>
          <p:cNvPr id="36" name="Shape 31"/>
          <p:cNvSpPr/>
          <p:nvPr/>
        </p:nvSpPr>
        <p:spPr>
          <a:xfrm>
            <a:off x="6492240" y="5029200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37" name="Text 32"/>
          <p:cNvSpPr txBox="1"/>
          <p:nvPr/>
        </p:nvSpPr>
        <p:spPr>
          <a:xfrm>
            <a:off x="6492240" y="5029200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 channel partners</a:t>
            </a:r>
            <a:endParaRPr lang="en-US" sz="1050" dirty="0"/>
          </a:p>
        </p:txBody>
      </p:sp>
      <p:sp>
        <p:nvSpPr>
          <p:cNvPr id="38" name="Shape 33"/>
          <p:cNvSpPr/>
          <p:nvPr/>
        </p:nvSpPr>
        <p:spPr>
          <a:xfrm>
            <a:off x="8321040" y="5029200"/>
            <a:ext cx="2926080" cy="310896"/>
          </a:xfrm>
          <a:prstGeom prst="roundRect">
            <a:avLst>
              <a:gd name="adj" fmla="val 50000"/>
            </a:avLst>
          </a:prstGeom>
          <a:solidFill>
            <a:srgbClr val="0E5A32"/>
          </a:solidFill>
          <a:ln w="12700">
            <a:solidFill>
              <a:srgbClr val="0E5A32"/>
            </a:solidFill>
            <a:prstDash val="solid"/>
          </a:ln>
        </p:spPr>
      </p:sp>
      <p:sp>
        <p:nvSpPr>
          <p:cNvPr id="39" name="Text 34"/>
          <p:cNvSpPr txBox="1"/>
          <p:nvPr/>
        </p:nvSpPr>
        <p:spPr>
          <a:xfrm>
            <a:off x="8321040" y="5029200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India's industrial efficiency goals</a:t>
            </a:r>
            <a:endParaRPr lang="en-US" sz="1050" dirty="0"/>
          </a:p>
        </p:txBody>
      </p:sp>
      <p:sp>
        <p:nvSpPr>
          <p:cNvPr id="40" name="Shape 35"/>
          <p:cNvSpPr/>
          <p:nvPr/>
        </p:nvSpPr>
        <p:spPr>
          <a:xfrm>
            <a:off x="548640" y="5486400"/>
            <a:ext cx="11109960" cy="822960"/>
          </a:xfrm>
          <a:prstGeom prst="roundRect">
            <a:avLst>
              <a:gd name="adj" fmla="val 8889"/>
            </a:avLst>
          </a:prstGeom>
          <a:solidFill>
            <a:srgbClr val="FFF4E5"/>
          </a:solidFill>
          <a:ln w="19050">
            <a:solidFill>
              <a:srgbClr val="E07B00"/>
            </a:solidFill>
            <a:prstDash val="solid"/>
          </a:ln>
        </p:spPr>
      </p:sp>
      <p:sp>
        <p:nvSpPr>
          <p:cNvPr id="41" name="Text 36"/>
          <p:cNvSpPr txBox="1"/>
          <p:nvPr/>
        </p:nvSpPr>
        <p:spPr>
          <a:xfrm>
            <a:off x="731520" y="5513832"/>
            <a:ext cx="107899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Scale-up illustration, not a projection: </a:t>
            </a:r>
            <a:pPr indent="0" marL="0">
              <a:buNone/>
            </a:pPr>
            <a:r>
              <a:rPr lang="en-US" sz="120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= N pumps × per-pump saving. For N = 10: ₹6,92,920–12,71,780 per year and 61–113 t CO₂ per year, using the 11 kW base case. The 54–60% saving for heavily oversized pumps is an upper bound only.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55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 Roadmap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done, what is next, and which limit each phase removes.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1097280" y="1691640"/>
            <a:ext cx="9966960" cy="0"/>
          </a:xfrm>
          <a:prstGeom prst="line">
            <a:avLst/>
          </a:prstGeom>
          <a:noFill/>
          <a:ln w="38100">
            <a:solidFill>
              <a:srgbClr val="9AA5A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25880" y="1463040"/>
            <a:ext cx="457200" cy="457200"/>
          </a:xfrm>
          <a:prstGeom prst="ellipse">
            <a:avLst/>
          </a:prstGeom>
          <a:solidFill>
            <a:srgbClr val="3DCD58"/>
          </a:solidFill>
          <a:ln w="25400">
            <a:solidFill>
              <a:srgbClr val="0E5A3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325880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2103120"/>
            <a:ext cx="2103120" cy="251460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D3DFD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2176272"/>
            <a:ext cx="192024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Simulation + dashboard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Grundfos curve fits, stress tests, working web dashboard (simulated data).</a:t>
            </a:r>
            <a:endParaRPr lang="en-US" sz="1500" dirty="0"/>
          </a:p>
          <a:p>
            <a:pPr indent="0" marL="0">
              <a:buNone/>
            </a:pPr>
            <a:r>
              <a:rPr lang="en-US" sz="105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 removed: none yet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" y="4187952"/>
            <a:ext cx="1005840" cy="310896"/>
          </a:xfrm>
          <a:prstGeom prst="roundRect">
            <a:avLst>
              <a:gd name="adj" fmla="val 50000"/>
            </a:avLst>
          </a:prstGeom>
          <a:solidFill>
            <a:srgbClr val="3DCD58"/>
          </a:solidFill>
          <a:ln w="12700">
            <a:solidFill>
              <a:srgbClr val="3DCD5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4187952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575304" y="1463040"/>
            <a:ext cx="457200" cy="457200"/>
          </a:xfrm>
          <a:prstGeom prst="ellipse">
            <a:avLst/>
          </a:prstGeom>
          <a:solidFill>
            <a:srgbClr val="F8D9B0"/>
          </a:solidFill>
          <a:ln w="25400">
            <a:solidFill>
              <a:srgbClr val="E07B0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575304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2798064" y="2103120"/>
            <a:ext cx="2103120" cy="251460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D3DFD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889504" y="2176272"/>
            <a:ext cx="192024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 test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pump, ESP32 kit and a reference flow meter.</a:t>
            </a:r>
            <a:endParaRPr lang="en-US" sz="1500" dirty="0"/>
          </a:p>
          <a:p>
            <a:pPr indent="0" marL="0">
              <a:buNone/>
            </a:pPr>
            <a:r>
              <a:rPr lang="en-US" sz="105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Removes: flow-inference accuracy, head = discharge − suction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2889504" y="4187952"/>
            <a:ext cx="1005840" cy="310896"/>
          </a:xfrm>
          <a:prstGeom prst="roundRect">
            <a:avLst>
              <a:gd name="adj" fmla="val 50000"/>
            </a:avLst>
          </a:prstGeom>
          <a:solidFill>
            <a:srgbClr val="F8D9B0"/>
          </a:solidFill>
          <a:ln w="12700">
            <a:solidFill>
              <a:srgbClr val="F8D9B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889504" y="4187952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824728" y="1463040"/>
            <a:ext cx="457200" cy="457200"/>
          </a:xfrm>
          <a:prstGeom prst="ellipse">
            <a:avLst/>
          </a:prstGeom>
          <a:solidFill>
            <a:srgbClr val="D3DFD7"/>
          </a:solidFill>
          <a:ln w="25400">
            <a:solidFill>
              <a:srgbClr val="55655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824728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5047488" y="2103120"/>
            <a:ext cx="2103120" cy="251460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D3DFD7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138928" y="2176272"/>
            <a:ext cx="192024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Pilot, 1–2 plants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the system curve on site; log 7–14 days.</a:t>
            </a:r>
            <a:endParaRPr lang="en-US" sz="1500" dirty="0"/>
          </a:p>
          <a:p>
            <a:pPr indent="0" marL="0">
              <a:buNone/>
            </a:pPr>
            <a:r>
              <a:rPr lang="en-US" sz="105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Removes: ±10 → ±3 points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5138928" y="4187952"/>
            <a:ext cx="1005840" cy="310896"/>
          </a:xfrm>
          <a:prstGeom prst="roundRect">
            <a:avLst>
              <a:gd name="adj" fmla="val 50000"/>
            </a:avLst>
          </a:prstGeom>
          <a:solidFill>
            <a:srgbClr val="D3DFD7"/>
          </a:solidFill>
          <a:ln w="12700">
            <a:solidFill>
              <a:srgbClr val="D3DFD7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138928" y="4187952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PLANNED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8074152" y="1463040"/>
            <a:ext cx="457200" cy="457200"/>
          </a:xfrm>
          <a:prstGeom prst="ellipse">
            <a:avLst/>
          </a:prstGeom>
          <a:solidFill>
            <a:srgbClr val="D3DFD7"/>
          </a:solidFill>
          <a:ln w="25400">
            <a:solidFill>
              <a:srgbClr val="55655D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074152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7296912" y="2103120"/>
            <a:ext cx="2103120" cy="251460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D3DFD7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388352" y="2176272"/>
            <a:ext cx="192024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forecast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the forecast with the measured saving after a fix.</a:t>
            </a:r>
            <a:endParaRPr lang="en-US" sz="1500" dirty="0"/>
          </a:p>
          <a:p>
            <a:pPr indent="0" marL="0">
              <a:buNone/>
            </a:pPr>
            <a:r>
              <a:rPr lang="en-US" sz="105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Removes: optimistic system-curve fit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7388352" y="4187952"/>
            <a:ext cx="1005840" cy="310896"/>
          </a:xfrm>
          <a:prstGeom prst="roundRect">
            <a:avLst>
              <a:gd name="adj" fmla="val 50000"/>
            </a:avLst>
          </a:prstGeom>
          <a:solidFill>
            <a:srgbClr val="D3DFD7"/>
          </a:solidFill>
          <a:ln w="12700">
            <a:solidFill>
              <a:srgbClr val="D3DFD7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388352" y="4187952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PLANNED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0323576" y="1463040"/>
            <a:ext cx="457200" cy="457200"/>
          </a:xfrm>
          <a:prstGeom prst="ellipse">
            <a:avLst/>
          </a:prstGeom>
          <a:solidFill>
            <a:srgbClr val="D3DFD7"/>
          </a:solidFill>
          <a:ln w="25400">
            <a:solidFill>
              <a:srgbClr val="55655D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0323576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9546336" y="2103120"/>
            <a:ext cx="2103120" cy="251460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D3DFD7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9637776" y="2176272"/>
            <a:ext cx="192024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Rollout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Multi-pump, multi-plant; ESCO and channel use.</a:t>
            </a:r>
            <a:endParaRPr lang="en-US" sz="1500" dirty="0"/>
          </a:p>
          <a:p>
            <a:pPr indent="0" marL="0">
              <a:buNone/>
            </a:pPr>
            <a:r>
              <a:rPr lang="en-US" sz="105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Widens: parallel pumps, drives, NPSH</a:t>
            </a:r>
            <a:endParaRPr lang="en-US" sz="1500" dirty="0"/>
          </a:p>
        </p:txBody>
      </p:sp>
      <p:sp>
        <p:nvSpPr>
          <p:cNvPr id="33" name="Shape 31"/>
          <p:cNvSpPr/>
          <p:nvPr/>
        </p:nvSpPr>
        <p:spPr>
          <a:xfrm>
            <a:off x="9637776" y="4187952"/>
            <a:ext cx="1005840" cy="310896"/>
          </a:xfrm>
          <a:prstGeom prst="roundRect">
            <a:avLst>
              <a:gd name="adj" fmla="val 50000"/>
            </a:avLst>
          </a:prstGeom>
          <a:solidFill>
            <a:srgbClr val="D3DFD7"/>
          </a:solidFill>
          <a:ln w="12700">
            <a:solidFill>
              <a:srgbClr val="D3DFD7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9637776" y="4187952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PLANNED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48640" y="4800600"/>
            <a:ext cx="11109960" cy="1554480"/>
          </a:xfrm>
          <a:prstGeom prst="roundRect">
            <a:avLst>
              <a:gd name="adj" fmla="val 4706"/>
            </a:avLst>
          </a:prstGeom>
          <a:solidFill>
            <a:srgbClr val="FFF4E5"/>
          </a:solidFill>
          <a:ln w="25400">
            <a:solidFill>
              <a:srgbClr val="E07B00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731520" y="48463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limits we validate next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777240" y="5166360"/>
            <a:ext cx="10698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Simulation and software prototype only: no lab or field data, no real quotes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±3 points only with a measured system curve; otherwise about ±10; the curve fit is optimistic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pump, steady state. Out of scope: parallel pumps, closed loops, pumps already on drives, min-flow/NPSH, control dynamics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55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Introduction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ANS_4X · Schneider Electric Yuva Yodha 2026 · Smart Manufacturing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265176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D3DFD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389888"/>
            <a:ext cx="457200" cy="457200"/>
          </a:xfrm>
          <a:prstGeom prst="ellipse">
            <a:avLst/>
          </a:prstGeom>
          <a:solidFill>
            <a:srgbClr val="0E5A32"/>
          </a:solidFill>
          <a:ln w="12700">
            <a:solidFill>
              <a:srgbClr val="0E5A32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5528" y="1499616"/>
            <a:ext cx="237744" cy="23774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234440" y="137160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Akshaya V G</a:t>
            </a:r>
            <a:endParaRPr lang="en-US" sz="1500" dirty="0"/>
          </a:p>
          <a:p>
            <a:pPr indent="0" marL="0">
              <a:buNone/>
            </a:pPr>
            <a:r>
              <a:rPr lang="en-US" sz="11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Lead &amp; Software/Dashboard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2011680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pipeline and the PumpRupee web dashboard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3362249" y="1280160"/>
            <a:ext cx="265176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D3DFD7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499409" y="1389888"/>
            <a:ext cx="457200" cy="457200"/>
          </a:xfrm>
          <a:prstGeom prst="ellipse">
            <a:avLst/>
          </a:prstGeom>
          <a:solidFill>
            <a:srgbClr val="0E5A32"/>
          </a:solidFill>
          <a:ln w="12700">
            <a:solidFill>
              <a:srgbClr val="0E5A32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9137" y="1499616"/>
            <a:ext cx="237744" cy="23774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048049" y="137160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Adithyaa J</a:t>
            </a:r>
            <a:endParaRPr lang="en-US" sz="1500" dirty="0"/>
          </a:p>
          <a:p>
            <a:pPr indent="0" marL="0">
              <a:buNone/>
            </a:pPr>
            <a:r>
              <a:rPr lang="en-US" sz="11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Embedded Hardware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3499409" y="2011680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ESP32 logger, power clamp and pressure-sensor integration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6175858" y="1280160"/>
            <a:ext cx="265176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D3DFD7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6313018" y="1389888"/>
            <a:ext cx="457200" cy="457200"/>
          </a:xfrm>
          <a:prstGeom prst="ellipse">
            <a:avLst/>
          </a:prstGeom>
          <a:solidFill>
            <a:srgbClr val="0E5A32"/>
          </a:solidFill>
          <a:ln w="12700">
            <a:solidFill>
              <a:srgbClr val="0E5A32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2746" y="1499616"/>
            <a:ext cx="237744" cy="237744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6861658" y="137160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Nikilaesh B</a:t>
            </a:r>
            <a:endParaRPr lang="en-US" sz="1500" dirty="0"/>
          </a:p>
          <a:p>
            <a:pPr indent="0" marL="0">
              <a:buNone/>
            </a:pPr>
            <a:r>
              <a:rPr lang="en-US" sz="11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Analytics</a:t>
            </a:r>
            <a:endParaRPr lang="en-US" sz="1500" dirty="0"/>
          </a:p>
        </p:txBody>
      </p:sp>
      <p:sp>
        <p:nvSpPr>
          <p:cNvPr id="18" name="Text 13"/>
          <p:cNvSpPr txBox="1"/>
          <p:nvPr/>
        </p:nvSpPr>
        <p:spPr>
          <a:xfrm>
            <a:off x="6313018" y="2011680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Pump hydraulics model, Shapley waste split and VFD payback logic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8989466" y="1280160"/>
            <a:ext cx="265176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D3DFD7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9126626" y="1389888"/>
            <a:ext cx="457200" cy="457200"/>
          </a:xfrm>
          <a:prstGeom prst="ellipse">
            <a:avLst/>
          </a:prstGeom>
          <a:solidFill>
            <a:srgbClr val="0E5A32"/>
          </a:solidFill>
          <a:ln w="12700">
            <a:solidFill>
              <a:srgbClr val="0E5A32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6354" y="1499616"/>
            <a:ext cx="237744" cy="237744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9675266" y="137160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Siva Subramaniam S</a:t>
            </a:r>
            <a:endParaRPr lang="en-US" sz="1500" dirty="0"/>
          </a:p>
          <a:p>
            <a:pPr indent="0" marL="0">
              <a:buNone/>
            </a:pPr>
            <a:r>
              <a:rPr lang="en-US" sz="11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Simulation &amp; Validation</a:t>
            </a:r>
            <a:endParaRPr lang="en-US" sz="1500" dirty="0"/>
          </a:p>
        </p:txBody>
      </p:sp>
      <p:sp>
        <p:nvSpPr>
          <p:cNvPr id="23" name="Text 17"/>
          <p:cNvSpPr txBox="1"/>
          <p:nvPr/>
        </p:nvSpPr>
        <p:spPr>
          <a:xfrm>
            <a:off x="9126626" y="2011680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Pump-curve simulation, CUSUM wear-drift testing, pilot and roadmap planning</a:t>
            </a:r>
            <a:endParaRPr lang="en-US" sz="1150" dirty="0"/>
          </a:p>
        </p:txBody>
      </p:sp>
      <p:sp>
        <p:nvSpPr>
          <p:cNvPr id="24" name="Shape 18"/>
          <p:cNvSpPr/>
          <p:nvPr/>
        </p:nvSpPr>
        <p:spPr>
          <a:xfrm>
            <a:off x="548640" y="3200400"/>
            <a:ext cx="1110996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D3DFD7"/>
            </a:solidFill>
            <a:prstDash val="solid"/>
          </a:ln>
        </p:spPr>
      </p:sp>
      <p:sp>
        <p:nvSpPr>
          <p:cNvPr id="25" name="Text 19"/>
          <p:cNvSpPr txBox="1"/>
          <p:nvPr/>
        </p:nvSpPr>
        <p:spPr>
          <a:xfrm>
            <a:off x="685800" y="324612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 &amp; data sources</a:t>
            </a:r>
            <a:endParaRPr lang="en-US" sz="1400" dirty="0"/>
          </a:p>
        </p:txBody>
      </p:sp>
      <p:sp>
        <p:nvSpPr>
          <p:cNvPr id="26" name="Text 20"/>
          <p:cNvSpPr txBox="1"/>
          <p:nvPr/>
        </p:nvSpPr>
        <p:spPr>
          <a:xfrm>
            <a:off x="685800" y="3566160"/>
            <a:ext cx="53492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Pump data: Grundfos Product Center duty-point readouts for NB 65-160/157 (product no. 97839240), retrieved 2026-10-02. Curve tolerance ISO 9906:2012 Grade 3B. Curves in this deck are cubic fits to those 14 points.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Emission factor: CEA CO₂ Baseline Database for the Indian Power Sector, v21.0 (FY2024-25): 0.710 kg CO₂/kWh.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Energy-audit practitioner input (paraphrased, not named): wrong sizing is the most common cause of throttling; 30–40% of ultrasonic flow readings go wrong.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Method: affinity laws; Shapley value attribution; CUSUM change detection; IPMVP-style measurement and verification.</a:t>
            </a:r>
            <a:endParaRPr lang="en-US" sz="950" dirty="0"/>
          </a:p>
        </p:txBody>
      </p:sp>
      <p:sp>
        <p:nvSpPr>
          <p:cNvPr id="27" name="Text 21"/>
          <p:cNvSpPr txBox="1"/>
          <p:nvPr/>
        </p:nvSpPr>
        <p:spPr>
          <a:xfrm>
            <a:off x="6217920" y="3566160"/>
            <a:ext cx="53492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 prices (indicative online listings, 2026-10-02, not quotes): ESP32 (Robu); SCT-013 clamp (ElectronicsComp, Robodo, Robocraze); ZMPT101B voltage sensor; 4–20 mA pressure transmitters (Nishka, Utopia, Shri Instruments); VFDs (Delta MS300 listing, Industrybuying). Install cost ₹15,000 is an assumption.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 art: KSB PumpMeter, US DOE PSAT, Samotics, Schneider Altivar Process and EcoStruxure, Indian IoT vendors and ESCOs.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Simulation: our open Python scripts (fixed seeds) in the project repository, folder yuva_yodha/; dashboard source in yuva_yodha/dashboard/.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results are simulated. No lab or field data.</a:t>
            </a:r>
            <a:endParaRPr lang="en-US" sz="950" dirty="0"/>
          </a:p>
        </p:txBody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5623560"/>
            <a:ext cx="777240" cy="777240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1463040" y="5696712"/>
            <a:ext cx="3840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prototype dashboard</a:t>
            </a:r>
            <a:endParaRPr lang="en-US" sz="1300" dirty="0"/>
          </a:p>
          <a:p>
            <a:pPr indent="0" marL="0">
              <a:buNone/>
            </a:pPr>
            <a:r>
              <a:rPr lang="en-US" sz="1200" u="sng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https://pumprupee-dashboard.vercel.app/</a:t>
            </a:r>
            <a:endParaRPr lang="en-US" sz="1300" dirty="0"/>
          </a:p>
          <a:p>
            <a:pPr indent="0" marL="0">
              <a:buNone/>
            </a:pPr>
            <a:r>
              <a:rPr lang="en-US" sz="100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Simulated data · scan the QR code</a:t>
            </a:r>
            <a:endParaRPr lang="en-US" sz="1300" dirty="0"/>
          </a:p>
        </p:txBody>
      </p:sp>
      <p:sp>
        <p:nvSpPr>
          <p:cNvPr id="30" name="Text 23"/>
          <p:cNvSpPr txBox="1"/>
          <p:nvPr/>
        </p:nvSpPr>
        <p:spPr>
          <a:xfrm>
            <a:off x="5852160" y="5669280"/>
            <a:ext cx="5806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Cheap kit. Clever inference. Answers in rupees.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55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PumpRupee - Schneider Electric Yuva Yodha 2026 - Team ANS_4X</dc:title>
  <dc:subject>PptxGenJS Presentation</dc:subject>
  <dc:creator>ANS_4X</dc:creator>
  <cp:lastModifiedBy>ANS_4X</cp:lastModifiedBy>
  <cp:revision>1</cp:revision>
  <dcterms:created xsi:type="dcterms:W3CDTF">2026-10-03T16:32:35Z</dcterms:created>
  <dcterms:modified xsi:type="dcterms:W3CDTF">2026-10-03T16:32:35Z</dcterms:modified>
</cp:coreProperties>
</file>