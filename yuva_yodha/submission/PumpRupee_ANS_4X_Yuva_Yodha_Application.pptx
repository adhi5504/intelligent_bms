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</p:sldIdLst>
  <p:notesMasterIdLst>
    <p:notesMasterId r:id="rId14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notesMaster" Target="notesMasters/notesMaster1.xml"/><Relationship Id="rId15" Type="http://schemas.openxmlformats.org/officeDocument/2006/relationships/presProps" Target="presProps.xml"/><Relationship Id="rId16" Type="http://schemas.openxmlformats.org/officeDocument/2006/relationships/viewProps" Target="viewProps.xml"/><Relationship Id="rId17" Type="http://schemas.openxmlformats.org/officeDocument/2006/relationships/theme" Target="theme/theme1.xml"/><Relationship Id="rId18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Open the live dashboard from the QR code. Simulated data throughout. One sentence: PumpRupee tells an MSME owner how many rupees a pump wastes, why, and whether a VFD will pay back for that pump, using a cheap clamp-on kit and no flow meter.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Anchor on the owner being blind. The 30-40% figure is an audit practitioner's report about ultrasonic meters, not our measurement.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The dashboard shown is the working prototype with simulated data. The kit is clamp-on: no pipe cutting, no shutdown. It never controls the pump.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Schneider products are named only as the natural next step after an audit. Say it positively: PumpRupee finds which pumps justify an Altivar-class drive.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Walk the numbered callouts on the dashboard: 1 the rupee saving, 2 the payback range, 3 the cheapest-fix-first order. Everything shown is simulated.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Calibration: two scale factors (head, power) are fitted from 7-14 days of logs by profile likelihood; no flow meter. The system curve is the biggest error source, which is why the optional P3 sensor exists.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Screenshots are from the working prototype dashboard, simulated data. Forecast error: 1.4 points with a process-side sensor vs 10.5 points without, under stress. A +/-30% flow reading is worse than no calibration.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On the sample file the calibration recovers the hidden pump scales (0.96, 1.05) and a forecast within 1 point of the simulated truth. That is a software test on simulated data, not a field result.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Never say 'none exists'. Altivar Process does sensorless flow inside the drive after it is bought; PumpRupee helps decide which pumps deserve one and verifies the saving.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5-19% = 6,100/127,178 = 4.8% up to 13,300/69,292 = 19.2%. N=10 is arithmetic, not a forecast.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Lead with 'done' and 'next'. Ask: a pilot plant and a reference flow meter.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Every number traces to the Grundfos readouts, the CEA factor, indicative online prices, or our own simulation scripts. Close with the key message and the live link.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ENT">
    <p:bg>
      <p:bgPr>
        <a:solidFill>
          <a:srgbClr val="F6FA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6473952"/>
            <a:ext cx="9875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5655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PumpRupee  |  Team ANS_4X  |  Yuva Yodha 2026, Smart Manufacturing  |  All results simulated; prices indicative, not quotes</a:t>
            </a:r>
            <a:endParaRPr lang="en-US" sz="1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47120" y="6473952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5655D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l"/>
            <a:fld id="{F7021451-1387-4CA6-816F-3879F97B5CBC}" type="slidenum">
              <a:rPr b="0" lang="en-US"/>
              <a:t>1002</a:t>
            </a:fld>
            <a:endParaRPr lang="en-US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ITLE">
    <p:bg>
      <p:bgPr>
        <a:solidFill>
          <a:srgbClr val="F6FA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47120" y="6473952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5655D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l"/>
            <a:fld id="{F7021451-1387-4CA6-816F-3879F97B5CBC}" type="slidenum">
              <a:rPr b="0" lang="en-US"/>
              <a:t>null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hyperlink" Target="https://pumprupee-dashboard.vercel.app/" TargetMode="External"/><Relationship Id="rId1" Type="http://schemas.openxmlformats.org/officeDocument/2006/relationships/image" Target="../media/image-1-1.png"/><Relationship Id="rId3" Type="http://schemas.openxmlformats.org/officeDocument/2006/relationships/image" Target="../media/image-1-2.png"/><Relationship Id="rId4" Type="http://schemas.openxmlformats.org/officeDocument/2006/relationships/slideLayout" Target="../slideLayouts/slideLayout3.xml"/><Relationship Id="rId5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image" Target="../media/image-2-2.png"/><Relationship Id="rId3" Type="http://schemas.openxmlformats.org/officeDocument/2006/relationships/image" Target="../media/image-2-3.png"/><Relationship Id="rId4" Type="http://schemas.openxmlformats.org/officeDocument/2006/relationships/image" Target="../media/image-2-4.png"/><Relationship Id="rId5" Type="http://schemas.openxmlformats.org/officeDocument/2006/relationships/image" Target="../media/image-2-5.png"/><Relationship Id="rId6" Type="http://schemas.openxmlformats.org/officeDocument/2006/relationships/image" Target="../media/image-2-6.png"/><Relationship Id="rId7" Type="http://schemas.openxmlformats.org/officeDocument/2006/relationships/image" Target="../media/image-2-7.png"/><Relationship Id="rId8" Type="http://schemas.openxmlformats.org/officeDocument/2006/relationships/slideLayout" Target="../slideLayouts/slideLayout2.xml"/><Relationship Id="rId9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image" Target="../media/image-3-2.png"/><Relationship Id="rId3" Type="http://schemas.openxmlformats.org/officeDocument/2006/relationships/image" Target="../media/image-3-3.png"/><Relationship Id="rId4" Type="http://schemas.openxmlformats.org/officeDocument/2006/relationships/image" Target="../media/image-3-4.png"/><Relationship Id="rId5" Type="http://schemas.openxmlformats.org/officeDocument/2006/relationships/image" Target="../media/image-3-5.png"/><Relationship Id="rId6" Type="http://schemas.openxmlformats.org/officeDocument/2006/relationships/slideLayout" Target="../slideLayouts/slideLayout2.xml"/><Relationship Id="rId7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image" Target="../media/image-4-2.png"/><Relationship Id="rId3" Type="http://schemas.openxmlformats.org/officeDocument/2006/relationships/image" Target="../media/image-4-3.png"/><Relationship Id="rId4" Type="http://schemas.openxmlformats.org/officeDocument/2006/relationships/slideLayout" Target="../slideLayouts/slideLayout2.xml"/><Relationship Id="rId5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8" Type="http://schemas.openxmlformats.org/officeDocument/2006/relationships/hyperlink" Target="https://pumprupee-dashboard.vercel.app/" TargetMode="External"/><Relationship Id="rId1" Type="http://schemas.openxmlformats.org/officeDocument/2006/relationships/image" Target="../media/image-5-1.png"/><Relationship Id="rId2" Type="http://schemas.openxmlformats.org/officeDocument/2006/relationships/image" Target="../media/image-5-2.png"/><Relationship Id="rId3" Type="http://schemas.openxmlformats.org/officeDocument/2006/relationships/image" Target="../media/image-5-3.png"/><Relationship Id="rId4" Type="http://schemas.openxmlformats.org/officeDocument/2006/relationships/image" Target="../media/image-5-4.png"/><Relationship Id="rId5" Type="http://schemas.openxmlformats.org/officeDocument/2006/relationships/image" Target="../media/image-5-5.png"/><Relationship Id="rId6" Type="http://schemas.openxmlformats.org/officeDocument/2006/relationships/image" Target="../media/image-5-6.png"/><Relationship Id="rId7" Type="http://schemas.openxmlformats.org/officeDocument/2006/relationships/image" Target="../media/image-5-7.png"/><Relationship Id="rId9" Type="http://schemas.openxmlformats.org/officeDocument/2006/relationships/image" Target="../media/image-5-8.png"/><Relationship Id="rId10" Type="http://schemas.openxmlformats.org/officeDocument/2006/relationships/slideLayout" Target="../slideLayouts/slideLayout2.xml"/><Relationship Id="rId11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image" Target="../media/image-6-2.png"/><Relationship Id="rId3" Type="http://schemas.openxmlformats.org/officeDocument/2006/relationships/slideLayout" Target="../slideLayouts/slideLayout2.xml"/><Relationship Id="rId4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image" Target="../media/image-7-2.png"/><Relationship Id="rId3" Type="http://schemas.openxmlformats.org/officeDocument/2006/relationships/slideLayout" Target="../slideLayouts/slideLayout2.xml"/><Relationship Id="rId4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image" Target="../media/image-8-2.png"/><Relationship Id="rId3" Type="http://schemas.openxmlformats.org/officeDocument/2006/relationships/image" Target="../media/image-8-3.png"/><Relationship Id="rId4" Type="http://schemas.openxmlformats.org/officeDocument/2006/relationships/image" Target="../media/image-8-4.png"/><Relationship Id="rId5" Type="http://schemas.openxmlformats.org/officeDocument/2006/relationships/image" Target="../media/image-8-5.png"/><Relationship Id="rId6" Type="http://schemas.openxmlformats.org/officeDocument/2006/relationships/slideLayout" Target="../slideLayouts/slideLayout2.xml"/><Relationship Id="rId7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-1.png"/><Relationship Id="rId2" Type="http://schemas.openxmlformats.org/officeDocument/2006/relationships/image" Target="../media/image-9-2.png"/><Relationship Id="rId3" Type="http://schemas.openxmlformats.org/officeDocument/2006/relationships/image" Target="../media/image-9-3.png"/><Relationship Id="rId4" Type="http://schemas.openxmlformats.org/officeDocument/2006/relationships/image" Target="../media/image-9-4.png"/><Relationship Id="rId5" Type="http://schemas.openxmlformats.org/officeDocument/2006/relationships/image" Target="../media/image-9-5.png"/><Relationship Id="rId6" Type="http://schemas.openxmlformats.org/officeDocument/2006/relationships/image" Target="../media/image-9-6.png"/><Relationship Id="rId7" Type="http://schemas.openxmlformats.org/officeDocument/2006/relationships/image" Target="../media/image-9-7.png"/><Relationship Id="rId8" Type="http://schemas.openxmlformats.org/officeDocument/2006/relationships/image" Target="../media/image-9-8.png"/><Relationship Id="rId9" Type="http://schemas.openxmlformats.org/officeDocument/2006/relationships/image" Target="../media/image-9-9.png"/><Relationship Id="rId10" Type="http://schemas.openxmlformats.org/officeDocument/2006/relationships/image" Target="../media/image-9-10.png"/><Relationship Id="rId11" Type="http://schemas.openxmlformats.org/officeDocument/2006/relationships/image" Target="../media/image-9-11.png"/><Relationship Id="rId12" Type="http://schemas.openxmlformats.org/officeDocument/2006/relationships/image" Target="../media/image-9-12.png"/><Relationship Id="rId13" Type="http://schemas.openxmlformats.org/officeDocument/2006/relationships/image" Target="../media/image-9-13.png"/><Relationship Id="rId14" Type="http://schemas.openxmlformats.org/officeDocument/2006/relationships/image" Target="../media/image-9-14.png"/><Relationship Id="rId15" Type="http://schemas.openxmlformats.org/officeDocument/2006/relationships/image" Target="../media/image-9-15.png"/><Relationship Id="rId16" Type="http://schemas.openxmlformats.org/officeDocument/2006/relationships/image" Target="../media/image-9-16.png"/><Relationship Id="rId17" Type="http://schemas.openxmlformats.org/officeDocument/2006/relationships/image" Target="../media/image-9-17.png"/><Relationship Id="rId18" Type="http://schemas.openxmlformats.org/officeDocument/2006/relationships/image" Target="../media/image-9-18.png"/><Relationship Id="rId19" Type="http://schemas.openxmlformats.org/officeDocument/2006/relationships/image" Target="../media/image-9-19.png"/><Relationship Id="rId20" Type="http://schemas.openxmlformats.org/officeDocument/2006/relationships/image" Target="../media/image-9-20.png"/><Relationship Id="rId21" Type="http://schemas.openxmlformats.org/officeDocument/2006/relationships/image" Target="../media/image-9-21.png"/><Relationship Id="rId22" Type="http://schemas.openxmlformats.org/officeDocument/2006/relationships/image" Target="../media/image-9-22.png"/><Relationship Id="rId23" Type="http://schemas.openxmlformats.org/officeDocument/2006/relationships/image" Target="../media/image-9-23.png"/><Relationship Id="rId24" Type="http://schemas.openxmlformats.org/officeDocument/2006/relationships/image" Target="../media/image-9-24.png"/><Relationship Id="rId25" Type="http://schemas.openxmlformats.org/officeDocument/2006/relationships/slideLayout" Target="../slideLayouts/slideLayout2.xml"/><Relationship Id="rId26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-1.png"/><Relationship Id="rId2" Type="http://schemas.openxmlformats.org/officeDocument/2006/relationships/image" Target="../media/image-10-2.png"/><Relationship Id="rId3" Type="http://schemas.openxmlformats.org/officeDocument/2006/relationships/image" Target="../media/image-10-3.png"/><Relationship Id="rId4" Type="http://schemas.openxmlformats.org/officeDocument/2006/relationships/slideLayout" Target="../slideLayouts/slideLayout2.xml"/><Relationship Id="rId5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6" Type="http://schemas.openxmlformats.org/officeDocument/2006/relationships/hyperlink" Target="https://pumprupee-dashboard.vercel.app/" TargetMode="External"/><Relationship Id="rId1" Type="http://schemas.openxmlformats.org/officeDocument/2006/relationships/image" Target="../media/image-12-1.png"/><Relationship Id="rId2" Type="http://schemas.openxmlformats.org/officeDocument/2006/relationships/image" Target="../media/image-12-2.png"/><Relationship Id="rId3" Type="http://schemas.openxmlformats.org/officeDocument/2006/relationships/image" Target="../media/image-12-3.png"/><Relationship Id="rId4" Type="http://schemas.openxmlformats.org/officeDocument/2006/relationships/image" Target="../media/image-12-4.png"/><Relationship Id="rId5" Type="http://schemas.openxmlformats.org/officeDocument/2006/relationships/image" Target="../media/image-12-5.png"/><Relationship Id="rId7" Type="http://schemas.openxmlformats.org/officeDocument/2006/relationships/slideLayout" Target="../slideLayouts/slideLayout2.xml"/><Relationship Id="rId8" Type="http://schemas.openxmlformats.org/officeDocument/2006/relationships/notesSlide" Target="../notesSlides/notesSlide1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685800"/>
            <a:ext cx="530352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5400" b="1" dirty="0">
                <a:solidFill>
                  <a:srgbClr val="0E5A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PumpRupee</a:t>
            </a:r>
            <a:endParaRPr lang="en-US" sz="54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1645920"/>
            <a:ext cx="512064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500" dirty="0">
                <a:solidFill>
                  <a:srgbClr val="1626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Find the rupees your pumps waste, before you buy a VFD</a:t>
            </a:r>
            <a:endParaRPr lang="en-US" sz="2500" dirty="0"/>
          </a:p>
        </p:txBody>
      </p:sp>
      <p:sp>
        <p:nvSpPr>
          <p:cNvPr id="4" name="Shape 2"/>
          <p:cNvSpPr/>
          <p:nvPr/>
        </p:nvSpPr>
        <p:spPr>
          <a:xfrm>
            <a:off x="640080" y="3017520"/>
            <a:ext cx="1554480" cy="310896"/>
          </a:xfrm>
          <a:prstGeom prst="roundRect">
            <a:avLst>
              <a:gd name="adj" fmla="val 50000"/>
            </a:avLst>
          </a:prstGeom>
          <a:solidFill>
            <a:srgbClr val="0E5A32"/>
          </a:solidFill>
          <a:ln w="12700">
            <a:solidFill>
              <a:srgbClr val="0E5A32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40080" y="3017520"/>
            <a:ext cx="15544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 flow meter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2286000" y="3017520"/>
            <a:ext cx="1371600" cy="310896"/>
          </a:xfrm>
          <a:prstGeom prst="roundRect">
            <a:avLst>
              <a:gd name="adj" fmla="val 50000"/>
            </a:avLst>
          </a:prstGeom>
          <a:solidFill>
            <a:srgbClr val="0E5A32"/>
          </a:solidFill>
          <a:ln w="12700">
            <a:solidFill>
              <a:srgbClr val="0E5A32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2286000" y="3017520"/>
            <a:ext cx="1371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 shutdown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3749040" y="3017520"/>
            <a:ext cx="1920240" cy="310896"/>
          </a:xfrm>
          <a:prstGeom prst="roundRect">
            <a:avLst>
              <a:gd name="adj" fmla="val 50000"/>
            </a:avLst>
          </a:prstGeom>
          <a:solidFill>
            <a:srgbClr val="0E5A32"/>
          </a:solidFill>
          <a:ln w="12700">
            <a:solidFill>
              <a:srgbClr val="0E5A32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49040" y="3017520"/>
            <a:ext cx="19202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₹ waste by cause</a:t>
            </a:r>
            <a:endParaRPr lang="en-US" sz="1200" dirty="0"/>
          </a:p>
        </p:txBody>
      </p:sp>
      <p:sp>
        <p:nvSpPr>
          <p:cNvPr id="10" name="Text 8"/>
          <p:cNvSpPr txBox="1"/>
          <p:nvPr/>
        </p:nvSpPr>
        <p:spPr>
          <a:xfrm>
            <a:off x="640080" y="3657600"/>
            <a:ext cx="53035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b="1" dirty="0">
                <a:solidFill>
                  <a:srgbClr val="1626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Team ANS_4X</a:t>
            </a:r>
            <a:endParaRPr lang="en-US" sz="2200" dirty="0"/>
          </a:p>
        </p:txBody>
      </p:sp>
      <p:sp>
        <p:nvSpPr>
          <p:cNvPr id="11" name="Text 9"/>
          <p:cNvSpPr txBox="1"/>
          <p:nvPr/>
        </p:nvSpPr>
        <p:spPr>
          <a:xfrm>
            <a:off x="640080" y="4069080"/>
            <a:ext cx="52120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55655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Schneider Electric Yuva Yodha Energy Tech Hackathon 2026</a:t>
            </a:r>
            <a:endParaRPr lang="en-US" sz="1300" dirty="0"/>
          </a:p>
        </p:txBody>
      </p:sp>
      <p:sp>
        <p:nvSpPr>
          <p:cNvPr id="12" name="Text 10"/>
          <p:cNvSpPr txBox="1"/>
          <p:nvPr/>
        </p:nvSpPr>
        <p:spPr>
          <a:xfrm>
            <a:off x="640080" y="4526280"/>
            <a:ext cx="52120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rgbClr val="0E5A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Track: Smart Manufacturing  ·  Electrify · Automate · Digitalise</a:t>
            </a:r>
            <a:endParaRPr lang="en-US" sz="1200" dirty="0"/>
          </a:p>
        </p:txBody>
      </p:sp>
      <p:pic>
        <p:nvPicPr>
          <p:cNvPr id="13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40080" y="5120640"/>
            <a:ext cx="868680" cy="868680"/>
          </a:xfrm>
          <a:prstGeom prst="rect">
            <a:avLst/>
          </a:prstGeom>
        </p:spPr>
      </p:pic>
      <p:sp>
        <p:nvSpPr>
          <p:cNvPr id="14" name="Text 11"/>
          <p:cNvSpPr txBox="1"/>
          <p:nvPr/>
        </p:nvSpPr>
        <p:spPr>
          <a:xfrm>
            <a:off x="1645920" y="5193792"/>
            <a:ext cx="38404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0E5A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Live prototype dashboard</a:t>
            </a:r>
            <a:endParaRPr lang="en-US" sz="1300" dirty="0"/>
          </a:p>
          <a:p>
            <a:pPr indent="0" marL="0">
              <a:buNone/>
            </a:pPr>
            <a:r>
              <a:rPr lang="en-US" sz="1200" u="sng" dirty="0">
                <a:solidFill>
                  <a:srgbClr val="0E5A32"/>
                </a:solidFill>
                <a:latin typeface="Calibri" pitchFamily="34" charset="0"/>
                <a:ea typeface="Calibri" pitchFamily="34" charset="-122"/>
                <a:cs typeface="Calibri" pitchFamily="34" charset="-120"/>
                <a:hlinkClick r:id="rId2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https://pumprupee-dashboard.vercel.app/</a:t>
            </a:r>
            <a:endParaRPr lang="en-US" sz="1300" dirty="0"/>
          </a:p>
          <a:p>
            <a:pPr indent="0" marL="0">
              <a:buNone/>
            </a:pPr>
            <a:r>
              <a:rPr lang="en-US" sz="1000" dirty="0">
                <a:solidFill>
                  <a:srgbClr val="55655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Simulated data · scan the QR code</a:t>
            </a:r>
            <a:endParaRPr lang="en-US" sz="1300" dirty="0"/>
          </a:p>
        </p:txBody>
      </p:sp>
      <p:sp>
        <p:nvSpPr>
          <p:cNvPr id="15" name="Shape 12"/>
          <p:cNvSpPr/>
          <p:nvPr/>
        </p:nvSpPr>
        <p:spPr>
          <a:xfrm>
            <a:off x="6172200" y="1143000"/>
            <a:ext cx="5486400" cy="3675888"/>
          </a:xfrm>
          <a:prstGeom prst="roundRect">
            <a:avLst>
              <a:gd name="adj" fmla="val 1493"/>
            </a:avLst>
          </a:prstGeom>
          <a:solidFill>
            <a:srgbClr val="FFFFFF"/>
          </a:solidFill>
          <a:ln w="19050">
            <a:solidFill>
              <a:srgbClr val="0E5A32"/>
            </a:solidFill>
            <a:prstDash val="solid"/>
          </a:ln>
        </p:spPr>
      </p:sp>
      <p:sp>
        <p:nvSpPr>
          <p:cNvPr id="16" name="Shape 13"/>
          <p:cNvSpPr/>
          <p:nvPr/>
        </p:nvSpPr>
        <p:spPr>
          <a:xfrm>
            <a:off x="6190488" y="1161288"/>
            <a:ext cx="5449824" cy="228600"/>
          </a:xfrm>
          <a:prstGeom prst="rect">
            <a:avLst/>
          </a:prstGeom>
          <a:solidFill>
            <a:srgbClr val="E3F2E7"/>
          </a:solidFill>
          <a:ln w="12700">
            <a:solidFill>
              <a:srgbClr val="E3F2E7"/>
            </a:solidFill>
            <a:prstDash val="solid"/>
          </a:ln>
        </p:spPr>
      </p:sp>
      <p:sp>
        <p:nvSpPr>
          <p:cNvPr id="17" name="Shape 14"/>
          <p:cNvSpPr/>
          <p:nvPr/>
        </p:nvSpPr>
        <p:spPr>
          <a:xfrm>
            <a:off x="6281928" y="1216152"/>
            <a:ext cx="91440" cy="91440"/>
          </a:xfrm>
          <a:prstGeom prst="ellipse">
            <a:avLst/>
          </a:prstGeom>
          <a:solidFill>
            <a:srgbClr val="EF4444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8" name="Shape 15"/>
          <p:cNvSpPr/>
          <p:nvPr/>
        </p:nvSpPr>
        <p:spPr>
          <a:xfrm>
            <a:off x="6428232" y="1216152"/>
            <a:ext cx="91440" cy="91440"/>
          </a:xfrm>
          <a:prstGeom prst="ellipse">
            <a:avLst/>
          </a:prstGeom>
          <a:solidFill>
            <a:srgbClr val="F59E0B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9" name="Shape 16"/>
          <p:cNvSpPr/>
          <p:nvPr/>
        </p:nvSpPr>
        <p:spPr>
          <a:xfrm>
            <a:off x="6574536" y="1216152"/>
            <a:ext cx="91440" cy="91440"/>
          </a:xfrm>
          <a:prstGeom prst="ellipse">
            <a:avLst/>
          </a:prstGeom>
          <a:solidFill>
            <a:srgbClr val="3DCD58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0" name="Shape 17"/>
          <p:cNvSpPr/>
          <p:nvPr/>
        </p:nvSpPr>
        <p:spPr>
          <a:xfrm>
            <a:off x="6812280" y="1188720"/>
            <a:ext cx="4572000" cy="155448"/>
          </a:xfrm>
          <a:prstGeom prst="roundRect">
            <a:avLst>
              <a:gd name="adj" fmla="val 47059"/>
            </a:avLst>
          </a:prstGeom>
          <a:solidFill>
            <a:srgbClr val="FFFFFF"/>
          </a:solidFill>
          <a:ln w="6350">
            <a:solidFill>
              <a:srgbClr val="BFE3C8"/>
            </a:solidFill>
            <a:prstDash val="solid"/>
          </a:ln>
        </p:spPr>
      </p:sp>
      <p:sp>
        <p:nvSpPr>
          <p:cNvPr id="21" name="Text 18"/>
          <p:cNvSpPr txBox="1"/>
          <p:nvPr/>
        </p:nvSpPr>
        <p:spPr>
          <a:xfrm>
            <a:off x="6812280" y="1188720"/>
            <a:ext cx="457200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55655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pumprupee-dashboard.vercel.app</a:t>
            </a:r>
            <a:endParaRPr lang="en-US" sz="800" dirty="0"/>
          </a:p>
        </p:txBody>
      </p:sp>
      <p:pic>
        <p:nvPicPr>
          <p:cNvPr id="22" name="Image 1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190488" y="1389888"/>
            <a:ext cx="5449824" cy="3429000"/>
          </a:xfrm>
          <a:prstGeom prst="rect">
            <a:avLst/>
          </a:prstGeom>
        </p:spPr>
      </p:pic>
      <p:sp>
        <p:nvSpPr>
          <p:cNvPr id="23" name="Shape 19"/>
          <p:cNvSpPr/>
          <p:nvPr/>
        </p:nvSpPr>
        <p:spPr>
          <a:xfrm>
            <a:off x="6172200" y="4864608"/>
            <a:ext cx="3840480" cy="310896"/>
          </a:xfrm>
          <a:prstGeom prst="roundRect">
            <a:avLst>
              <a:gd name="adj" fmla="val 50000"/>
            </a:avLst>
          </a:prstGeom>
          <a:solidFill>
            <a:srgbClr val="E07B00"/>
          </a:solidFill>
          <a:ln w="12700">
            <a:solidFill>
              <a:srgbClr val="E07B00"/>
            </a:solidFill>
            <a:prstDash val="solid"/>
          </a:ln>
        </p:spPr>
      </p:sp>
      <p:sp>
        <p:nvSpPr>
          <p:cNvPr id="24" name="Text 20"/>
          <p:cNvSpPr txBox="1"/>
          <p:nvPr/>
        </p:nvSpPr>
        <p:spPr>
          <a:xfrm>
            <a:off x="6172200" y="4864608"/>
            <a:ext cx="38404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Working prototype dashboard · simulated data</a:t>
            </a:r>
            <a:endParaRPr lang="en-US" sz="1000" dirty="0"/>
          </a:p>
        </p:txBody>
      </p:sp>
      <p:sp>
        <p:nvSpPr>
          <p:cNvPr id="25" name="Text 21"/>
          <p:cNvSpPr txBox="1"/>
          <p:nvPr/>
        </p:nvSpPr>
        <p:spPr>
          <a:xfrm>
            <a:off x="6172200" y="5440680"/>
            <a:ext cx="5486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i="1" dirty="0">
                <a:solidFill>
                  <a:srgbClr val="55655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All results are simulated (Grundfos NB 65-160/157, 11 kW). Prices are indicative, not quotes.</a:t>
            </a:r>
            <a:endParaRPr lang="en-US" sz="11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274320"/>
            <a:ext cx="1106424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000" b="1" dirty="0">
                <a:solidFill>
                  <a:srgbClr val="0E5A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Problem Statement</a:t>
            </a:r>
            <a:endParaRPr lang="en-US" sz="30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868680"/>
            <a:ext cx="11064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rgbClr val="55655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Oversized pumps run throttled. The extra energy is burnt across a valve, every hour, and nobody sees it.</a:t>
            </a:r>
            <a:endParaRPr lang="en-US" sz="1600" dirty="0"/>
          </a:p>
        </p:txBody>
      </p:sp>
      <p:sp>
        <p:nvSpPr>
          <p:cNvPr id="4" name="Shape 2"/>
          <p:cNvSpPr/>
          <p:nvPr/>
        </p:nvSpPr>
        <p:spPr>
          <a:xfrm>
            <a:off x="548640" y="1371600"/>
            <a:ext cx="2331720" cy="1600200"/>
          </a:xfrm>
          <a:prstGeom prst="roundRect">
            <a:avLst>
              <a:gd name="adj" fmla="val 4571"/>
            </a:avLst>
          </a:prstGeom>
          <a:solidFill>
            <a:srgbClr val="FFFFFF"/>
          </a:solidFill>
          <a:ln w="12700">
            <a:solidFill>
              <a:srgbClr val="D3DFD7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685800" y="1508760"/>
            <a:ext cx="566928" cy="566928"/>
          </a:xfrm>
          <a:prstGeom prst="ellipse">
            <a:avLst/>
          </a:prstGeom>
          <a:solidFill>
            <a:srgbClr val="0E5A32"/>
          </a:solidFill>
          <a:ln w="12700">
            <a:solidFill>
              <a:srgbClr val="0E5A32"/>
            </a:solidFill>
            <a:prstDash val="solid"/>
          </a:ln>
        </p:spPr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21863" y="1644823"/>
            <a:ext cx="294803" cy="294803"/>
          </a:xfrm>
          <a:prstGeom prst="rect">
            <a:avLst/>
          </a:prstGeom>
        </p:spPr>
      </p:pic>
      <p:sp>
        <p:nvSpPr>
          <p:cNvPr id="7" name="Text 4"/>
          <p:cNvSpPr txBox="1"/>
          <p:nvPr/>
        </p:nvSpPr>
        <p:spPr>
          <a:xfrm>
            <a:off x="685800" y="2176272"/>
            <a:ext cx="21031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rgbClr val="1626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Oversized pump</a:t>
            </a:r>
            <a:endParaRPr lang="en-US" sz="1600" dirty="0"/>
          </a:p>
          <a:p>
            <a:pPr indent="0" marL="0">
              <a:buNone/>
            </a:pPr>
            <a:r>
              <a:rPr lang="en-US" sz="1200" dirty="0">
                <a:solidFill>
                  <a:srgbClr val="55655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Sized above the real duty</a:t>
            </a:r>
            <a:endParaRPr lang="en-US" sz="1600" dirty="0"/>
          </a:p>
        </p:txBody>
      </p:sp>
      <p:sp>
        <p:nvSpPr>
          <p:cNvPr id="8" name="Shape 5"/>
          <p:cNvSpPr/>
          <p:nvPr/>
        </p:nvSpPr>
        <p:spPr>
          <a:xfrm>
            <a:off x="2971800" y="2011680"/>
            <a:ext cx="411480" cy="292608"/>
          </a:xfrm>
          <a:prstGeom prst="rightArrow">
            <a:avLst/>
          </a:prstGeom>
          <a:solidFill>
            <a:srgbClr val="3DCD58"/>
          </a:solidFill>
          <a:ln w="12700">
            <a:solidFill>
              <a:srgbClr val="3DCD58"/>
            </a:solidFill>
            <a:prstDash val="solid"/>
          </a:ln>
        </p:spPr>
      </p:sp>
      <p:sp>
        <p:nvSpPr>
          <p:cNvPr id="9" name="Shape 6"/>
          <p:cNvSpPr/>
          <p:nvPr/>
        </p:nvSpPr>
        <p:spPr>
          <a:xfrm>
            <a:off x="3465576" y="1371600"/>
            <a:ext cx="2331720" cy="1600200"/>
          </a:xfrm>
          <a:prstGeom prst="roundRect">
            <a:avLst>
              <a:gd name="adj" fmla="val 4571"/>
            </a:avLst>
          </a:prstGeom>
          <a:solidFill>
            <a:srgbClr val="FFFFFF"/>
          </a:solidFill>
          <a:ln w="12700">
            <a:solidFill>
              <a:srgbClr val="D3DFD7"/>
            </a:solidFill>
            <a:prstDash val="solid"/>
          </a:ln>
        </p:spPr>
      </p:sp>
      <p:sp>
        <p:nvSpPr>
          <p:cNvPr id="10" name="Shape 7"/>
          <p:cNvSpPr/>
          <p:nvPr/>
        </p:nvSpPr>
        <p:spPr>
          <a:xfrm>
            <a:off x="3602736" y="1508760"/>
            <a:ext cx="566928" cy="566928"/>
          </a:xfrm>
          <a:prstGeom prst="ellipse">
            <a:avLst/>
          </a:prstGeom>
          <a:solidFill>
            <a:srgbClr val="0E5A32"/>
          </a:solidFill>
          <a:ln w="12700">
            <a:solidFill>
              <a:srgbClr val="0E5A32"/>
            </a:solidFill>
            <a:prstDash val="solid"/>
          </a:ln>
        </p:spPr>
      </p:sp>
      <p:pic>
        <p:nvPicPr>
          <p:cNvPr id="11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738799" y="1644823"/>
            <a:ext cx="294803" cy="294803"/>
          </a:xfrm>
          <a:prstGeom prst="rect">
            <a:avLst/>
          </a:prstGeom>
        </p:spPr>
      </p:pic>
      <p:sp>
        <p:nvSpPr>
          <p:cNvPr id="12" name="Text 8"/>
          <p:cNvSpPr txBox="1"/>
          <p:nvPr/>
        </p:nvSpPr>
        <p:spPr>
          <a:xfrm>
            <a:off x="3602736" y="2176272"/>
            <a:ext cx="21031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rgbClr val="1626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Valve half shut</a:t>
            </a:r>
            <a:endParaRPr lang="en-US" sz="1600" dirty="0"/>
          </a:p>
          <a:p>
            <a:pPr indent="0" marL="0">
              <a:buNone/>
            </a:pPr>
            <a:r>
              <a:rPr lang="en-US" sz="1200" dirty="0">
                <a:solidFill>
                  <a:srgbClr val="55655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Throttled to hold flow</a:t>
            </a:r>
            <a:endParaRPr lang="en-US" sz="1600" dirty="0"/>
          </a:p>
        </p:txBody>
      </p:sp>
      <p:sp>
        <p:nvSpPr>
          <p:cNvPr id="13" name="Shape 9"/>
          <p:cNvSpPr/>
          <p:nvPr/>
        </p:nvSpPr>
        <p:spPr>
          <a:xfrm>
            <a:off x="5888736" y="2011680"/>
            <a:ext cx="411480" cy="292608"/>
          </a:xfrm>
          <a:prstGeom prst="rightArrow">
            <a:avLst/>
          </a:prstGeom>
          <a:solidFill>
            <a:srgbClr val="3DCD58"/>
          </a:solidFill>
          <a:ln w="12700">
            <a:solidFill>
              <a:srgbClr val="3DCD58"/>
            </a:solidFill>
            <a:prstDash val="solid"/>
          </a:ln>
        </p:spPr>
      </p:sp>
      <p:sp>
        <p:nvSpPr>
          <p:cNvPr id="14" name="Shape 10"/>
          <p:cNvSpPr/>
          <p:nvPr/>
        </p:nvSpPr>
        <p:spPr>
          <a:xfrm>
            <a:off x="6382512" y="1371600"/>
            <a:ext cx="2331720" cy="1600200"/>
          </a:xfrm>
          <a:prstGeom prst="roundRect">
            <a:avLst>
              <a:gd name="adj" fmla="val 4571"/>
            </a:avLst>
          </a:prstGeom>
          <a:solidFill>
            <a:srgbClr val="FFFFFF"/>
          </a:solidFill>
          <a:ln w="12700">
            <a:solidFill>
              <a:srgbClr val="D3DFD7"/>
            </a:solidFill>
            <a:prstDash val="solid"/>
          </a:ln>
        </p:spPr>
      </p:sp>
      <p:sp>
        <p:nvSpPr>
          <p:cNvPr id="15" name="Shape 11"/>
          <p:cNvSpPr/>
          <p:nvPr/>
        </p:nvSpPr>
        <p:spPr>
          <a:xfrm>
            <a:off x="6519672" y="1508760"/>
            <a:ext cx="566928" cy="566928"/>
          </a:xfrm>
          <a:prstGeom prst="ellipse">
            <a:avLst/>
          </a:prstGeom>
          <a:solidFill>
            <a:srgbClr val="0E5A32"/>
          </a:solidFill>
          <a:ln w="12700">
            <a:solidFill>
              <a:srgbClr val="0E5A32"/>
            </a:solidFill>
            <a:prstDash val="solid"/>
          </a:ln>
        </p:spPr>
      </p:sp>
      <p:pic>
        <p:nvPicPr>
          <p:cNvPr id="16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655735" y="1644823"/>
            <a:ext cx="294803" cy="294803"/>
          </a:xfrm>
          <a:prstGeom prst="rect">
            <a:avLst/>
          </a:prstGeom>
        </p:spPr>
      </p:pic>
      <p:sp>
        <p:nvSpPr>
          <p:cNvPr id="17" name="Text 12"/>
          <p:cNvSpPr txBox="1"/>
          <p:nvPr/>
        </p:nvSpPr>
        <p:spPr>
          <a:xfrm>
            <a:off x="6519672" y="2176272"/>
            <a:ext cx="21031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rgbClr val="1626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Energy lost as heat</a:t>
            </a:r>
            <a:endParaRPr lang="en-US" sz="1600" dirty="0"/>
          </a:p>
          <a:p>
            <a:pPr indent="0" marL="0">
              <a:buNone/>
            </a:pPr>
            <a:r>
              <a:rPr lang="en-US" sz="1200" dirty="0">
                <a:solidFill>
                  <a:srgbClr val="55655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Head burnt in the valve</a:t>
            </a:r>
            <a:endParaRPr lang="en-US" sz="1600" dirty="0"/>
          </a:p>
        </p:txBody>
      </p:sp>
      <p:sp>
        <p:nvSpPr>
          <p:cNvPr id="18" name="Shape 13"/>
          <p:cNvSpPr/>
          <p:nvPr/>
        </p:nvSpPr>
        <p:spPr>
          <a:xfrm>
            <a:off x="8805672" y="2011680"/>
            <a:ext cx="411480" cy="292608"/>
          </a:xfrm>
          <a:prstGeom prst="rightArrow">
            <a:avLst/>
          </a:prstGeom>
          <a:solidFill>
            <a:srgbClr val="3DCD58"/>
          </a:solidFill>
          <a:ln w="12700">
            <a:solidFill>
              <a:srgbClr val="3DCD58"/>
            </a:solidFill>
            <a:prstDash val="solid"/>
          </a:ln>
        </p:spPr>
      </p:sp>
      <p:sp>
        <p:nvSpPr>
          <p:cNvPr id="19" name="Shape 14"/>
          <p:cNvSpPr/>
          <p:nvPr/>
        </p:nvSpPr>
        <p:spPr>
          <a:xfrm>
            <a:off x="9299448" y="1371600"/>
            <a:ext cx="2331720" cy="1600200"/>
          </a:xfrm>
          <a:prstGeom prst="roundRect">
            <a:avLst>
              <a:gd name="adj" fmla="val 4571"/>
            </a:avLst>
          </a:prstGeom>
          <a:solidFill>
            <a:srgbClr val="FFFFFF"/>
          </a:solidFill>
          <a:ln w="12700">
            <a:solidFill>
              <a:srgbClr val="D3DFD7"/>
            </a:solidFill>
            <a:prstDash val="solid"/>
          </a:ln>
        </p:spPr>
      </p:sp>
      <p:sp>
        <p:nvSpPr>
          <p:cNvPr id="20" name="Shape 15"/>
          <p:cNvSpPr/>
          <p:nvPr/>
        </p:nvSpPr>
        <p:spPr>
          <a:xfrm>
            <a:off x="9436608" y="1508760"/>
            <a:ext cx="566928" cy="566928"/>
          </a:xfrm>
          <a:prstGeom prst="ellipse">
            <a:avLst/>
          </a:prstGeom>
          <a:solidFill>
            <a:srgbClr val="E07B00"/>
          </a:solidFill>
          <a:ln w="12700">
            <a:solidFill>
              <a:srgbClr val="E07B00"/>
            </a:solidFill>
            <a:prstDash val="solid"/>
          </a:ln>
        </p:spPr>
      </p:sp>
      <p:pic>
        <p:nvPicPr>
          <p:cNvPr id="21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572671" y="1644823"/>
            <a:ext cx="294803" cy="294803"/>
          </a:xfrm>
          <a:prstGeom prst="rect">
            <a:avLst/>
          </a:prstGeom>
        </p:spPr>
      </p:pic>
      <p:sp>
        <p:nvSpPr>
          <p:cNvPr id="22" name="Text 16"/>
          <p:cNvSpPr txBox="1"/>
          <p:nvPr/>
        </p:nvSpPr>
        <p:spPr>
          <a:xfrm>
            <a:off x="9436608" y="2176272"/>
            <a:ext cx="21031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rgbClr val="1626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₹ leaking</a:t>
            </a:r>
            <a:endParaRPr lang="en-US" sz="1600" dirty="0"/>
          </a:p>
          <a:p>
            <a:pPr indent="0" marL="0">
              <a:buNone/>
            </a:pPr>
            <a:r>
              <a:rPr lang="en-US" sz="1200" dirty="0">
                <a:solidFill>
                  <a:srgbClr val="55655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 every bill</a:t>
            </a:r>
            <a:endParaRPr lang="en-US" sz="1600" dirty="0"/>
          </a:p>
        </p:txBody>
      </p:sp>
      <p:sp>
        <p:nvSpPr>
          <p:cNvPr id="23" name="Text 17"/>
          <p:cNvSpPr txBox="1"/>
          <p:nvPr/>
        </p:nvSpPr>
        <p:spPr>
          <a:xfrm>
            <a:off x="548640" y="3154680"/>
            <a:ext cx="110642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b="1" dirty="0">
                <a:solidFill>
                  <a:srgbClr val="E07B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You pay for the pump AND for fighting the valve.</a:t>
            </a:r>
            <a:endParaRPr lang="en-US" sz="2200" dirty="0"/>
          </a:p>
        </p:txBody>
      </p:sp>
      <p:sp>
        <p:nvSpPr>
          <p:cNvPr id="24" name="Shape 18"/>
          <p:cNvSpPr/>
          <p:nvPr/>
        </p:nvSpPr>
        <p:spPr>
          <a:xfrm>
            <a:off x="548640" y="3794760"/>
            <a:ext cx="3611880" cy="1920240"/>
          </a:xfrm>
          <a:prstGeom prst="roundRect">
            <a:avLst>
              <a:gd name="adj" fmla="val 3810"/>
            </a:avLst>
          </a:prstGeom>
          <a:solidFill>
            <a:srgbClr val="FFFFFF"/>
          </a:solidFill>
          <a:ln w="12700">
            <a:solidFill>
              <a:srgbClr val="D3DFD7"/>
            </a:solidFill>
            <a:prstDash val="solid"/>
          </a:ln>
        </p:spPr>
      </p:sp>
      <p:sp>
        <p:nvSpPr>
          <p:cNvPr id="25" name="Shape 19"/>
          <p:cNvSpPr/>
          <p:nvPr/>
        </p:nvSpPr>
        <p:spPr>
          <a:xfrm>
            <a:off x="731520" y="3931920"/>
            <a:ext cx="502920" cy="502920"/>
          </a:xfrm>
          <a:prstGeom prst="ellipse">
            <a:avLst/>
          </a:prstGeom>
          <a:solidFill>
            <a:srgbClr val="0E5A32"/>
          </a:solidFill>
          <a:ln w="12700">
            <a:solidFill>
              <a:srgbClr val="0E5A32"/>
            </a:solidFill>
            <a:prstDash val="solid"/>
          </a:ln>
        </p:spPr>
      </p:sp>
      <p:pic>
        <p:nvPicPr>
          <p:cNvPr id="26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52221" y="4052621"/>
            <a:ext cx="261518" cy="261518"/>
          </a:xfrm>
          <a:prstGeom prst="rect">
            <a:avLst/>
          </a:prstGeom>
        </p:spPr>
      </p:pic>
      <p:sp>
        <p:nvSpPr>
          <p:cNvPr id="27" name="Text 20"/>
          <p:cNvSpPr txBox="1"/>
          <p:nvPr/>
        </p:nvSpPr>
        <p:spPr>
          <a:xfrm>
            <a:off x="1371600" y="3931920"/>
            <a:ext cx="26517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626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Oversizing is common</a:t>
            </a:r>
            <a:endParaRPr lang="en-US" sz="1600" dirty="0"/>
          </a:p>
        </p:txBody>
      </p:sp>
      <p:sp>
        <p:nvSpPr>
          <p:cNvPr id="28" name="Text 21"/>
          <p:cNvSpPr txBox="1"/>
          <p:nvPr/>
        </p:nvSpPr>
        <p:spPr>
          <a:xfrm>
            <a:off x="731520" y="4572000"/>
            <a:ext cx="324612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55655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 energy-audit practitioner: wrong sizing leading to throttling is the most common cause.</a:t>
            </a:r>
            <a:endParaRPr lang="en-US" sz="1300" dirty="0"/>
          </a:p>
        </p:txBody>
      </p:sp>
      <p:sp>
        <p:nvSpPr>
          <p:cNvPr id="29" name="Shape 22"/>
          <p:cNvSpPr/>
          <p:nvPr/>
        </p:nvSpPr>
        <p:spPr>
          <a:xfrm>
            <a:off x="4297680" y="3794760"/>
            <a:ext cx="3611880" cy="1920240"/>
          </a:xfrm>
          <a:prstGeom prst="roundRect">
            <a:avLst>
              <a:gd name="adj" fmla="val 3810"/>
            </a:avLst>
          </a:prstGeom>
          <a:solidFill>
            <a:srgbClr val="FFFFFF"/>
          </a:solidFill>
          <a:ln w="12700">
            <a:solidFill>
              <a:srgbClr val="D3DFD7"/>
            </a:solidFill>
            <a:prstDash val="solid"/>
          </a:ln>
        </p:spPr>
      </p:sp>
      <p:sp>
        <p:nvSpPr>
          <p:cNvPr id="30" name="Shape 23"/>
          <p:cNvSpPr/>
          <p:nvPr/>
        </p:nvSpPr>
        <p:spPr>
          <a:xfrm>
            <a:off x="4480560" y="3931920"/>
            <a:ext cx="502920" cy="502920"/>
          </a:xfrm>
          <a:prstGeom prst="ellipse">
            <a:avLst/>
          </a:prstGeom>
          <a:solidFill>
            <a:srgbClr val="0E5A32"/>
          </a:solidFill>
          <a:ln w="12700">
            <a:solidFill>
              <a:srgbClr val="0E5A32"/>
            </a:solidFill>
            <a:prstDash val="solid"/>
          </a:ln>
        </p:spPr>
      </p:sp>
      <p:pic>
        <p:nvPicPr>
          <p:cNvPr id="31" name="Image 5" descr="preencoded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601261" y="4052621"/>
            <a:ext cx="261518" cy="261518"/>
          </a:xfrm>
          <a:prstGeom prst="rect">
            <a:avLst/>
          </a:prstGeom>
        </p:spPr>
      </p:pic>
      <p:sp>
        <p:nvSpPr>
          <p:cNvPr id="32" name="Text 24"/>
          <p:cNvSpPr txBox="1"/>
          <p:nvPr/>
        </p:nvSpPr>
        <p:spPr>
          <a:xfrm>
            <a:off x="5120640" y="3931920"/>
            <a:ext cx="26517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626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Flow is hard to measure</a:t>
            </a:r>
            <a:endParaRPr lang="en-US" sz="1600" dirty="0"/>
          </a:p>
        </p:txBody>
      </p:sp>
      <p:sp>
        <p:nvSpPr>
          <p:cNvPr id="33" name="Text 25"/>
          <p:cNvSpPr txBox="1"/>
          <p:nvPr/>
        </p:nvSpPr>
        <p:spPr>
          <a:xfrm>
            <a:off x="4480560" y="4572000"/>
            <a:ext cx="324612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55655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Ultrasonic meters: 30–40% of readings go wrong (practitioner report). Pressure and power are easy.</a:t>
            </a:r>
            <a:endParaRPr lang="en-US" sz="1300" dirty="0"/>
          </a:p>
        </p:txBody>
      </p:sp>
      <p:sp>
        <p:nvSpPr>
          <p:cNvPr id="34" name="Shape 26"/>
          <p:cNvSpPr/>
          <p:nvPr/>
        </p:nvSpPr>
        <p:spPr>
          <a:xfrm>
            <a:off x="8046720" y="3794760"/>
            <a:ext cx="3611880" cy="1920240"/>
          </a:xfrm>
          <a:prstGeom prst="roundRect">
            <a:avLst>
              <a:gd name="adj" fmla="val 3810"/>
            </a:avLst>
          </a:prstGeom>
          <a:solidFill>
            <a:srgbClr val="FFFFFF"/>
          </a:solidFill>
          <a:ln w="12700">
            <a:solidFill>
              <a:srgbClr val="D3DFD7"/>
            </a:solidFill>
            <a:prstDash val="solid"/>
          </a:ln>
        </p:spPr>
      </p:sp>
      <p:sp>
        <p:nvSpPr>
          <p:cNvPr id="35" name="Shape 27"/>
          <p:cNvSpPr/>
          <p:nvPr/>
        </p:nvSpPr>
        <p:spPr>
          <a:xfrm>
            <a:off x="8229600" y="3931920"/>
            <a:ext cx="502920" cy="502920"/>
          </a:xfrm>
          <a:prstGeom prst="ellipse">
            <a:avLst/>
          </a:prstGeom>
          <a:solidFill>
            <a:srgbClr val="0E5A32"/>
          </a:solidFill>
          <a:ln w="12700">
            <a:solidFill>
              <a:srgbClr val="0E5A32"/>
            </a:solidFill>
            <a:prstDash val="solid"/>
          </a:ln>
        </p:spPr>
      </p:sp>
      <p:pic>
        <p:nvPicPr>
          <p:cNvPr id="36" name="Image 6" descr="preencoded.png">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8350301" y="4052621"/>
            <a:ext cx="261518" cy="261518"/>
          </a:xfrm>
          <a:prstGeom prst="rect">
            <a:avLst/>
          </a:prstGeom>
        </p:spPr>
      </p:pic>
      <p:sp>
        <p:nvSpPr>
          <p:cNvPr id="37" name="Text 28"/>
          <p:cNvSpPr txBox="1"/>
          <p:nvPr/>
        </p:nvSpPr>
        <p:spPr>
          <a:xfrm>
            <a:off x="8869680" y="3931920"/>
            <a:ext cx="26517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626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Audits miss small plants</a:t>
            </a:r>
            <a:endParaRPr lang="en-US" sz="1600" dirty="0"/>
          </a:p>
        </p:txBody>
      </p:sp>
      <p:sp>
        <p:nvSpPr>
          <p:cNvPr id="38" name="Text 29"/>
          <p:cNvSpPr txBox="1"/>
          <p:nvPr/>
        </p:nvSpPr>
        <p:spPr>
          <a:xfrm>
            <a:off x="8229600" y="4572000"/>
            <a:ext cx="324612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55655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Full audits are a poor fit for small plants; very small plants rarely prioritise this.</a:t>
            </a:r>
            <a:endParaRPr lang="en-US" sz="1300" dirty="0"/>
          </a:p>
        </p:txBody>
      </p:sp>
      <p:sp>
        <p:nvSpPr>
          <p:cNvPr id="39" name="Text 30"/>
          <p:cNvSpPr txBox="1"/>
          <p:nvPr/>
        </p:nvSpPr>
        <p:spPr>
          <a:xfrm>
            <a:off x="548640" y="5852160"/>
            <a:ext cx="110642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0E5A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Head (pressure) and electrical power are cheap to measure. Flow is not. PumpRupee infers flow from the two that are.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47120" y="6473952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5655D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l"/>
            <a:fld id="{F7021451-1387-4CA6-816F-3879F97B5CBC}" type="slidenum">
              <a:rPr b="0" lang="en-US"/>
              <a:t>2</a:t>
            </a:fld>
            <a:endParaRPr lang="en-US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274320"/>
            <a:ext cx="1106424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000" b="1" dirty="0">
                <a:solidFill>
                  <a:srgbClr val="0E5A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Proposed Solution</a:t>
            </a:r>
            <a:endParaRPr lang="en-US" sz="30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868680"/>
            <a:ext cx="11064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rgbClr val="55655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clamp-on kit and a web dashboard turn power + pressure into “₹ wasted per year, and why”.</a:t>
            </a:r>
            <a:endParaRPr lang="en-US" sz="1600" dirty="0"/>
          </a:p>
        </p:txBody>
      </p:sp>
      <p:sp>
        <p:nvSpPr>
          <p:cNvPr id="4" name="Shape 2"/>
          <p:cNvSpPr/>
          <p:nvPr/>
        </p:nvSpPr>
        <p:spPr>
          <a:xfrm>
            <a:off x="716890" y="4360774"/>
            <a:ext cx="4707331" cy="213970"/>
          </a:xfrm>
          <a:prstGeom prst="rect">
            <a:avLst/>
          </a:prstGeom>
          <a:solidFill>
            <a:srgbClr val="9AA5A0"/>
          </a:solidFill>
          <a:ln w="12700">
            <a:solidFill>
              <a:srgbClr val="9AA5A0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930859" y="3255264"/>
            <a:ext cx="1711757" cy="1105510"/>
          </a:xfrm>
          <a:prstGeom prst="roundRect">
            <a:avLst>
              <a:gd name="adj" fmla="val 8271"/>
            </a:avLst>
          </a:prstGeom>
          <a:solidFill>
            <a:srgbClr val="3A4A45"/>
          </a:solidFill>
          <a:ln w="12700">
            <a:solidFill>
              <a:srgbClr val="3A4A45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1109167" y="3326587"/>
            <a:ext cx="85588" cy="962863"/>
          </a:xfrm>
          <a:prstGeom prst="rect">
            <a:avLst/>
          </a:prstGeom>
          <a:solidFill>
            <a:srgbClr val="55675F"/>
          </a:solidFill>
          <a:ln w="12700">
            <a:solidFill>
              <a:srgbClr val="55675F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1344534" y="3326587"/>
            <a:ext cx="85588" cy="962863"/>
          </a:xfrm>
          <a:prstGeom prst="rect">
            <a:avLst/>
          </a:prstGeom>
          <a:solidFill>
            <a:srgbClr val="55675F"/>
          </a:solidFill>
          <a:ln w="12700">
            <a:solidFill>
              <a:srgbClr val="55675F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1579900" y="3326587"/>
            <a:ext cx="85588" cy="962863"/>
          </a:xfrm>
          <a:prstGeom prst="rect">
            <a:avLst/>
          </a:prstGeom>
          <a:solidFill>
            <a:srgbClr val="55675F"/>
          </a:solidFill>
          <a:ln w="12700">
            <a:solidFill>
              <a:srgbClr val="55675F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1815267" y="3326587"/>
            <a:ext cx="85588" cy="962863"/>
          </a:xfrm>
          <a:prstGeom prst="rect">
            <a:avLst/>
          </a:prstGeom>
          <a:solidFill>
            <a:srgbClr val="55675F"/>
          </a:solidFill>
          <a:ln w="12700">
            <a:solidFill>
              <a:srgbClr val="55675F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2050633" y="3326587"/>
            <a:ext cx="85588" cy="962863"/>
          </a:xfrm>
          <a:prstGeom prst="rect">
            <a:avLst/>
          </a:prstGeom>
          <a:solidFill>
            <a:srgbClr val="55675F"/>
          </a:solidFill>
          <a:ln w="12700">
            <a:solidFill>
              <a:srgbClr val="55675F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2286000" y="3326587"/>
            <a:ext cx="85588" cy="962863"/>
          </a:xfrm>
          <a:prstGeom prst="rect">
            <a:avLst/>
          </a:prstGeom>
          <a:solidFill>
            <a:srgbClr val="55675F"/>
          </a:solidFill>
          <a:ln w="12700">
            <a:solidFill>
              <a:srgbClr val="55675F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2642616" y="3683203"/>
            <a:ext cx="320954" cy="285293"/>
          </a:xfrm>
          <a:prstGeom prst="rect">
            <a:avLst/>
          </a:prstGeom>
          <a:solidFill>
            <a:srgbClr val="7C8A84"/>
          </a:solidFill>
          <a:ln w="12700">
            <a:solidFill>
              <a:srgbClr val="7C8A84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2927909" y="3183941"/>
            <a:ext cx="1141171" cy="1141171"/>
          </a:xfrm>
          <a:prstGeom prst="ellipse">
            <a:avLst/>
          </a:prstGeom>
          <a:solidFill>
            <a:srgbClr val="2E7D5B"/>
          </a:solidFill>
          <a:ln w="12700">
            <a:solidFill>
              <a:srgbClr val="2E7D5B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3391510" y="2185416"/>
            <a:ext cx="213970" cy="1069848"/>
          </a:xfrm>
          <a:prstGeom prst="rect">
            <a:avLst/>
          </a:prstGeom>
          <a:solidFill>
            <a:srgbClr val="B0BEC5"/>
          </a:solidFill>
          <a:ln w="12700">
            <a:solidFill>
              <a:srgbClr val="B0BEC5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3391510" y="2185416"/>
            <a:ext cx="2032711" cy="213970"/>
          </a:xfrm>
          <a:prstGeom prst="rect">
            <a:avLst/>
          </a:prstGeom>
          <a:solidFill>
            <a:srgbClr val="B0BEC5"/>
          </a:solidFill>
          <a:ln w="12700">
            <a:solidFill>
              <a:srgbClr val="B0BEC5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3926434" y="3790188"/>
            <a:ext cx="1497787" cy="213970"/>
          </a:xfrm>
          <a:prstGeom prst="rect">
            <a:avLst/>
          </a:prstGeom>
          <a:solidFill>
            <a:srgbClr val="B0BEC5"/>
          </a:solidFill>
          <a:ln w="12700">
            <a:solidFill>
              <a:srgbClr val="B0BEC5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4568342" y="3683203"/>
            <a:ext cx="356616" cy="427939"/>
          </a:xfrm>
          <a:prstGeom prst="rect">
            <a:avLst/>
          </a:prstGeom>
          <a:solidFill>
            <a:srgbClr val="C9A227"/>
          </a:solidFill>
          <a:ln w="12700">
            <a:solidFill>
              <a:srgbClr val="C9A227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4318711" y="2078431"/>
            <a:ext cx="427939" cy="427939"/>
          </a:xfrm>
          <a:prstGeom prst="diamond">
            <a:avLst/>
          </a:prstGeom>
          <a:solidFill>
            <a:srgbClr val="E07B00"/>
          </a:solidFill>
          <a:ln w="12700">
            <a:solidFill>
              <a:srgbClr val="E07B00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4511284" y="1914388"/>
            <a:ext cx="42794" cy="178308"/>
          </a:xfrm>
          <a:prstGeom prst="rect">
            <a:avLst/>
          </a:prstGeom>
          <a:solidFill>
            <a:srgbClr val="444444"/>
          </a:solidFill>
          <a:ln w="12700">
            <a:solidFill>
              <a:srgbClr val="444444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4425696" y="1871594"/>
            <a:ext cx="213970" cy="57059"/>
          </a:xfrm>
          <a:prstGeom prst="rect">
            <a:avLst/>
          </a:prstGeom>
          <a:solidFill>
            <a:srgbClr val="444444"/>
          </a:solidFill>
          <a:ln w="12700">
            <a:solidFill>
              <a:srgbClr val="444444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3833713" y="2042770"/>
            <a:ext cx="71323" cy="156911"/>
          </a:xfrm>
          <a:prstGeom prst="rect">
            <a:avLst/>
          </a:prstGeom>
          <a:solidFill>
            <a:srgbClr val="444444"/>
          </a:solidFill>
          <a:ln w="12700">
            <a:solidFill>
              <a:srgbClr val="444444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3748126" y="1828800"/>
            <a:ext cx="249631" cy="213970"/>
          </a:xfrm>
          <a:prstGeom prst="roundRect">
            <a:avLst>
              <a:gd name="adj" fmla="val 21367"/>
            </a:avLst>
          </a:prstGeom>
          <a:solidFill>
            <a:srgbClr val="3DCD58"/>
          </a:solidFill>
          <a:ln w="12700">
            <a:solidFill>
              <a:srgbClr val="3DCD58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4625401" y="3469234"/>
            <a:ext cx="213970" cy="213970"/>
          </a:xfrm>
          <a:prstGeom prst="roundRect">
            <a:avLst>
              <a:gd name="adj" fmla="val 21367"/>
            </a:avLst>
          </a:prstGeom>
          <a:solidFill>
            <a:srgbClr val="3DCD58"/>
          </a:solidFill>
          <a:ln w="12700">
            <a:solidFill>
              <a:srgbClr val="3DCD58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2193280" y="2399386"/>
            <a:ext cx="42794" cy="855878"/>
          </a:xfrm>
          <a:prstGeom prst="rect">
            <a:avLst/>
          </a:prstGeom>
          <a:solidFill>
            <a:srgbClr val="222222"/>
          </a:solidFill>
          <a:ln w="12700">
            <a:solidFill>
              <a:srgbClr val="222222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1929384" y="1828800"/>
            <a:ext cx="1141171" cy="570586"/>
          </a:xfrm>
          <a:prstGeom prst="roundRect">
            <a:avLst>
              <a:gd name="adj" fmla="val 12821"/>
            </a:avLst>
          </a:prstGeom>
          <a:solidFill>
            <a:srgbClr val="0E5A32"/>
          </a:solidFill>
          <a:ln w="12700">
            <a:solidFill>
              <a:srgbClr val="0E5A32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2942173" y="1885859"/>
            <a:ext cx="71323" cy="71323"/>
          </a:xfrm>
          <a:prstGeom prst="ellipse">
            <a:avLst/>
          </a:prstGeom>
          <a:solidFill>
            <a:srgbClr val="3DCD58"/>
          </a:solidFill>
          <a:ln w="12700">
            <a:solidFill>
              <a:srgbClr val="3DCD58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2072030" y="2684678"/>
            <a:ext cx="285293" cy="285293"/>
          </a:xfrm>
          <a:prstGeom prst="donut">
            <a:avLst/>
          </a:prstGeom>
          <a:solidFill>
            <a:srgbClr val="3DCD58"/>
          </a:solidFill>
          <a:ln w="12700">
            <a:solidFill>
              <a:srgbClr val="3DCD58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3070555" y="1935785"/>
            <a:ext cx="677570" cy="0"/>
          </a:xfrm>
          <a:prstGeom prst="line">
            <a:avLst/>
          </a:prstGeom>
          <a:noFill/>
          <a:ln w="19050">
            <a:solidFill>
              <a:srgbClr val="3DCD58"/>
            </a:solidFill>
            <a:prstDash val="dash"/>
          </a:ln>
        </p:spPr>
      </p:sp>
      <p:sp>
        <p:nvSpPr>
          <p:cNvPr id="29" name="Text 27"/>
          <p:cNvSpPr txBox="1"/>
          <p:nvPr/>
        </p:nvSpPr>
        <p:spPr>
          <a:xfrm>
            <a:off x="1929384" y="1885859"/>
            <a:ext cx="998525" cy="21397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ESP32</a:t>
            </a:r>
            <a:endParaRPr lang="en-US" sz="1300" dirty="0"/>
          </a:p>
        </p:txBody>
      </p:sp>
      <p:sp>
        <p:nvSpPr>
          <p:cNvPr id="30" name="Text 28"/>
          <p:cNvSpPr txBox="1"/>
          <p:nvPr/>
        </p:nvSpPr>
        <p:spPr>
          <a:xfrm>
            <a:off x="1929384" y="2114093"/>
            <a:ext cx="998525" cy="21397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logger</a:t>
            </a:r>
            <a:endParaRPr lang="en-US" sz="1100" dirty="0"/>
          </a:p>
        </p:txBody>
      </p:sp>
      <p:sp>
        <p:nvSpPr>
          <p:cNvPr id="31" name="Text 29"/>
          <p:cNvSpPr txBox="1"/>
          <p:nvPr/>
        </p:nvSpPr>
        <p:spPr>
          <a:xfrm>
            <a:off x="930859" y="3647542"/>
            <a:ext cx="1711757" cy="28529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Motor</a:t>
            </a:r>
            <a:endParaRPr lang="en-US" sz="1400" dirty="0"/>
          </a:p>
        </p:txBody>
      </p:sp>
      <p:sp>
        <p:nvSpPr>
          <p:cNvPr id="32" name="Text 30"/>
          <p:cNvSpPr txBox="1"/>
          <p:nvPr/>
        </p:nvSpPr>
        <p:spPr>
          <a:xfrm>
            <a:off x="2927909" y="3611880"/>
            <a:ext cx="1141171" cy="28529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Pump</a:t>
            </a:r>
            <a:endParaRPr lang="en-US" sz="1400" dirty="0"/>
          </a:p>
        </p:txBody>
      </p:sp>
      <p:sp>
        <p:nvSpPr>
          <p:cNvPr id="33" name="Text 31"/>
          <p:cNvSpPr txBox="1"/>
          <p:nvPr/>
        </p:nvSpPr>
        <p:spPr>
          <a:xfrm>
            <a:off x="288950" y="2542032"/>
            <a:ext cx="1676095" cy="3566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0E5A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Power clamp (on motor cable)</a:t>
            </a:r>
            <a:endParaRPr lang="en-US" sz="1200" dirty="0"/>
          </a:p>
        </p:txBody>
      </p:sp>
      <p:sp>
        <p:nvSpPr>
          <p:cNvPr id="34" name="Text 32"/>
          <p:cNvSpPr txBox="1"/>
          <p:nvPr/>
        </p:nvSpPr>
        <p:spPr>
          <a:xfrm>
            <a:off x="3569818" y="1557772"/>
            <a:ext cx="1569110" cy="21397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rgbClr val="0E5A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Pressure transmitter</a:t>
            </a:r>
            <a:endParaRPr lang="en-US" sz="1200" dirty="0"/>
          </a:p>
        </p:txBody>
      </p:sp>
      <p:sp>
        <p:nvSpPr>
          <p:cNvPr id="35" name="Text 33"/>
          <p:cNvSpPr txBox="1"/>
          <p:nvPr/>
        </p:nvSpPr>
        <p:spPr>
          <a:xfrm>
            <a:off x="4140403" y="2542032"/>
            <a:ext cx="1212494" cy="21397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rgbClr val="E07B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Throttle valve</a:t>
            </a:r>
            <a:endParaRPr lang="en-US" sz="1200" dirty="0"/>
          </a:p>
        </p:txBody>
      </p:sp>
      <p:sp>
        <p:nvSpPr>
          <p:cNvPr id="36" name="Text 34"/>
          <p:cNvSpPr txBox="1"/>
          <p:nvPr/>
        </p:nvSpPr>
        <p:spPr>
          <a:xfrm>
            <a:off x="3997757" y="4146804"/>
            <a:ext cx="1497787" cy="3566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0E5A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Strainer + optional</a:t>
            </a:r>
            <a:endParaRPr lang="en-US" sz="1200" dirty="0"/>
          </a:p>
          <a:p>
            <a:pPr algn="r" indent="0" marL="0">
              <a:buNone/>
            </a:pPr>
            <a:r>
              <a:rPr lang="en-US" sz="1200" b="1" dirty="0">
                <a:solidFill>
                  <a:srgbClr val="0E5A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2nd transmitter</a:t>
            </a:r>
            <a:endParaRPr lang="en-US" sz="1200" dirty="0"/>
          </a:p>
        </p:txBody>
      </p:sp>
      <p:sp>
        <p:nvSpPr>
          <p:cNvPr id="37" name="Text 35"/>
          <p:cNvSpPr txBox="1"/>
          <p:nvPr/>
        </p:nvSpPr>
        <p:spPr>
          <a:xfrm>
            <a:off x="548640" y="4892040"/>
            <a:ext cx="5029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i="1" dirty="0">
                <a:solidFill>
                  <a:srgbClr val="55655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Concept illustration of the kit on a pump skid</a:t>
            </a:r>
            <a:endParaRPr lang="en-US" sz="1000" dirty="0"/>
          </a:p>
        </p:txBody>
      </p:sp>
      <p:sp>
        <p:nvSpPr>
          <p:cNvPr id="38" name="Shape 36"/>
          <p:cNvSpPr/>
          <p:nvPr/>
        </p:nvSpPr>
        <p:spPr>
          <a:xfrm>
            <a:off x="6309360" y="1280160"/>
            <a:ext cx="5029200" cy="3390138"/>
          </a:xfrm>
          <a:prstGeom prst="roundRect">
            <a:avLst>
              <a:gd name="adj" fmla="val 1618"/>
            </a:avLst>
          </a:prstGeom>
          <a:solidFill>
            <a:srgbClr val="FFFFFF"/>
          </a:solidFill>
          <a:ln w="19050">
            <a:solidFill>
              <a:srgbClr val="0E5A32"/>
            </a:solidFill>
            <a:prstDash val="solid"/>
          </a:ln>
        </p:spPr>
      </p:sp>
      <p:sp>
        <p:nvSpPr>
          <p:cNvPr id="39" name="Shape 37"/>
          <p:cNvSpPr/>
          <p:nvPr/>
        </p:nvSpPr>
        <p:spPr>
          <a:xfrm>
            <a:off x="6327648" y="1298448"/>
            <a:ext cx="4992624" cy="228600"/>
          </a:xfrm>
          <a:prstGeom prst="rect">
            <a:avLst/>
          </a:prstGeom>
          <a:solidFill>
            <a:srgbClr val="E3F2E7"/>
          </a:solidFill>
          <a:ln w="12700">
            <a:solidFill>
              <a:srgbClr val="E3F2E7"/>
            </a:solidFill>
            <a:prstDash val="solid"/>
          </a:ln>
        </p:spPr>
      </p:sp>
      <p:sp>
        <p:nvSpPr>
          <p:cNvPr id="40" name="Shape 38"/>
          <p:cNvSpPr/>
          <p:nvPr/>
        </p:nvSpPr>
        <p:spPr>
          <a:xfrm>
            <a:off x="6419088" y="1353312"/>
            <a:ext cx="91440" cy="91440"/>
          </a:xfrm>
          <a:prstGeom prst="ellipse">
            <a:avLst/>
          </a:prstGeom>
          <a:solidFill>
            <a:srgbClr val="EF4444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41" name="Shape 39"/>
          <p:cNvSpPr/>
          <p:nvPr/>
        </p:nvSpPr>
        <p:spPr>
          <a:xfrm>
            <a:off x="6565392" y="1353312"/>
            <a:ext cx="91440" cy="91440"/>
          </a:xfrm>
          <a:prstGeom prst="ellipse">
            <a:avLst/>
          </a:prstGeom>
          <a:solidFill>
            <a:srgbClr val="F59E0B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42" name="Shape 40"/>
          <p:cNvSpPr/>
          <p:nvPr/>
        </p:nvSpPr>
        <p:spPr>
          <a:xfrm>
            <a:off x="6711696" y="1353312"/>
            <a:ext cx="91440" cy="91440"/>
          </a:xfrm>
          <a:prstGeom prst="ellipse">
            <a:avLst/>
          </a:prstGeom>
          <a:solidFill>
            <a:srgbClr val="3DCD58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43" name="Shape 41"/>
          <p:cNvSpPr/>
          <p:nvPr/>
        </p:nvSpPr>
        <p:spPr>
          <a:xfrm>
            <a:off x="6949440" y="1325880"/>
            <a:ext cx="4114800" cy="155448"/>
          </a:xfrm>
          <a:prstGeom prst="roundRect">
            <a:avLst>
              <a:gd name="adj" fmla="val 47059"/>
            </a:avLst>
          </a:prstGeom>
          <a:solidFill>
            <a:srgbClr val="FFFFFF"/>
          </a:solidFill>
          <a:ln w="6350">
            <a:solidFill>
              <a:srgbClr val="BFE3C8"/>
            </a:solidFill>
            <a:prstDash val="solid"/>
          </a:ln>
        </p:spPr>
      </p:sp>
      <p:sp>
        <p:nvSpPr>
          <p:cNvPr id="44" name="Text 42"/>
          <p:cNvSpPr txBox="1"/>
          <p:nvPr/>
        </p:nvSpPr>
        <p:spPr>
          <a:xfrm>
            <a:off x="6949440" y="1325880"/>
            <a:ext cx="411480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55655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pumprupee-dashboard.vercel.app</a:t>
            </a:r>
            <a:endParaRPr lang="en-US" sz="800" dirty="0"/>
          </a:p>
        </p:txBody>
      </p:sp>
      <p:pic>
        <p:nvPicPr>
          <p:cNvPr id="45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327648" y="1527048"/>
            <a:ext cx="4992624" cy="3143250"/>
          </a:xfrm>
          <a:prstGeom prst="rect">
            <a:avLst/>
          </a:prstGeom>
        </p:spPr>
      </p:pic>
      <p:sp>
        <p:nvSpPr>
          <p:cNvPr id="46" name="Shape 43"/>
          <p:cNvSpPr/>
          <p:nvPr/>
        </p:nvSpPr>
        <p:spPr>
          <a:xfrm>
            <a:off x="6309360" y="4716018"/>
            <a:ext cx="3840480" cy="310896"/>
          </a:xfrm>
          <a:prstGeom prst="roundRect">
            <a:avLst>
              <a:gd name="adj" fmla="val 50000"/>
            </a:avLst>
          </a:prstGeom>
          <a:solidFill>
            <a:srgbClr val="E07B00"/>
          </a:solidFill>
          <a:ln w="12700">
            <a:solidFill>
              <a:srgbClr val="E07B00"/>
            </a:solidFill>
            <a:prstDash val="solid"/>
          </a:ln>
        </p:spPr>
      </p:sp>
      <p:sp>
        <p:nvSpPr>
          <p:cNvPr id="47" name="Text 44"/>
          <p:cNvSpPr txBox="1"/>
          <p:nvPr/>
        </p:nvSpPr>
        <p:spPr>
          <a:xfrm>
            <a:off x="6309360" y="4716018"/>
            <a:ext cx="38404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Working prototype dashboard · simulated data</a:t>
            </a:r>
            <a:endParaRPr lang="en-US" sz="1000" dirty="0"/>
          </a:p>
        </p:txBody>
      </p:sp>
      <p:pic>
        <p:nvPicPr>
          <p:cNvPr id="48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309360" y="5054346"/>
            <a:ext cx="219456" cy="219456"/>
          </a:xfrm>
          <a:prstGeom prst="rect">
            <a:avLst/>
          </a:prstGeom>
        </p:spPr>
      </p:pic>
      <p:sp>
        <p:nvSpPr>
          <p:cNvPr id="49" name="Text 45"/>
          <p:cNvSpPr txBox="1"/>
          <p:nvPr/>
        </p:nvSpPr>
        <p:spPr>
          <a:xfrm>
            <a:off x="6620256" y="5026914"/>
            <a:ext cx="22860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1626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₹ waste per year, by cause</a:t>
            </a:r>
            <a:endParaRPr lang="en-US" sz="1050" dirty="0"/>
          </a:p>
        </p:txBody>
      </p:sp>
      <p:pic>
        <p:nvPicPr>
          <p:cNvPr id="50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915400" y="5054346"/>
            <a:ext cx="219456" cy="219456"/>
          </a:xfrm>
          <a:prstGeom prst="rect">
            <a:avLst/>
          </a:prstGeom>
        </p:spPr>
      </p:pic>
      <p:sp>
        <p:nvSpPr>
          <p:cNvPr id="51" name="Text 46"/>
          <p:cNvSpPr txBox="1"/>
          <p:nvPr/>
        </p:nvSpPr>
        <p:spPr>
          <a:xfrm>
            <a:off x="9226296" y="5026914"/>
            <a:ext cx="22860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1626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Cheapest fix first + safe setpoint</a:t>
            </a:r>
            <a:endParaRPr lang="en-US" sz="1050" dirty="0"/>
          </a:p>
        </p:txBody>
      </p:sp>
      <p:pic>
        <p:nvPicPr>
          <p:cNvPr id="52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309360" y="5356098"/>
            <a:ext cx="219456" cy="219456"/>
          </a:xfrm>
          <a:prstGeom prst="rect">
            <a:avLst/>
          </a:prstGeom>
        </p:spPr>
      </p:pic>
      <p:sp>
        <p:nvSpPr>
          <p:cNvPr id="53" name="Text 47"/>
          <p:cNvSpPr txBox="1"/>
          <p:nvPr/>
        </p:nvSpPr>
        <p:spPr>
          <a:xfrm>
            <a:off x="6620256" y="5328666"/>
            <a:ext cx="22860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1626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VFD payback verdict for THIS pump</a:t>
            </a:r>
            <a:endParaRPr lang="en-US" sz="1050" dirty="0"/>
          </a:p>
        </p:txBody>
      </p:sp>
      <p:pic>
        <p:nvPicPr>
          <p:cNvPr id="54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915400" y="5356098"/>
            <a:ext cx="219456" cy="219456"/>
          </a:xfrm>
          <a:prstGeom prst="rect">
            <a:avLst/>
          </a:prstGeom>
        </p:spPr>
      </p:pic>
      <p:sp>
        <p:nvSpPr>
          <p:cNvPr id="55" name="Text 48"/>
          <p:cNvSpPr txBox="1"/>
          <p:nvPr/>
        </p:nvSpPr>
        <p:spPr>
          <a:xfrm>
            <a:off x="9226296" y="5328666"/>
            <a:ext cx="22860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1626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Verified saving after the fix</a:t>
            </a:r>
            <a:endParaRPr lang="en-US" sz="1050" dirty="0"/>
          </a:p>
        </p:txBody>
      </p:sp>
      <p:sp>
        <p:nvSpPr>
          <p:cNvPr id="56" name="Text 49"/>
          <p:cNvSpPr txBox="1"/>
          <p:nvPr/>
        </p:nvSpPr>
        <p:spPr>
          <a:xfrm>
            <a:off x="548640" y="5257800"/>
            <a:ext cx="5120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0E5A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Clamp on → log 7–14 days → ₹ report → the right fix</a:t>
            </a:r>
            <a:endParaRPr lang="en-US" sz="1500" dirty="0"/>
          </a:p>
        </p:txBody>
      </p:sp>
      <p:sp>
        <p:nvSpPr>
          <p:cNvPr id="57" name="Shape 50"/>
          <p:cNvSpPr/>
          <p:nvPr/>
        </p:nvSpPr>
        <p:spPr>
          <a:xfrm>
            <a:off x="548640" y="5852160"/>
            <a:ext cx="11109960" cy="502920"/>
          </a:xfrm>
          <a:prstGeom prst="roundRect">
            <a:avLst>
              <a:gd name="adj" fmla="val 18182"/>
            </a:avLst>
          </a:prstGeom>
          <a:solidFill>
            <a:srgbClr val="0E5A32"/>
          </a:solidFill>
          <a:ln w="12700">
            <a:solidFill>
              <a:srgbClr val="0E5A32"/>
            </a:solidFill>
            <a:prstDash val="solid"/>
          </a:ln>
        </p:spPr>
      </p:sp>
      <p:sp>
        <p:nvSpPr>
          <p:cNvPr id="58" name="Text 51"/>
          <p:cNvSpPr txBox="1"/>
          <p:nvPr/>
        </p:nvSpPr>
        <p:spPr>
          <a:xfrm>
            <a:off x="548640" y="5852160"/>
            <a:ext cx="111099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Audits and recommends. Does not control the pump.</a:t>
            </a:r>
            <a:endParaRPr lang="en-US" sz="1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47120" y="6473952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5655D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l"/>
            <a:fld id="{F7021451-1387-4CA6-816F-3879F97B5CBC}" type="slidenum">
              <a:rPr b="0" lang="en-US"/>
              <a:t>3</a:t>
            </a:fld>
            <a:endParaRPr lang="en-US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274320"/>
            <a:ext cx="1106424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000" b="1" dirty="0">
                <a:solidFill>
                  <a:srgbClr val="0E5A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Alignment to Smart Manufacturing</a:t>
            </a:r>
            <a:endParaRPr lang="en-US" sz="30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868680"/>
            <a:ext cx="11064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rgbClr val="55655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Electrify · Automate · Digitalise, at an entry cost an MSME can afford.</a:t>
            </a:r>
            <a:endParaRPr lang="en-US" sz="1600" dirty="0"/>
          </a:p>
        </p:txBody>
      </p:sp>
      <p:sp>
        <p:nvSpPr>
          <p:cNvPr id="4" name="Shape 2"/>
          <p:cNvSpPr/>
          <p:nvPr/>
        </p:nvSpPr>
        <p:spPr>
          <a:xfrm>
            <a:off x="548640" y="1371600"/>
            <a:ext cx="3611880" cy="2331720"/>
          </a:xfrm>
          <a:prstGeom prst="roundRect">
            <a:avLst>
              <a:gd name="adj" fmla="val 3137"/>
            </a:avLst>
          </a:prstGeom>
          <a:solidFill>
            <a:srgbClr val="FFFFFF"/>
          </a:solidFill>
          <a:ln w="12700">
            <a:solidFill>
              <a:srgbClr val="D3DFD7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685800" y="1481328"/>
            <a:ext cx="530352" cy="530352"/>
          </a:xfrm>
          <a:prstGeom prst="ellipse">
            <a:avLst/>
          </a:prstGeom>
          <a:solidFill>
            <a:srgbClr val="0E5A32"/>
          </a:solidFill>
          <a:ln w="12700">
            <a:solidFill>
              <a:srgbClr val="0E5A32"/>
            </a:solidFill>
            <a:prstDash val="solid"/>
          </a:ln>
        </p:spPr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13084" y="1608612"/>
            <a:ext cx="275783" cy="275783"/>
          </a:xfrm>
          <a:prstGeom prst="rect">
            <a:avLst/>
          </a:prstGeom>
        </p:spPr>
      </p:pic>
      <p:sp>
        <p:nvSpPr>
          <p:cNvPr id="7" name="Text 4"/>
          <p:cNvSpPr txBox="1"/>
          <p:nvPr/>
        </p:nvSpPr>
        <p:spPr>
          <a:xfrm>
            <a:off x="1371600" y="1481328"/>
            <a:ext cx="265176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0E5A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Electrify</a:t>
            </a:r>
            <a:endParaRPr lang="en-US" sz="2200" dirty="0"/>
          </a:p>
        </p:txBody>
      </p:sp>
      <p:sp>
        <p:nvSpPr>
          <p:cNvPr id="8" name="Text 5"/>
          <p:cNvSpPr txBox="1"/>
          <p:nvPr/>
        </p:nvSpPr>
        <p:spPr>
          <a:xfrm>
            <a:off x="731520" y="2148840"/>
            <a:ext cx="3291840" cy="1508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300" dirty="0">
                <a:solidFill>
                  <a:srgbClr val="1626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Makes motor energy visible with a clamp-on power measurement</a:t>
            </a:r>
            <a:endParaRPr lang="en-US" sz="130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300" dirty="0">
                <a:solidFill>
                  <a:srgbClr val="1626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Points owners to the pumps where a right-sized drive pays back</a:t>
            </a:r>
            <a:endParaRPr lang="en-US" sz="1300" dirty="0"/>
          </a:p>
        </p:txBody>
      </p:sp>
      <p:sp>
        <p:nvSpPr>
          <p:cNvPr id="9" name="Shape 6"/>
          <p:cNvSpPr/>
          <p:nvPr/>
        </p:nvSpPr>
        <p:spPr>
          <a:xfrm>
            <a:off x="4297680" y="1371600"/>
            <a:ext cx="3611880" cy="2331720"/>
          </a:xfrm>
          <a:prstGeom prst="roundRect">
            <a:avLst>
              <a:gd name="adj" fmla="val 3137"/>
            </a:avLst>
          </a:prstGeom>
          <a:solidFill>
            <a:srgbClr val="FFFFFF"/>
          </a:solidFill>
          <a:ln w="12700">
            <a:solidFill>
              <a:srgbClr val="D3DFD7"/>
            </a:solidFill>
            <a:prstDash val="solid"/>
          </a:ln>
        </p:spPr>
      </p:sp>
      <p:sp>
        <p:nvSpPr>
          <p:cNvPr id="10" name="Shape 7"/>
          <p:cNvSpPr/>
          <p:nvPr/>
        </p:nvSpPr>
        <p:spPr>
          <a:xfrm>
            <a:off x="4434840" y="1481328"/>
            <a:ext cx="530352" cy="530352"/>
          </a:xfrm>
          <a:prstGeom prst="ellipse">
            <a:avLst/>
          </a:prstGeom>
          <a:solidFill>
            <a:srgbClr val="0E5A32"/>
          </a:solidFill>
          <a:ln w="12700">
            <a:solidFill>
              <a:srgbClr val="0E5A32"/>
            </a:solidFill>
            <a:prstDash val="solid"/>
          </a:ln>
        </p:spPr>
      </p:sp>
      <p:pic>
        <p:nvPicPr>
          <p:cNvPr id="11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62124" y="1608612"/>
            <a:ext cx="275783" cy="275783"/>
          </a:xfrm>
          <a:prstGeom prst="rect">
            <a:avLst/>
          </a:prstGeom>
        </p:spPr>
      </p:pic>
      <p:sp>
        <p:nvSpPr>
          <p:cNvPr id="12" name="Text 8"/>
          <p:cNvSpPr txBox="1"/>
          <p:nvPr/>
        </p:nvSpPr>
        <p:spPr>
          <a:xfrm>
            <a:off x="5120640" y="1481328"/>
            <a:ext cx="265176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0E5A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Automate</a:t>
            </a:r>
            <a:endParaRPr lang="en-US" sz="2200" dirty="0"/>
          </a:p>
        </p:txBody>
      </p:sp>
      <p:sp>
        <p:nvSpPr>
          <p:cNvPr id="13" name="Text 9"/>
          <p:cNvSpPr txBox="1"/>
          <p:nvPr/>
        </p:nvSpPr>
        <p:spPr>
          <a:xfrm>
            <a:off x="4480560" y="2148840"/>
            <a:ext cx="3291840" cy="1508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300" dirty="0">
                <a:solidFill>
                  <a:srgbClr val="1626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Automatic diagnosis of waste by cause</a:t>
            </a:r>
            <a:endParaRPr lang="en-US" sz="130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300" dirty="0">
                <a:solidFill>
                  <a:srgbClr val="1626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Wear-drift alarm (CUSUM) on the pump</a:t>
            </a:r>
            <a:endParaRPr lang="en-US" sz="130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300" dirty="0">
                <a:solidFill>
                  <a:srgbClr val="1626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Lowest safe VFD setpoint; the drive does the controlling</a:t>
            </a:r>
            <a:endParaRPr lang="en-US" sz="1300" dirty="0"/>
          </a:p>
        </p:txBody>
      </p:sp>
      <p:sp>
        <p:nvSpPr>
          <p:cNvPr id="14" name="Shape 10"/>
          <p:cNvSpPr/>
          <p:nvPr/>
        </p:nvSpPr>
        <p:spPr>
          <a:xfrm>
            <a:off x="8046720" y="1371600"/>
            <a:ext cx="3611880" cy="2331720"/>
          </a:xfrm>
          <a:prstGeom prst="roundRect">
            <a:avLst>
              <a:gd name="adj" fmla="val 3137"/>
            </a:avLst>
          </a:prstGeom>
          <a:solidFill>
            <a:srgbClr val="FFFFFF"/>
          </a:solidFill>
          <a:ln w="12700">
            <a:solidFill>
              <a:srgbClr val="D3DFD7"/>
            </a:solidFill>
            <a:prstDash val="solid"/>
          </a:ln>
        </p:spPr>
      </p:sp>
      <p:sp>
        <p:nvSpPr>
          <p:cNvPr id="15" name="Shape 11"/>
          <p:cNvSpPr/>
          <p:nvPr/>
        </p:nvSpPr>
        <p:spPr>
          <a:xfrm>
            <a:off x="8183880" y="1481328"/>
            <a:ext cx="530352" cy="530352"/>
          </a:xfrm>
          <a:prstGeom prst="ellipse">
            <a:avLst/>
          </a:prstGeom>
          <a:solidFill>
            <a:srgbClr val="0E5A32"/>
          </a:solidFill>
          <a:ln w="12700">
            <a:solidFill>
              <a:srgbClr val="0E5A32"/>
            </a:solidFill>
            <a:prstDash val="solid"/>
          </a:ln>
        </p:spPr>
      </p:sp>
      <p:pic>
        <p:nvPicPr>
          <p:cNvPr id="16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311164" y="1608612"/>
            <a:ext cx="275783" cy="275783"/>
          </a:xfrm>
          <a:prstGeom prst="rect">
            <a:avLst/>
          </a:prstGeom>
        </p:spPr>
      </p:pic>
      <p:sp>
        <p:nvSpPr>
          <p:cNvPr id="17" name="Text 12"/>
          <p:cNvSpPr txBox="1"/>
          <p:nvPr/>
        </p:nvSpPr>
        <p:spPr>
          <a:xfrm>
            <a:off x="8869680" y="1481328"/>
            <a:ext cx="265176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0E5A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Digitalise</a:t>
            </a:r>
            <a:endParaRPr lang="en-US" sz="2200" dirty="0"/>
          </a:p>
        </p:txBody>
      </p:sp>
      <p:sp>
        <p:nvSpPr>
          <p:cNvPr id="18" name="Text 13"/>
          <p:cNvSpPr txBox="1"/>
          <p:nvPr/>
        </p:nvSpPr>
        <p:spPr>
          <a:xfrm>
            <a:off x="8229600" y="2148840"/>
            <a:ext cx="3291840" cy="1508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300" dirty="0">
                <a:solidFill>
                  <a:srgbClr val="1626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Logs become a ₹ business case on a dashboard</a:t>
            </a:r>
            <a:endParaRPr lang="en-US" sz="130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300" dirty="0">
                <a:solidFill>
                  <a:srgbClr val="1626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Before/after proof of the saving</a:t>
            </a:r>
            <a:endParaRPr lang="en-US" sz="130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300" dirty="0">
                <a:solidFill>
                  <a:srgbClr val="1626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Owner keeps the data and can use any drive</a:t>
            </a:r>
            <a:endParaRPr lang="en-US" sz="1300" dirty="0"/>
          </a:p>
        </p:txBody>
      </p:sp>
      <p:sp>
        <p:nvSpPr>
          <p:cNvPr id="19" name="Text 14"/>
          <p:cNvSpPr txBox="1"/>
          <p:nvPr/>
        </p:nvSpPr>
        <p:spPr>
          <a:xfrm>
            <a:off x="548640" y="3886200"/>
            <a:ext cx="7315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rgbClr val="0E5A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How PumpRupee feeds drives and energy management</a:t>
            </a:r>
            <a:endParaRPr lang="en-US" sz="1600" dirty="0"/>
          </a:p>
        </p:txBody>
      </p:sp>
      <p:sp>
        <p:nvSpPr>
          <p:cNvPr id="20" name="Shape 15"/>
          <p:cNvSpPr/>
          <p:nvPr/>
        </p:nvSpPr>
        <p:spPr>
          <a:xfrm>
            <a:off x="548640" y="4297680"/>
            <a:ext cx="2011680" cy="1371600"/>
          </a:xfrm>
          <a:prstGeom prst="roundRect">
            <a:avLst>
              <a:gd name="adj" fmla="val 5333"/>
            </a:avLst>
          </a:prstGeom>
          <a:solidFill>
            <a:srgbClr val="E3F6E8"/>
          </a:solidFill>
          <a:ln w="25400">
            <a:solidFill>
              <a:srgbClr val="3DCD58"/>
            </a:solidFill>
            <a:prstDash val="solid"/>
          </a:ln>
        </p:spPr>
      </p:sp>
      <p:sp>
        <p:nvSpPr>
          <p:cNvPr id="21" name="Shape 16"/>
          <p:cNvSpPr/>
          <p:nvPr/>
        </p:nvSpPr>
        <p:spPr>
          <a:xfrm>
            <a:off x="658368" y="4389120"/>
            <a:ext cx="329184" cy="329184"/>
          </a:xfrm>
          <a:prstGeom prst="ellipse">
            <a:avLst/>
          </a:prstGeom>
          <a:solidFill>
            <a:srgbClr val="0E5A32"/>
          </a:solidFill>
          <a:ln w="12700">
            <a:solidFill>
              <a:srgbClr val="0E5A32"/>
            </a:solidFill>
            <a:prstDash val="solid"/>
          </a:ln>
        </p:spPr>
      </p:sp>
      <p:sp>
        <p:nvSpPr>
          <p:cNvPr id="22" name="Text 17"/>
          <p:cNvSpPr txBox="1"/>
          <p:nvPr/>
        </p:nvSpPr>
        <p:spPr>
          <a:xfrm>
            <a:off x="658368" y="4389120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300" dirty="0"/>
          </a:p>
        </p:txBody>
      </p:sp>
      <p:sp>
        <p:nvSpPr>
          <p:cNvPr id="23" name="Text 18"/>
          <p:cNvSpPr txBox="1"/>
          <p:nvPr/>
        </p:nvSpPr>
        <p:spPr>
          <a:xfrm>
            <a:off x="658368" y="4773168"/>
            <a:ext cx="1810512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1626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PumpRupee audit</a:t>
            </a:r>
            <a:endParaRPr lang="en-US" sz="1300" dirty="0"/>
          </a:p>
          <a:p>
            <a:pPr indent="0" marL="0">
              <a:buNone/>
            </a:pPr>
            <a:r>
              <a:rPr lang="en-US" sz="1100" dirty="0">
                <a:solidFill>
                  <a:srgbClr val="55655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Clamp-on, 7–14 days</a:t>
            </a:r>
            <a:endParaRPr lang="en-US" sz="1300" dirty="0"/>
          </a:p>
        </p:txBody>
      </p:sp>
      <p:sp>
        <p:nvSpPr>
          <p:cNvPr id="24" name="Shape 19"/>
          <p:cNvSpPr/>
          <p:nvPr/>
        </p:nvSpPr>
        <p:spPr>
          <a:xfrm>
            <a:off x="2578608" y="4846320"/>
            <a:ext cx="201168" cy="256032"/>
          </a:xfrm>
          <a:prstGeom prst="rightArrow">
            <a:avLst/>
          </a:prstGeom>
          <a:solidFill>
            <a:srgbClr val="3DCD58"/>
          </a:solidFill>
          <a:ln w="12700">
            <a:solidFill>
              <a:srgbClr val="3DCD58"/>
            </a:solidFill>
            <a:prstDash val="solid"/>
          </a:ln>
        </p:spPr>
      </p:sp>
      <p:sp>
        <p:nvSpPr>
          <p:cNvPr id="25" name="Shape 20"/>
          <p:cNvSpPr/>
          <p:nvPr/>
        </p:nvSpPr>
        <p:spPr>
          <a:xfrm>
            <a:off x="2798064" y="4297680"/>
            <a:ext cx="2011680" cy="1371600"/>
          </a:xfrm>
          <a:prstGeom prst="roundRect">
            <a:avLst>
              <a:gd name="adj" fmla="val 5333"/>
            </a:avLst>
          </a:prstGeom>
          <a:solidFill>
            <a:srgbClr val="FFFFFF"/>
          </a:solidFill>
          <a:ln w="12700">
            <a:solidFill>
              <a:srgbClr val="D3DFD7"/>
            </a:solidFill>
            <a:prstDash val="solid"/>
          </a:ln>
        </p:spPr>
      </p:sp>
      <p:sp>
        <p:nvSpPr>
          <p:cNvPr id="26" name="Shape 21"/>
          <p:cNvSpPr/>
          <p:nvPr/>
        </p:nvSpPr>
        <p:spPr>
          <a:xfrm>
            <a:off x="2907792" y="4389120"/>
            <a:ext cx="329184" cy="329184"/>
          </a:xfrm>
          <a:prstGeom prst="ellipse">
            <a:avLst/>
          </a:prstGeom>
          <a:solidFill>
            <a:srgbClr val="9AA5A0"/>
          </a:solidFill>
          <a:ln w="12700">
            <a:solidFill>
              <a:srgbClr val="9AA5A0"/>
            </a:solidFill>
            <a:prstDash val="solid"/>
          </a:ln>
        </p:spPr>
      </p:sp>
      <p:sp>
        <p:nvSpPr>
          <p:cNvPr id="27" name="Text 22"/>
          <p:cNvSpPr txBox="1"/>
          <p:nvPr/>
        </p:nvSpPr>
        <p:spPr>
          <a:xfrm>
            <a:off x="2907792" y="4389120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300" dirty="0"/>
          </a:p>
        </p:txBody>
      </p:sp>
      <p:sp>
        <p:nvSpPr>
          <p:cNvPr id="28" name="Text 23"/>
          <p:cNvSpPr txBox="1"/>
          <p:nvPr/>
        </p:nvSpPr>
        <p:spPr>
          <a:xfrm>
            <a:off x="2907792" y="4773168"/>
            <a:ext cx="1810512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1626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₹ business case</a:t>
            </a:r>
            <a:endParaRPr lang="en-US" sz="1300" dirty="0"/>
          </a:p>
          <a:p>
            <a:pPr indent="0" marL="0">
              <a:buNone/>
            </a:pPr>
            <a:r>
              <a:rPr lang="en-US" sz="1100" dirty="0">
                <a:solidFill>
                  <a:srgbClr val="55655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Waste by cause + VFD verdict</a:t>
            </a:r>
            <a:endParaRPr lang="en-US" sz="1300" dirty="0"/>
          </a:p>
        </p:txBody>
      </p:sp>
      <p:sp>
        <p:nvSpPr>
          <p:cNvPr id="29" name="Shape 24"/>
          <p:cNvSpPr/>
          <p:nvPr/>
        </p:nvSpPr>
        <p:spPr>
          <a:xfrm>
            <a:off x="4828032" y="4846320"/>
            <a:ext cx="201168" cy="256032"/>
          </a:xfrm>
          <a:prstGeom prst="rightArrow">
            <a:avLst/>
          </a:prstGeom>
          <a:solidFill>
            <a:srgbClr val="3DCD58"/>
          </a:solidFill>
          <a:ln w="12700">
            <a:solidFill>
              <a:srgbClr val="3DCD58"/>
            </a:solidFill>
            <a:prstDash val="solid"/>
          </a:ln>
        </p:spPr>
      </p:sp>
      <p:sp>
        <p:nvSpPr>
          <p:cNvPr id="30" name="Shape 25"/>
          <p:cNvSpPr/>
          <p:nvPr/>
        </p:nvSpPr>
        <p:spPr>
          <a:xfrm>
            <a:off x="5047488" y="4297680"/>
            <a:ext cx="2011680" cy="1371600"/>
          </a:xfrm>
          <a:prstGeom prst="roundRect">
            <a:avLst>
              <a:gd name="adj" fmla="val 5333"/>
            </a:avLst>
          </a:prstGeom>
          <a:solidFill>
            <a:srgbClr val="FFFFFF"/>
          </a:solidFill>
          <a:ln w="12700">
            <a:solidFill>
              <a:srgbClr val="D3DFD7"/>
            </a:solidFill>
            <a:prstDash val="solid"/>
          </a:ln>
        </p:spPr>
      </p:sp>
      <p:sp>
        <p:nvSpPr>
          <p:cNvPr id="31" name="Shape 26"/>
          <p:cNvSpPr/>
          <p:nvPr/>
        </p:nvSpPr>
        <p:spPr>
          <a:xfrm>
            <a:off x="5157216" y="4389120"/>
            <a:ext cx="329184" cy="329184"/>
          </a:xfrm>
          <a:prstGeom prst="ellipse">
            <a:avLst/>
          </a:prstGeom>
          <a:solidFill>
            <a:srgbClr val="9AA5A0"/>
          </a:solidFill>
          <a:ln w="12700">
            <a:solidFill>
              <a:srgbClr val="9AA5A0"/>
            </a:solidFill>
            <a:prstDash val="solid"/>
          </a:ln>
        </p:spPr>
      </p:sp>
      <p:sp>
        <p:nvSpPr>
          <p:cNvPr id="32" name="Text 27"/>
          <p:cNvSpPr txBox="1"/>
          <p:nvPr/>
        </p:nvSpPr>
        <p:spPr>
          <a:xfrm>
            <a:off x="5157216" y="4389120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300" dirty="0"/>
          </a:p>
        </p:txBody>
      </p:sp>
      <p:sp>
        <p:nvSpPr>
          <p:cNvPr id="33" name="Text 28"/>
          <p:cNvSpPr txBox="1"/>
          <p:nvPr/>
        </p:nvSpPr>
        <p:spPr>
          <a:xfrm>
            <a:off x="5157216" y="4773168"/>
            <a:ext cx="1810512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1626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VFD installed</a:t>
            </a:r>
            <a:endParaRPr lang="en-US" sz="1300" dirty="0"/>
          </a:p>
          <a:p>
            <a:pPr indent="0" marL="0">
              <a:buNone/>
            </a:pPr>
            <a:r>
              <a:rPr lang="en-US" sz="1100" dirty="0">
                <a:solidFill>
                  <a:srgbClr val="55655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e.g. Altivar Process</a:t>
            </a:r>
            <a:endParaRPr lang="en-US" sz="1300" dirty="0"/>
          </a:p>
        </p:txBody>
      </p:sp>
      <p:sp>
        <p:nvSpPr>
          <p:cNvPr id="34" name="Shape 29"/>
          <p:cNvSpPr/>
          <p:nvPr/>
        </p:nvSpPr>
        <p:spPr>
          <a:xfrm>
            <a:off x="7077456" y="4846320"/>
            <a:ext cx="201168" cy="256032"/>
          </a:xfrm>
          <a:prstGeom prst="rightArrow">
            <a:avLst/>
          </a:prstGeom>
          <a:solidFill>
            <a:srgbClr val="3DCD58"/>
          </a:solidFill>
          <a:ln w="12700">
            <a:solidFill>
              <a:srgbClr val="3DCD58"/>
            </a:solidFill>
            <a:prstDash val="solid"/>
          </a:ln>
        </p:spPr>
      </p:sp>
      <p:sp>
        <p:nvSpPr>
          <p:cNvPr id="35" name="Shape 30"/>
          <p:cNvSpPr/>
          <p:nvPr/>
        </p:nvSpPr>
        <p:spPr>
          <a:xfrm>
            <a:off x="7296912" y="4297680"/>
            <a:ext cx="2011680" cy="1371600"/>
          </a:xfrm>
          <a:prstGeom prst="roundRect">
            <a:avLst>
              <a:gd name="adj" fmla="val 5333"/>
            </a:avLst>
          </a:prstGeom>
          <a:solidFill>
            <a:srgbClr val="E3F6E8"/>
          </a:solidFill>
          <a:ln w="25400">
            <a:solidFill>
              <a:srgbClr val="3DCD58"/>
            </a:solidFill>
            <a:prstDash val="solid"/>
          </a:ln>
        </p:spPr>
      </p:sp>
      <p:sp>
        <p:nvSpPr>
          <p:cNvPr id="36" name="Shape 31"/>
          <p:cNvSpPr/>
          <p:nvPr/>
        </p:nvSpPr>
        <p:spPr>
          <a:xfrm>
            <a:off x="7406640" y="4389120"/>
            <a:ext cx="329184" cy="329184"/>
          </a:xfrm>
          <a:prstGeom prst="ellipse">
            <a:avLst/>
          </a:prstGeom>
          <a:solidFill>
            <a:srgbClr val="0E5A32"/>
          </a:solidFill>
          <a:ln w="12700">
            <a:solidFill>
              <a:srgbClr val="0E5A32"/>
            </a:solidFill>
            <a:prstDash val="solid"/>
          </a:ln>
        </p:spPr>
      </p:sp>
      <p:sp>
        <p:nvSpPr>
          <p:cNvPr id="37" name="Text 32"/>
          <p:cNvSpPr txBox="1"/>
          <p:nvPr/>
        </p:nvSpPr>
        <p:spPr>
          <a:xfrm>
            <a:off x="7406640" y="4389120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300" dirty="0"/>
          </a:p>
        </p:txBody>
      </p:sp>
      <p:sp>
        <p:nvSpPr>
          <p:cNvPr id="38" name="Text 33"/>
          <p:cNvSpPr txBox="1"/>
          <p:nvPr/>
        </p:nvSpPr>
        <p:spPr>
          <a:xfrm>
            <a:off x="7406640" y="4773168"/>
            <a:ext cx="1810512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1626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PumpRupee re-measures</a:t>
            </a:r>
            <a:endParaRPr lang="en-US" sz="1300" dirty="0"/>
          </a:p>
          <a:p>
            <a:pPr indent="0" marL="0">
              <a:buNone/>
            </a:pPr>
            <a:r>
              <a:rPr lang="en-US" sz="1100" dirty="0">
                <a:solidFill>
                  <a:srgbClr val="55655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Same kit, after the fix</a:t>
            </a:r>
            <a:endParaRPr lang="en-US" sz="1300" dirty="0"/>
          </a:p>
        </p:txBody>
      </p:sp>
      <p:sp>
        <p:nvSpPr>
          <p:cNvPr id="39" name="Shape 34"/>
          <p:cNvSpPr/>
          <p:nvPr/>
        </p:nvSpPr>
        <p:spPr>
          <a:xfrm>
            <a:off x="9326880" y="4846320"/>
            <a:ext cx="201168" cy="256032"/>
          </a:xfrm>
          <a:prstGeom prst="rightArrow">
            <a:avLst/>
          </a:prstGeom>
          <a:solidFill>
            <a:srgbClr val="3DCD58"/>
          </a:solidFill>
          <a:ln w="12700">
            <a:solidFill>
              <a:srgbClr val="3DCD58"/>
            </a:solidFill>
            <a:prstDash val="solid"/>
          </a:ln>
        </p:spPr>
      </p:sp>
      <p:sp>
        <p:nvSpPr>
          <p:cNvPr id="40" name="Shape 35"/>
          <p:cNvSpPr/>
          <p:nvPr/>
        </p:nvSpPr>
        <p:spPr>
          <a:xfrm>
            <a:off x="9546336" y="4297680"/>
            <a:ext cx="2011680" cy="1371600"/>
          </a:xfrm>
          <a:prstGeom prst="roundRect">
            <a:avLst>
              <a:gd name="adj" fmla="val 5333"/>
            </a:avLst>
          </a:prstGeom>
          <a:solidFill>
            <a:srgbClr val="FFFFFF"/>
          </a:solidFill>
          <a:ln w="12700">
            <a:solidFill>
              <a:srgbClr val="D3DFD7"/>
            </a:solidFill>
            <a:prstDash val="solid"/>
          </a:ln>
        </p:spPr>
      </p:sp>
      <p:sp>
        <p:nvSpPr>
          <p:cNvPr id="41" name="Shape 36"/>
          <p:cNvSpPr/>
          <p:nvPr/>
        </p:nvSpPr>
        <p:spPr>
          <a:xfrm>
            <a:off x="9656064" y="4389120"/>
            <a:ext cx="329184" cy="329184"/>
          </a:xfrm>
          <a:prstGeom prst="ellipse">
            <a:avLst/>
          </a:prstGeom>
          <a:solidFill>
            <a:srgbClr val="9AA5A0"/>
          </a:solidFill>
          <a:ln w="12700">
            <a:solidFill>
              <a:srgbClr val="9AA5A0"/>
            </a:solidFill>
            <a:prstDash val="solid"/>
          </a:ln>
        </p:spPr>
      </p:sp>
      <p:sp>
        <p:nvSpPr>
          <p:cNvPr id="42" name="Text 37"/>
          <p:cNvSpPr txBox="1"/>
          <p:nvPr/>
        </p:nvSpPr>
        <p:spPr>
          <a:xfrm>
            <a:off x="9656064" y="4389120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1300" dirty="0"/>
          </a:p>
        </p:txBody>
      </p:sp>
      <p:sp>
        <p:nvSpPr>
          <p:cNvPr id="43" name="Text 38"/>
          <p:cNvSpPr txBox="1"/>
          <p:nvPr/>
        </p:nvSpPr>
        <p:spPr>
          <a:xfrm>
            <a:off x="9656064" y="4773168"/>
            <a:ext cx="1810512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1626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Verified saving</a:t>
            </a:r>
            <a:endParaRPr lang="en-US" sz="1300" dirty="0"/>
          </a:p>
          <a:p>
            <a:pPr indent="0" marL="0">
              <a:buNone/>
            </a:pPr>
            <a:r>
              <a:rPr lang="en-US" sz="1100" dirty="0">
                <a:solidFill>
                  <a:srgbClr val="55655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Feeds energy management, e.g. EcoStruxure</a:t>
            </a:r>
            <a:endParaRPr lang="en-US" sz="1300" dirty="0"/>
          </a:p>
        </p:txBody>
      </p:sp>
      <p:sp>
        <p:nvSpPr>
          <p:cNvPr id="44" name="Text 39"/>
          <p:cNvSpPr txBox="1"/>
          <p:nvPr/>
        </p:nvSpPr>
        <p:spPr>
          <a:xfrm>
            <a:off x="548640" y="5806440"/>
            <a:ext cx="110642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i="1" dirty="0">
                <a:solidFill>
                  <a:srgbClr val="55655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low-cost front door that expands VFD and energy-management adoption into MSMEs that skip audits today. Concept only: no drive or platform integration built.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47120" y="6473952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5655D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l"/>
            <a:fld id="{F7021451-1387-4CA6-816F-3879F97B5CBC}" type="slidenum">
              <a:rPr b="0" lang="en-US"/>
              <a:t>4</a:t>
            </a:fld>
            <a:endParaRPr lang="en-US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274320"/>
            <a:ext cx="1106424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000" b="1" dirty="0">
                <a:solidFill>
                  <a:srgbClr val="0E5A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Key Features &amp; User Journey</a:t>
            </a:r>
            <a:endParaRPr lang="en-US" sz="30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868680"/>
            <a:ext cx="11064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rgbClr val="55655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Seven steps from clamp-on to a verified saving.</a:t>
            </a:r>
            <a:endParaRPr lang="en-US" sz="1600" dirty="0"/>
          </a:p>
        </p:txBody>
      </p:sp>
      <p:sp>
        <p:nvSpPr>
          <p:cNvPr id="4" name="Shape 2"/>
          <p:cNvSpPr/>
          <p:nvPr/>
        </p:nvSpPr>
        <p:spPr>
          <a:xfrm>
            <a:off x="548640" y="1280160"/>
            <a:ext cx="420624" cy="420624"/>
          </a:xfrm>
          <a:prstGeom prst="ellipse">
            <a:avLst/>
          </a:prstGeom>
          <a:solidFill>
            <a:srgbClr val="0E5A32"/>
          </a:solidFill>
          <a:ln w="12700">
            <a:solidFill>
              <a:srgbClr val="0E5A32"/>
            </a:solidFill>
            <a:prstDash val="solid"/>
          </a:ln>
        </p:spPr>
      </p:sp>
      <p:pic>
        <p:nvPicPr>
          <p:cNvPr id="5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49590" y="1381110"/>
            <a:ext cx="218724" cy="218724"/>
          </a:xfrm>
          <a:prstGeom prst="rect">
            <a:avLst/>
          </a:prstGeom>
        </p:spPr>
      </p:pic>
      <p:sp>
        <p:nvSpPr>
          <p:cNvPr id="6" name="Text 3"/>
          <p:cNvSpPr txBox="1"/>
          <p:nvPr/>
        </p:nvSpPr>
        <p:spPr>
          <a:xfrm>
            <a:off x="1097280" y="1280160"/>
            <a:ext cx="393192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626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Clamp on  </a:t>
            </a:r>
            <a:pPr indent="0" marL="0">
              <a:buNone/>
            </a:pPr>
            <a:r>
              <a:rPr lang="en-US" sz="1150" dirty="0">
                <a:solidFill>
                  <a:srgbClr val="55655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Power clamp on the motor cable</a:t>
            </a:r>
            <a:endParaRPr lang="en-US" sz="1300" dirty="0"/>
          </a:p>
        </p:txBody>
      </p:sp>
      <p:sp>
        <p:nvSpPr>
          <p:cNvPr id="7" name="Shape 4"/>
          <p:cNvSpPr/>
          <p:nvPr/>
        </p:nvSpPr>
        <p:spPr>
          <a:xfrm>
            <a:off x="548640" y="1773936"/>
            <a:ext cx="420624" cy="420624"/>
          </a:xfrm>
          <a:prstGeom prst="ellipse">
            <a:avLst/>
          </a:prstGeom>
          <a:solidFill>
            <a:srgbClr val="0E5A32"/>
          </a:solidFill>
          <a:ln w="12700">
            <a:solidFill>
              <a:srgbClr val="0E5A32"/>
            </a:solidFill>
            <a:prstDash val="solid"/>
          </a:ln>
        </p:spPr>
      </p:sp>
      <p:pic>
        <p:nvPicPr>
          <p:cNvPr id="8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9590" y="1874886"/>
            <a:ext cx="218724" cy="218724"/>
          </a:xfrm>
          <a:prstGeom prst="rect">
            <a:avLst/>
          </a:prstGeom>
        </p:spPr>
      </p:pic>
      <p:sp>
        <p:nvSpPr>
          <p:cNvPr id="9" name="Text 5"/>
          <p:cNvSpPr txBox="1"/>
          <p:nvPr/>
        </p:nvSpPr>
        <p:spPr>
          <a:xfrm>
            <a:off x="1097280" y="1773936"/>
            <a:ext cx="393192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626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Fit sensors  </a:t>
            </a:r>
            <a:pPr indent="0" marL="0">
              <a:buNone/>
            </a:pPr>
            <a:r>
              <a:rPr lang="en-US" sz="1150" dirty="0">
                <a:solidFill>
                  <a:srgbClr val="55655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Pressure on existing gauge ports</a:t>
            </a:r>
            <a:endParaRPr lang="en-US" sz="1300" dirty="0"/>
          </a:p>
        </p:txBody>
      </p:sp>
      <p:sp>
        <p:nvSpPr>
          <p:cNvPr id="10" name="Shape 6"/>
          <p:cNvSpPr/>
          <p:nvPr/>
        </p:nvSpPr>
        <p:spPr>
          <a:xfrm>
            <a:off x="548640" y="2267712"/>
            <a:ext cx="420624" cy="420624"/>
          </a:xfrm>
          <a:prstGeom prst="ellipse">
            <a:avLst/>
          </a:prstGeom>
          <a:solidFill>
            <a:srgbClr val="0E5A32"/>
          </a:solidFill>
          <a:ln w="12700">
            <a:solidFill>
              <a:srgbClr val="0E5A32"/>
            </a:solidFill>
            <a:prstDash val="solid"/>
          </a:ln>
        </p:spPr>
      </p:sp>
      <p:pic>
        <p:nvPicPr>
          <p:cNvPr id="11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49590" y="2368662"/>
            <a:ext cx="218724" cy="218724"/>
          </a:xfrm>
          <a:prstGeom prst="rect">
            <a:avLst/>
          </a:prstGeom>
        </p:spPr>
      </p:pic>
      <p:sp>
        <p:nvSpPr>
          <p:cNvPr id="12" name="Text 7"/>
          <p:cNvSpPr txBox="1"/>
          <p:nvPr/>
        </p:nvSpPr>
        <p:spPr>
          <a:xfrm>
            <a:off x="1097280" y="2267712"/>
            <a:ext cx="393192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626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Log 7–14 days  </a:t>
            </a:r>
            <a:pPr indent="0" marL="0">
              <a:buNone/>
            </a:pPr>
            <a:r>
              <a:rPr lang="en-US" sz="1150" dirty="0">
                <a:solidFill>
                  <a:srgbClr val="55655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ESP32 saves a CSV of power + pressure</a:t>
            </a:r>
            <a:endParaRPr lang="en-US" sz="1300" dirty="0"/>
          </a:p>
        </p:txBody>
      </p:sp>
      <p:sp>
        <p:nvSpPr>
          <p:cNvPr id="13" name="Shape 8"/>
          <p:cNvSpPr/>
          <p:nvPr/>
        </p:nvSpPr>
        <p:spPr>
          <a:xfrm>
            <a:off x="548640" y="2761488"/>
            <a:ext cx="420624" cy="420624"/>
          </a:xfrm>
          <a:prstGeom prst="ellipse">
            <a:avLst/>
          </a:prstGeom>
          <a:solidFill>
            <a:srgbClr val="E07B00"/>
          </a:solidFill>
          <a:ln w="12700">
            <a:solidFill>
              <a:srgbClr val="E07B00"/>
            </a:solidFill>
            <a:prstDash val="solid"/>
          </a:ln>
        </p:spPr>
      </p:sp>
      <p:pic>
        <p:nvPicPr>
          <p:cNvPr id="14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49590" y="2862438"/>
            <a:ext cx="218724" cy="218724"/>
          </a:xfrm>
          <a:prstGeom prst="rect">
            <a:avLst/>
          </a:prstGeom>
        </p:spPr>
      </p:pic>
      <p:sp>
        <p:nvSpPr>
          <p:cNvPr id="15" name="Text 9"/>
          <p:cNvSpPr txBox="1"/>
          <p:nvPr/>
        </p:nvSpPr>
        <p:spPr>
          <a:xfrm>
            <a:off x="1097280" y="2761488"/>
            <a:ext cx="393192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626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Upload to the dashboard  </a:t>
            </a:r>
            <a:pPr indent="0" marL="0">
              <a:buNone/>
            </a:pPr>
            <a:r>
              <a:rPr lang="en-US" sz="1150" dirty="0">
                <a:solidFill>
                  <a:srgbClr val="55655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₹ report by cause</a:t>
            </a:r>
            <a:endParaRPr lang="en-US" sz="1300" dirty="0"/>
          </a:p>
        </p:txBody>
      </p:sp>
      <p:sp>
        <p:nvSpPr>
          <p:cNvPr id="16" name="Shape 10"/>
          <p:cNvSpPr/>
          <p:nvPr/>
        </p:nvSpPr>
        <p:spPr>
          <a:xfrm>
            <a:off x="548640" y="3255264"/>
            <a:ext cx="420624" cy="420624"/>
          </a:xfrm>
          <a:prstGeom prst="ellipse">
            <a:avLst/>
          </a:prstGeom>
          <a:solidFill>
            <a:srgbClr val="0E5A32"/>
          </a:solidFill>
          <a:ln w="12700">
            <a:solidFill>
              <a:srgbClr val="0E5A32"/>
            </a:solidFill>
            <a:prstDash val="solid"/>
          </a:ln>
        </p:spPr>
      </p:sp>
      <p:pic>
        <p:nvPicPr>
          <p:cNvPr id="17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49590" y="3356214"/>
            <a:ext cx="218724" cy="218724"/>
          </a:xfrm>
          <a:prstGeom prst="rect">
            <a:avLst/>
          </a:prstGeom>
        </p:spPr>
      </p:pic>
      <p:sp>
        <p:nvSpPr>
          <p:cNvPr id="18" name="Text 11"/>
          <p:cNvSpPr txBox="1"/>
          <p:nvPr/>
        </p:nvSpPr>
        <p:spPr>
          <a:xfrm>
            <a:off x="1097280" y="3255264"/>
            <a:ext cx="393192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626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Apply the fix  </a:t>
            </a:r>
            <a:pPr indent="0" marL="0">
              <a:buNone/>
            </a:pPr>
            <a:r>
              <a:rPr lang="en-US" sz="1150" dirty="0">
                <a:solidFill>
                  <a:srgbClr val="55655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Cheapest first; VFD verdict</a:t>
            </a:r>
            <a:endParaRPr lang="en-US" sz="1300" dirty="0"/>
          </a:p>
        </p:txBody>
      </p:sp>
      <p:sp>
        <p:nvSpPr>
          <p:cNvPr id="19" name="Shape 12"/>
          <p:cNvSpPr/>
          <p:nvPr/>
        </p:nvSpPr>
        <p:spPr>
          <a:xfrm>
            <a:off x="548640" y="3749040"/>
            <a:ext cx="420624" cy="420624"/>
          </a:xfrm>
          <a:prstGeom prst="ellipse">
            <a:avLst/>
          </a:prstGeom>
          <a:solidFill>
            <a:srgbClr val="0E5A32"/>
          </a:solidFill>
          <a:ln w="12700">
            <a:solidFill>
              <a:srgbClr val="0E5A32"/>
            </a:solidFill>
            <a:prstDash val="solid"/>
          </a:ln>
        </p:spPr>
      </p:sp>
      <p:pic>
        <p:nvPicPr>
          <p:cNvPr id="20" name="Image 5" descr="preencoded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49590" y="3849990"/>
            <a:ext cx="218724" cy="218724"/>
          </a:xfrm>
          <a:prstGeom prst="rect">
            <a:avLst/>
          </a:prstGeom>
        </p:spPr>
      </p:pic>
      <p:sp>
        <p:nvSpPr>
          <p:cNvPr id="21" name="Text 13"/>
          <p:cNvSpPr txBox="1"/>
          <p:nvPr/>
        </p:nvSpPr>
        <p:spPr>
          <a:xfrm>
            <a:off x="1097280" y="3749040"/>
            <a:ext cx="393192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626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Re-measure  </a:t>
            </a:r>
            <a:pPr indent="0" marL="0">
              <a:buNone/>
            </a:pPr>
            <a:r>
              <a:rPr lang="en-US" sz="1150" dirty="0">
                <a:solidFill>
                  <a:srgbClr val="55655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Verify the saving</a:t>
            </a:r>
            <a:endParaRPr lang="en-US" sz="1300" dirty="0"/>
          </a:p>
        </p:txBody>
      </p:sp>
      <p:sp>
        <p:nvSpPr>
          <p:cNvPr id="22" name="Shape 14"/>
          <p:cNvSpPr/>
          <p:nvPr/>
        </p:nvSpPr>
        <p:spPr>
          <a:xfrm>
            <a:off x="548640" y="4242816"/>
            <a:ext cx="420624" cy="420624"/>
          </a:xfrm>
          <a:prstGeom prst="ellipse">
            <a:avLst/>
          </a:prstGeom>
          <a:solidFill>
            <a:srgbClr val="0E5A32"/>
          </a:solidFill>
          <a:ln w="12700">
            <a:solidFill>
              <a:srgbClr val="0E5A32"/>
            </a:solidFill>
            <a:prstDash val="solid"/>
          </a:ln>
        </p:spPr>
      </p:sp>
      <p:pic>
        <p:nvPicPr>
          <p:cNvPr id="23" name="Image 6" descr="preencoded.png">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649590" y="4343766"/>
            <a:ext cx="218724" cy="218724"/>
          </a:xfrm>
          <a:prstGeom prst="rect">
            <a:avLst/>
          </a:prstGeom>
        </p:spPr>
      </p:pic>
      <p:sp>
        <p:nvSpPr>
          <p:cNvPr id="24" name="Text 15"/>
          <p:cNvSpPr txBox="1"/>
          <p:nvPr/>
        </p:nvSpPr>
        <p:spPr>
          <a:xfrm>
            <a:off x="1097280" y="4242816"/>
            <a:ext cx="393192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626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Move the kit  </a:t>
            </a:r>
            <a:pPr indent="0" marL="0">
              <a:buNone/>
            </a:pPr>
            <a:r>
              <a:rPr lang="en-US" sz="1150" dirty="0">
                <a:solidFill>
                  <a:srgbClr val="55655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Next pump</a:t>
            </a:r>
            <a:endParaRPr lang="en-US" sz="1300" dirty="0"/>
          </a:p>
        </p:txBody>
      </p:sp>
      <p:sp>
        <p:nvSpPr>
          <p:cNvPr id="25" name="Shape 16"/>
          <p:cNvSpPr/>
          <p:nvPr/>
        </p:nvSpPr>
        <p:spPr>
          <a:xfrm>
            <a:off x="548640" y="4846320"/>
            <a:ext cx="1554480" cy="310896"/>
          </a:xfrm>
          <a:prstGeom prst="roundRect">
            <a:avLst>
              <a:gd name="adj" fmla="val 50000"/>
            </a:avLst>
          </a:prstGeom>
          <a:solidFill>
            <a:srgbClr val="0E5A32"/>
          </a:solidFill>
          <a:ln w="12700">
            <a:solidFill>
              <a:srgbClr val="0E5A32"/>
            </a:solidFill>
            <a:prstDash val="solid"/>
          </a:ln>
        </p:spPr>
      </p:sp>
      <p:sp>
        <p:nvSpPr>
          <p:cNvPr id="26" name="Text 17"/>
          <p:cNvSpPr txBox="1"/>
          <p:nvPr/>
        </p:nvSpPr>
        <p:spPr>
          <a:xfrm>
            <a:off x="548640" y="4846320"/>
            <a:ext cx="15544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₹ waste by cause</a:t>
            </a:r>
            <a:endParaRPr lang="en-US" sz="1050" dirty="0"/>
          </a:p>
        </p:txBody>
      </p:sp>
      <p:sp>
        <p:nvSpPr>
          <p:cNvPr id="27" name="Shape 18"/>
          <p:cNvSpPr/>
          <p:nvPr/>
        </p:nvSpPr>
        <p:spPr>
          <a:xfrm>
            <a:off x="2194560" y="4846320"/>
            <a:ext cx="1554480" cy="310896"/>
          </a:xfrm>
          <a:prstGeom prst="roundRect">
            <a:avLst>
              <a:gd name="adj" fmla="val 50000"/>
            </a:avLst>
          </a:prstGeom>
          <a:solidFill>
            <a:srgbClr val="2E7D5B"/>
          </a:solidFill>
          <a:ln w="12700">
            <a:solidFill>
              <a:srgbClr val="2E7D5B"/>
            </a:solidFill>
            <a:prstDash val="solid"/>
          </a:ln>
        </p:spPr>
      </p:sp>
      <p:sp>
        <p:nvSpPr>
          <p:cNvPr id="28" name="Text 19"/>
          <p:cNvSpPr txBox="1"/>
          <p:nvPr/>
        </p:nvSpPr>
        <p:spPr>
          <a:xfrm>
            <a:off x="2194560" y="4846320"/>
            <a:ext cx="15544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 flow meter</a:t>
            </a:r>
            <a:endParaRPr lang="en-US" sz="1050" dirty="0"/>
          </a:p>
        </p:txBody>
      </p:sp>
      <p:sp>
        <p:nvSpPr>
          <p:cNvPr id="29" name="Shape 20"/>
          <p:cNvSpPr/>
          <p:nvPr/>
        </p:nvSpPr>
        <p:spPr>
          <a:xfrm>
            <a:off x="3840480" y="4846320"/>
            <a:ext cx="1554480" cy="310896"/>
          </a:xfrm>
          <a:prstGeom prst="roundRect">
            <a:avLst>
              <a:gd name="adj" fmla="val 50000"/>
            </a:avLst>
          </a:prstGeom>
          <a:solidFill>
            <a:srgbClr val="0E5A32"/>
          </a:solidFill>
          <a:ln w="12700">
            <a:solidFill>
              <a:srgbClr val="0E5A32"/>
            </a:solidFill>
            <a:prstDash val="solid"/>
          </a:ln>
        </p:spPr>
      </p:sp>
      <p:sp>
        <p:nvSpPr>
          <p:cNvPr id="30" name="Text 21"/>
          <p:cNvSpPr txBox="1"/>
          <p:nvPr/>
        </p:nvSpPr>
        <p:spPr>
          <a:xfrm>
            <a:off x="3840480" y="4846320"/>
            <a:ext cx="15544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 shutdown</a:t>
            </a:r>
            <a:endParaRPr lang="en-US" sz="1050" dirty="0"/>
          </a:p>
        </p:txBody>
      </p:sp>
      <p:sp>
        <p:nvSpPr>
          <p:cNvPr id="31" name="Shape 22"/>
          <p:cNvSpPr/>
          <p:nvPr/>
        </p:nvSpPr>
        <p:spPr>
          <a:xfrm>
            <a:off x="548640" y="5212080"/>
            <a:ext cx="1554480" cy="310896"/>
          </a:xfrm>
          <a:prstGeom prst="roundRect">
            <a:avLst>
              <a:gd name="adj" fmla="val 50000"/>
            </a:avLst>
          </a:prstGeom>
          <a:solidFill>
            <a:srgbClr val="2E7D5B"/>
          </a:solidFill>
          <a:ln w="12700">
            <a:solidFill>
              <a:srgbClr val="2E7D5B"/>
            </a:solidFill>
            <a:prstDash val="solid"/>
          </a:ln>
        </p:spPr>
      </p:sp>
      <p:sp>
        <p:nvSpPr>
          <p:cNvPr id="32" name="Text 23"/>
          <p:cNvSpPr txBox="1"/>
          <p:nvPr/>
        </p:nvSpPr>
        <p:spPr>
          <a:xfrm>
            <a:off x="548640" y="5212080"/>
            <a:ext cx="15544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VFD verdict</a:t>
            </a:r>
            <a:endParaRPr lang="en-US" sz="1050" dirty="0"/>
          </a:p>
        </p:txBody>
      </p:sp>
      <p:sp>
        <p:nvSpPr>
          <p:cNvPr id="33" name="Shape 24"/>
          <p:cNvSpPr/>
          <p:nvPr/>
        </p:nvSpPr>
        <p:spPr>
          <a:xfrm>
            <a:off x="2194560" y="5212080"/>
            <a:ext cx="1554480" cy="310896"/>
          </a:xfrm>
          <a:prstGeom prst="roundRect">
            <a:avLst>
              <a:gd name="adj" fmla="val 50000"/>
            </a:avLst>
          </a:prstGeom>
          <a:solidFill>
            <a:srgbClr val="0E5A32"/>
          </a:solidFill>
          <a:ln w="12700">
            <a:solidFill>
              <a:srgbClr val="0E5A32"/>
            </a:solidFill>
            <a:prstDash val="solid"/>
          </a:ln>
        </p:spPr>
      </p:sp>
      <p:sp>
        <p:nvSpPr>
          <p:cNvPr id="34" name="Text 25"/>
          <p:cNvSpPr txBox="1"/>
          <p:nvPr/>
        </p:nvSpPr>
        <p:spPr>
          <a:xfrm>
            <a:off x="2194560" y="5212080"/>
            <a:ext cx="15544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Upload your logs</a:t>
            </a:r>
            <a:endParaRPr lang="en-US" sz="1050" dirty="0"/>
          </a:p>
        </p:txBody>
      </p:sp>
      <p:sp>
        <p:nvSpPr>
          <p:cNvPr id="35" name="Shape 26"/>
          <p:cNvSpPr/>
          <p:nvPr/>
        </p:nvSpPr>
        <p:spPr>
          <a:xfrm>
            <a:off x="3840480" y="5212080"/>
            <a:ext cx="1554480" cy="310896"/>
          </a:xfrm>
          <a:prstGeom prst="roundRect">
            <a:avLst>
              <a:gd name="adj" fmla="val 50000"/>
            </a:avLst>
          </a:prstGeom>
          <a:solidFill>
            <a:srgbClr val="2E7D5B"/>
          </a:solidFill>
          <a:ln w="12700">
            <a:solidFill>
              <a:srgbClr val="2E7D5B"/>
            </a:solidFill>
            <a:prstDash val="solid"/>
          </a:ln>
        </p:spPr>
      </p:sp>
      <p:sp>
        <p:nvSpPr>
          <p:cNvPr id="36" name="Text 27"/>
          <p:cNvSpPr txBox="1"/>
          <p:nvPr/>
        </p:nvSpPr>
        <p:spPr>
          <a:xfrm>
            <a:off x="3840480" y="5212080"/>
            <a:ext cx="15544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Reusable kit</a:t>
            </a:r>
            <a:endParaRPr lang="en-US" sz="1050" dirty="0"/>
          </a:p>
        </p:txBody>
      </p:sp>
      <p:sp>
        <p:nvSpPr>
          <p:cNvPr id="37" name="Text 28"/>
          <p:cNvSpPr txBox="1"/>
          <p:nvPr/>
        </p:nvSpPr>
        <p:spPr>
          <a:xfrm>
            <a:off x="548640" y="5715000"/>
            <a:ext cx="43891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0E5A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Live prototype dashboard</a:t>
            </a:r>
            <a:endParaRPr lang="en-US" sz="1300" dirty="0"/>
          </a:p>
          <a:p>
            <a:pPr indent="0" marL="0">
              <a:buNone/>
            </a:pPr>
            <a:r>
              <a:rPr lang="en-US" sz="1200" u="sng" dirty="0">
                <a:solidFill>
                  <a:srgbClr val="0E5A32"/>
                </a:solidFill>
                <a:latin typeface="Calibri" pitchFamily="34" charset="0"/>
                <a:ea typeface="Calibri" pitchFamily="34" charset="-122"/>
                <a:cs typeface="Calibri" pitchFamily="34" charset="-120"/>
                <a:hlinkClick r:id="rId8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https://pumprupee-dashboard.vercel.app/</a:t>
            </a:r>
            <a:endParaRPr lang="en-US" sz="1300" dirty="0"/>
          </a:p>
          <a:p>
            <a:pPr indent="0" marL="0">
              <a:buNone/>
            </a:pPr>
            <a:r>
              <a:rPr lang="en-US" sz="1000" dirty="0">
                <a:solidFill>
                  <a:srgbClr val="55655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Simulated data</a:t>
            </a:r>
            <a:endParaRPr lang="en-US" sz="1300" dirty="0"/>
          </a:p>
        </p:txBody>
      </p:sp>
      <p:sp>
        <p:nvSpPr>
          <p:cNvPr id="38" name="Shape 29"/>
          <p:cNvSpPr/>
          <p:nvPr/>
        </p:nvSpPr>
        <p:spPr>
          <a:xfrm>
            <a:off x="5440680" y="1280160"/>
            <a:ext cx="6217920" cy="2770632"/>
          </a:xfrm>
          <a:prstGeom prst="roundRect">
            <a:avLst>
              <a:gd name="adj" fmla="val 1980"/>
            </a:avLst>
          </a:prstGeom>
          <a:solidFill>
            <a:srgbClr val="FFFFFF"/>
          </a:solidFill>
          <a:ln w="19050">
            <a:solidFill>
              <a:srgbClr val="0E5A32"/>
            </a:solidFill>
            <a:prstDash val="solid"/>
          </a:ln>
        </p:spPr>
      </p:sp>
      <p:sp>
        <p:nvSpPr>
          <p:cNvPr id="39" name="Shape 30"/>
          <p:cNvSpPr/>
          <p:nvPr/>
        </p:nvSpPr>
        <p:spPr>
          <a:xfrm>
            <a:off x="5458968" y="1298448"/>
            <a:ext cx="6181344" cy="228600"/>
          </a:xfrm>
          <a:prstGeom prst="rect">
            <a:avLst/>
          </a:prstGeom>
          <a:solidFill>
            <a:srgbClr val="E3F2E7"/>
          </a:solidFill>
          <a:ln w="12700">
            <a:solidFill>
              <a:srgbClr val="E3F2E7"/>
            </a:solidFill>
            <a:prstDash val="solid"/>
          </a:ln>
        </p:spPr>
      </p:sp>
      <p:sp>
        <p:nvSpPr>
          <p:cNvPr id="40" name="Shape 31"/>
          <p:cNvSpPr/>
          <p:nvPr/>
        </p:nvSpPr>
        <p:spPr>
          <a:xfrm>
            <a:off x="5550408" y="1353312"/>
            <a:ext cx="91440" cy="91440"/>
          </a:xfrm>
          <a:prstGeom prst="ellipse">
            <a:avLst/>
          </a:prstGeom>
          <a:solidFill>
            <a:srgbClr val="EF4444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41" name="Shape 32"/>
          <p:cNvSpPr/>
          <p:nvPr/>
        </p:nvSpPr>
        <p:spPr>
          <a:xfrm>
            <a:off x="5696712" y="1353312"/>
            <a:ext cx="91440" cy="91440"/>
          </a:xfrm>
          <a:prstGeom prst="ellipse">
            <a:avLst/>
          </a:prstGeom>
          <a:solidFill>
            <a:srgbClr val="F59E0B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42" name="Shape 33"/>
          <p:cNvSpPr/>
          <p:nvPr/>
        </p:nvSpPr>
        <p:spPr>
          <a:xfrm>
            <a:off x="5843016" y="1353312"/>
            <a:ext cx="91440" cy="91440"/>
          </a:xfrm>
          <a:prstGeom prst="ellipse">
            <a:avLst/>
          </a:prstGeom>
          <a:solidFill>
            <a:srgbClr val="3DCD58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43" name="Shape 34"/>
          <p:cNvSpPr/>
          <p:nvPr/>
        </p:nvSpPr>
        <p:spPr>
          <a:xfrm>
            <a:off x="6080760" y="1325880"/>
            <a:ext cx="5303520" cy="155448"/>
          </a:xfrm>
          <a:prstGeom prst="roundRect">
            <a:avLst>
              <a:gd name="adj" fmla="val 47059"/>
            </a:avLst>
          </a:prstGeom>
          <a:solidFill>
            <a:srgbClr val="FFFFFF"/>
          </a:solidFill>
          <a:ln w="6350">
            <a:solidFill>
              <a:srgbClr val="BFE3C8"/>
            </a:solidFill>
            <a:prstDash val="solid"/>
          </a:ln>
        </p:spPr>
      </p:sp>
      <p:sp>
        <p:nvSpPr>
          <p:cNvPr id="44" name="Text 35"/>
          <p:cNvSpPr txBox="1"/>
          <p:nvPr/>
        </p:nvSpPr>
        <p:spPr>
          <a:xfrm>
            <a:off x="6080760" y="1325880"/>
            <a:ext cx="530352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55655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pumprupee-dashboard.vercel.app</a:t>
            </a:r>
            <a:endParaRPr lang="en-US" sz="800" dirty="0"/>
          </a:p>
        </p:txBody>
      </p:sp>
      <p:pic>
        <p:nvPicPr>
          <p:cNvPr id="45" name="Image 7" descr="preencoded.png">    </p:cNvPr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5458968" y="1527048"/>
            <a:ext cx="6181344" cy="2523744"/>
          </a:xfrm>
          <a:prstGeom prst="rect">
            <a:avLst/>
          </a:prstGeom>
        </p:spPr>
      </p:pic>
      <p:sp>
        <p:nvSpPr>
          <p:cNvPr id="46" name="Shape 36"/>
          <p:cNvSpPr/>
          <p:nvPr/>
        </p:nvSpPr>
        <p:spPr>
          <a:xfrm>
            <a:off x="5640772" y="1890656"/>
            <a:ext cx="2708883" cy="363608"/>
          </a:xfrm>
          <a:prstGeom prst="rect">
            <a:avLst/>
          </a:prstGeom>
          <a:solidFill>
            <a:srgbClr val="FFFFFF">
              <a:alpha val="0"/>
            </a:srgbClr>
          </a:solidFill>
          <a:ln w="25400">
            <a:solidFill>
              <a:srgbClr val="E07B00"/>
            </a:solidFill>
            <a:prstDash val="solid"/>
          </a:ln>
        </p:spPr>
      </p:sp>
      <p:sp>
        <p:nvSpPr>
          <p:cNvPr id="47" name="Shape 37"/>
          <p:cNvSpPr/>
          <p:nvPr/>
        </p:nvSpPr>
        <p:spPr>
          <a:xfrm>
            <a:off x="5521900" y="1771784"/>
            <a:ext cx="237744" cy="237744"/>
          </a:xfrm>
          <a:prstGeom prst="ellipse">
            <a:avLst/>
          </a:prstGeom>
          <a:solidFill>
            <a:srgbClr val="E07B00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48" name="Text 38"/>
          <p:cNvSpPr txBox="1"/>
          <p:nvPr/>
        </p:nvSpPr>
        <p:spPr>
          <a:xfrm>
            <a:off x="5521900" y="1771784"/>
            <a:ext cx="23774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000" dirty="0"/>
          </a:p>
        </p:txBody>
      </p:sp>
      <p:sp>
        <p:nvSpPr>
          <p:cNvPr id="49" name="Shape 39"/>
          <p:cNvSpPr/>
          <p:nvPr/>
        </p:nvSpPr>
        <p:spPr>
          <a:xfrm>
            <a:off x="8749625" y="1899747"/>
            <a:ext cx="2581478" cy="336338"/>
          </a:xfrm>
          <a:prstGeom prst="rect">
            <a:avLst/>
          </a:prstGeom>
          <a:solidFill>
            <a:srgbClr val="FFFFFF">
              <a:alpha val="0"/>
            </a:srgbClr>
          </a:solidFill>
          <a:ln w="25400">
            <a:solidFill>
              <a:srgbClr val="E07B00"/>
            </a:solidFill>
            <a:prstDash val="solid"/>
          </a:ln>
        </p:spPr>
      </p:sp>
      <p:sp>
        <p:nvSpPr>
          <p:cNvPr id="50" name="Shape 40"/>
          <p:cNvSpPr/>
          <p:nvPr/>
        </p:nvSpPr>
        <p:spPr>
          <a:xfrm>
            <a:off x="8630753" y="1780875"/>
            <a:ext cx="237744" cy="237744"/>
          </a:xfrm>
          <a:prstGeom prst="ellipse">
            <a:avLst/>
          </a:prstGeom>
          <a:solidFill>
            <a:srgbClr val="E07B00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51" name="Text 41"/>
          <p:cNvSpPr txBox="1"/>
          <p:nvPr/>
        </p:nvSpPr>
        <p:spPr>
          <a:xfrm>
            <a:off x="8630753" y="1780875"/>
            <a:ext cx="23774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000" dirty="0"/>
          </a:p>
        </p:txBody>
      </p:sp>
      <p:sp>
        <p:nvSpPr>
          <p:cNvPr id="52" name="Shape 42"/>
          <p:cNvSpPr/>
          <p:nvPr/>
        </p:nvSpPr>
        <p:spPr>
          <a:xfrm>
            <a:off x="8749625" y="3163286"/>
            <a:ext cx="2708883" cy="363608"/>
          </a:xfrm>
          <a:prstGeom prst="rect">
            <a:avLst/>
          </a:prstGeom>
          <a:solidFill>
            <a:srgbClr val="FFFFFF">
              <a:alpha val="0"/>
            </a:srgbClr>
          </a:solidFill>
          <a:ln w="25400">
            <a:solidFill>
              <a:srgbClr val="E07B00"/>
            </a:solidFill>
            <a:prstDash val="solid"/>
          </a:ln>
        </p:spPr>
      </p:sp>
      <p:sp>
        <p:nvSpPr>
          <p:cNvPr id="53" name="Shape 43"/>
          <p:cNvSpPr/>
          <p:nvPr/>
        </p:nvSpPr>
        <p:spPr>
          <a:xfrm>
            <a:off x="8630753" y="3044414"/>
            <a:ext cx="237744" cy="237744"/>
          </a:xfrm>
          <a:prstGeom prst="ellipse">
            <a:avLst/>
          </a:prstGeom>
          <a:solidFill>
            <a:srgbClr val="E07B00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54" name="Text 44"/>
          <p:cNvSpPr txBox="1"/>
          <p:nvPr/>
        </p:nvSpPr>
        <p:spPr>
          <a:xfrm>
            <a:off x="8630753" y="3044414"/>
            <a:ext cx="23774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000" dirty="0"/>
          </a:p>
        </p:txBody>
      </p:sp>
      <p:sp>
        <p:nvSpPr>
          <p:cNvPr id="55" name="Shape 45"/>
          <p:cNvSpPr/>
          <p:nvPr/>
        </p:nvSpPr>
        <p:spPr>
          <a:xfrm>
            <a:off x="5440680" y="4096512"/>
            <a:ext cx="3840480" cy="310896"/>
          </a:xfrm>
          <a:prstGeom prst="roundRect">
            <a:avLst>
              <a:gd name="adj" fmla="val 50000"/>
            </a:avLst>
          </a:prstGeom>
          <a:solidFill>
            <a:srgbClr val="E07B00"/>
          </a:solidFill>
          <a:ln w="12700">
            <a:solidFill>
              <a:srgbClr val="E07B00"/>
            </a:solidFill>
            <a:prstDash val="solid"/>
          </a:ln>
        </p:spPr>
      </p:sp>
      <p:sp>
        <p:nvSpPr>
          <p:cNvPr id="56" name="Text 46"/>
          <p:cNvSpPr txBox="1"/>
          <p:nvPr/>
        </p:nvSpPr>
        <p:spPr>
          <a:xfrm>
            <a:off x="5440680" y="4096512"/>
            <a:ext cx="38404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Working prototype dashboard · simulated data</a:t>
            </a:r>
            <a:endParaRPr lang="en-US" sz="1000" dirty="0"/>
          </a:p>
        </p:txBody>
      </p:sp>
      <p:sp>
        <p:nvSpPr>
          <p:cNvPr id="57" name="Shape 47"/>
          <p:cNvSpPr/>
          <p:nvPr/>
        </p:nvSpPr>
        <p:spPr>
          <a:xfrm>
            <a:off x="5440680" y="4462272"/>
            <a:ext cx="182880" cy="182880"/>
          </a:xfrm>
          <a:prstGeom prst="ellipse">
            <a:avLst/>
          </a:prstGeom>
          <a:solidFill>
            <a:srgbClr val="E07B00"/>
          </a:solidFill>
          <a:ln w="12700">
            <a:solidFill>
              <a:srgbClr val="E07B00"/>
            </a:solidFill>
            <a:prstDash val="solid"/>
          </a:ln>
        </p:spPr>
      </p:sp>
      <p:sp>
        <p:nvSpPr>
          <p:cNvPr id="58" name="Text 48"/>
          <p:cNvSpPr txBox="1"/>
          <p:nvPr/>
        </p:nvSpPr>
        <p:spPr>
          <a:xfrm>
            <a:off x="5440680" y="4462272"/>
            <a:ext cx="1828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900" dirty="0"/>
          </a:p>
        </p:txBody>
      </p:sp>
      <p:sp>
        <p:nvSpPr>
          <p:cNvPr id="59" name="Text 49"/>
          <p:cNvSpPr txBox="1"/>
          <p:nvPr/>
        </p:nvSpPr>
        <p:spPr>
          <a:xfrm>
            <a:off x="5696712" y="4443984"/>
            <a:ext cx="59436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1626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₹ saving per year with a VFD (simulated)</a:t>
            </a:r>
            <a:endParaRPr lang="en-US" sz="1150" dirty="0"/>
          </a:p>
        </p:txBody>
      </p:sp>
      <p:sp>
        <p:nvSpPr>
          <p:cNvPr id="60" name="Shape 50"/>
          <p:cNvSpPr/>
          <p:nvPr/>
        </p:nvSpPr>
        <p:spPr>
          <a:xfrm>
            <a:off x="5440680" y="4709160"/>
            <a:ext cx="182880" cy="182880"/>
          </a:xfrm>
          <a:prstGeom prst="ellipse">
            <a:avLst/>
          </a:prstGeom>
          <a:solidFill>
            <a:srgbClr val="E07B00"/>
          </a:solidFill>
          <a:ln w="12700">
            <a:solidFill>
              <a:srgbClr val="E07B00"/>
            </a:solidFill>
            <a:prstDash val="solid"/>
          </a:ln>
        </p:spPr>
      </p:sp>
      <p:sp>
        <p:nvSpPr>
          <p:cNvPr id="61" name="Text 51"/>
          <p:cNvSpPr txBox="1"/>
          <p:nvPr/>
        </p:nvSpPr>
        <p:spPr>
          <a:xfrm>
            <a:off x="5440680" y="4709160"/>
            <a:ext cx="1828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900" dirty="0"/>
          </a:p>
        </p:txBody>
      </p:sp>
      <p:sp>
        <p:nvSpPr>
          <p:cNvPr id="62" name="Text 52"/>
          <p:cNvSpPr txBox="1"/>
          <p:nvPr/>
        </p:nvSpPr>
        <p:spPr>
          <a:xfrm>
            <a:off x="5696712" y="4690872"/>
            <a:ext cx="59436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1626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Specific energy: before → after (kWh/m³)</a:t>
            </a:r>
            <a:endParaRPr lang="en-US" sz="1150" dirty="0"/>
          </a:p>
        </p:txBody>
      </p:sp>
      <p:sp>
        <p:nvSpPr>
          <p:cNvPr id="63" name="Shape 53"/>
          <p:cNvSpPr/>
          <p:nvPr/>
        </p:nvSpPr>
        <p:spPr>
          <a:xfrm>
            <a:off x="5440680" y="4956048"/>
            <a:ext cx="182880" cy="182880"/>
          </a:xfrm>
          <a:prstGeom prst="ellipse">
            <a:avLst/>
          </a:prstGeom>
          <a:solidFill>
            <a:srgbClr val="E07B00"/>
          </a:solidFill>
          <a:ln w="12700">
            <a:solidFill>
              <a:srgbClr val="E07B00"/>
            </a:solidFill>
            <a:prstDash val="solid"/>
          </a:ln>
        </p:spPr>
      </p:sp>
      <p:sp>
        <p:nvSpPr>
          <p:cNvPr id="64" name="Text 54"/>
          <p:cNvSpPr txBox="1"/>
          <p:nvPr/>
        </p:nvSpPr>
        <p:spPr>
          <a:xfrm>
            <a:off x="5440680" y="4956048"/>
            <a:ext cx="1828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900" dirty="0"/>
          </a:p>
        </p:txBody>
      </p:sp>
      <p:sp>
        <p:nvSpPr>
          <p:cNvPr id="65" name="Text 55"/>
          <p:cNvSpPr txBox="1"/>
          <p:nvPr/>
        </p:nvSpPr>
        <p:spPr>
          <a:xfrm>
            <a:off x="5696712" y="4937760"/>
            <a:ext cx="59436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1626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VFD payback range at ₹50,200–1,09,400</a:t>
            </a:r>
            <a:endParaRPr lang="en-US" sz="1150" dirty="0"/>
          </a:p>
        </p:txBody>
      </p:sp>
      <p:sp>
        <p:nvSpPr>
          <p:cNvPr id="66" name="Shape 56"/>
          <p:cNvSpPr/>
          <p:nvPr/>
        </p:nvSpPr>
        <p:spPr>
          <a:xfrm>
            <a:off x="5440680" y="5257800"/>
            <a:ext cx="6217920" cy="1005840"/>
          </a:xfrm>
          <a:prstGeom prst="roundRect">
            <a:avLst>
              <a:gd name="adj" fmla="val 7273"/>
            </a:avLst>
          </a:prstGeom>
          <a:solidFill>
            <a:srgbClr val="E3F6E8"/>
          </a:solidFill>
          <a:ln w="25400">
            <a:solidFill>
              <a:srgbClr val="3DCD58"/>
            </a:solidFill>
            <a:prstDash val="solid"/>
          </a:ln>
        </p:spPr>
      </p:sp>
      <p:sp>
        <p:nvSpPr>
          <p:cNvPr id="67" name="Text 57"/>
          <p:cNvSpPr txBox="1"/>
          <p:nvPr/>
        </p:nvSpPr>
        <p:spPr>
          <a:xfrm>
            <a:off x="5577840" y="5303520"/>
            <a:ext cx="59436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E5A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New: upload your own logs</a:t>
            </a:r>
            <a:endParaRPr lang="en-US" sz="1500" dirty="0"/>
          </a:p>
          <a:p>
            <a:pPr indent="0" marL="0">
              <a:buNone/>
            </a:pPr>
            <a:r>
              <a:rPr lang="en-US" sz="1200" dirty="0">
                <a:solidFill>
                  <a:srgbClr val="1626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Load a CSV of power and pressure; the dashboard calibrates the pump in your browser and prices the saving (slide 8).</a:t>
            </a:r>
            <a:endParaRPr lang="en-US" sz="15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47120" y="6473952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5655D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l"/>
            <a:fld id="{F7021451-1387-4CA6-816F-3879F97B5CBC}" type="slidenum">
              <a:rPr b="0" lang="en-US"/>
              <a:t>5</a:t>
            </a:fld>
            <a:endParaRPr lang="en-US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274320"/>
            <a:ext cx="1106424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000" b="1" dirty="0">
                <a:solidFill>
                  <a:srgbClr val="0E5A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Technical Approach</a:t>
            </a:r>
            <a:endParaRPr lang="en-US" sz="3000" dirty="0"/>
          </a:p>
        </p:txBody>
      </p:sp>
      <p:sp>
        <p:nvSpPr>
          <p:cNvPr id="3" name="Shape 1"/>
          <p:cNvSpPr/>
          <p:nvPr/>
        </p:nvSpPr>
        <p:spPr>
          <a:xfrm>
            <a:off x="548640" y="1005840"/>
            <a:ext cx="1280160" cy="548640"/>
          </a:xfrm>
          <a:prstGeom prst="roundRect">
            <a:avLst>
              <a:gd name="adj" fmla="val 13333"/>
            </a:avLst>
          </a:prstGeom>
          <a:solidFill>
            <a:srgbClr val="3A4A45"/>
          </a:solidFill>
          <a:ln w="12700">
            <a:solidFill>
              <a:srgbClr val="3A4A45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548640" y="1005840"/>
            <a:ext cx="12801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Motor</a:t>
            </a:r>
            <a:endParaRPr lang="en-US" sz="1300" dirty="0"/>
          </a:p>
        </p:txBody>
      </p:sp>
      <p:sp>
        <p:nvSpPr>
          <p:cNvPr id="5" name="Text 3"/>
          <p:cNvSpPr txBox="1"/>
          <p:nvPr/>
        </p:nvSpPr>
        <p:spPr>
          <a:xfrm>
            <a:off x="438912" y="1600200"/>
            <a:ext cx="15087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E5A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Power clamp</a:t>
            </a:r>
            <a:endParaRPr lang="en-US" sz="1000" dirty="0"/>
          </a:p>
        </p:txBody>
      </p:sp>
      <p:sp>
        <p:nvSpPr>
          <p:cNvPr id="6" name="Shape 4"/>
          <p:cNvSpPr/>
          <p:nvPr/>
        </p:nvSpPr>
        <p:spPr>
          <a:xfrm>
            <a:off x="1847088" y="1170432"/>
            <a:ext cx="219456" cy="219456"/>
          </a:xfrm>
          <a:prstGeom prst="rightArrow">
            <a:avLst/>
          </a:prstGeom>
          <a:solidFill>
            <a:srgbClr val="3DCD58"/>
          </a:solidFill>
          <a:ln w="12700">
            <a:solidFill>
              <a:srgbClr val="3DCD58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2103120" y="1005840"/>
            <a:ext cx="1280160" cy="548640"/>
          </a:xfrm>
          <a:prstGeom prst="roundRect">
            <a:avLst>
              <a:gd name="adj" fmla="val 13333"/>
            </a:avLst>
          </a:prstGeom>
          <a:solidFill>
            <a:srgbClr val="2E7D5B"/>
          </a:solidFill>
          <a:ln w="12700">
            <a:solidFill>
              <a:srgbClr val="2E7D5B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2103120" y="1005840"/>
            <a:ext cx="12801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Pump</a:t>
            </a:r>
            <a:endParaRPr lang="en-US" sz="1300" dirty="0"/>
          </a:p>
        </p:txBody>
      </p:sp>
      <p:sp>
        <p:nvSpPr>
          <p:cNvPr id="9" name="Text 7"/>
          <p:cNvSpPr txBox="1"/>
          <p:nvPr/>
        </p:nvSpPr>
        <p:spPr>
          <a:xfrm>
            <a:off x="1993392" y="1600200"/>
            <a:ext cx="15087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E5A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P1 suction (opt.)</a:t>
            </a:r>
            <a:endParaRPr lang="en-US" sz="1000" dirty="0"/>
          </a:p>
          <a:p>
            <a:pPr algn="ctr" indent="0" marL="0">
              <a:buNone/>
            </a:pPr>
            <a:r>
              <a:rPr lang="en-US" sz="1000" b="1" dirty="0">
                <a:solidFill>
                  <a:srgbClr val="0E5A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P2 discharge</a:t>
            </a:r>
            <a:endParaRPr lang="en-US" sz="1000" dirty="0"/>
          </a:p>
        </p:txBody>
      </p:sp>
      <p:sp>
        <p:nvSpPr>
          <p:cNvPr id="10" name="Shape 8"/>
          <p:cNvSpPr/>
          <p:nvPr/>
        </p:nvSpPr>
        <p:spPr>
          <a:xfrm>
            <a:off x="3401568" y="1170432"/>
            <a:ext cx="219456" cy="219456"/>
          </a:xfrm>
          <a:prstGeom prst="rightArrow">
            <a:avLst/>
          </a:prstGeom>
          <a:solidFill>
            <a:srgbClr val="3DCD58"/>
          </a:solidFill>
          <a:ln w="12700">
            <a:solidFill>
              <a:srgbClr val="3DCD58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3657600" y="1005840"/>
            <a:ext cx="1280160" cy="548640"/>
          </a:xfrm>
          <a:prstGeom prst="roundRect">
            <a:avLst>
              <a:gd name="adj" fmla="val 13333"/>
            </a:avLst>
          </a:prstGeom>
          <a:solidFill>
            <a:srgbClr val="E07B00"/>
          </a:solidFill>
          <a:ln w="12700">
            <a:solidFill>
              <a:srgbClr val="E07B00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3657600" y="1005840"/>
            <a:ext cx="12801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Throttle valve</a:t>
            </a:r>
            <a:endParaRPr lang="en-US" sz="1300" dirty="0"/>
          </a:p>
        </p:txBody>
      </p:sp>
      <p:sp>
        <p:nvSpPr>
          <p:cNvPr id="13" name="Text 11"/>
          <p:cNvSpPr txBox="1"/>
          <p:nvPr/>
        </p:nvSpPr>
        <p:spPr>
          <a:xfrm>
            <a:off x="3547872" y="1600200"/>
            <a:ext cx="15087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E5A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P3 process side</a:t>
            </a:r>
            <a:endParaRPr lang="en-US" sz="1000" dirty="0"/>
          </a:p>
          <a:p>
            <a:pPr algn="ctr" indent="0" marL="0">
              <a:buNone/>
            </a:pPr>
            <a:r>
              <a:rPr lang="en-US" sz="1000" b="1" dirty="0">
                <a:solidFill>
                  <a:srgbClr val="0E5A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(optional)</a:t>
            </a:r>
            <a:endParaRPr lang="en-US" sz="1000" dirty="0"/>
          </a:p>
        </p:txBody>
      </p:sp>
      <p:sp>
        <p:nvSpPr>
          <p:cNvPr id="14" name="Shape 12"/>
          <p:cNvSpPr/>
          <p:nvPr/>
        </p:nvSpPr>
        <p:spPr>
          <a:xfrm>
            <a:off x="4956048" y="1170432"/>
            <a:ext cx="219456" cy="219456"/>
          </a:xfrm>
          <a:prstGeom prst="rightArrow">
            <a:avLst/>
          </a:prstGeom>
          <a:solidFill>
            <a:srgbClr val="3DCD58"/>
          </a:solidFill>
          <a:ln w="12700">
            <a:solidFill>
              <a:srgbClr val="3DCD58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5212080" y="1005840"/>
            <a:ext cx="1280160" cy="548640"/>
          </a:xfrm>
          <a:prstGeom prst="roundRect">
            <a:avLst>
              <a:gd name="adj" fmla="val 13333"/>
            </a:avLst>
          </a:prstGeom>
          <a:solidFill>
            <a:srgbClr val="9AA5A0"/>
          </a:solidFill>
          <a:ln w="12700">
            <a:solidFill>
              <a:srgbClr val="9AA5A0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5212080" y="1005840"/>
            <a:ext cx="12801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Process</a:t>
            </a:r>
            <a:endParaRPr lang="en-US" sz="1300" dirty="0"/>
          </a:p>
        </p:txBody>
      </p:sp>
      <p:sp>
        <p:nvSpPr>
          <p:cNvPr id="17" name="Text 15"/>
          <p:cNvSpPr txBox="1"/>
          <p:nvPr/>
        </p:nvSpPr>
        <p:spPr>
          <a:xfrm>
            <a:off x="548640" y="2103120"/>
            <a:ext cx="5943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b="1" dirty="0">
                <a:solidFill>
                  <a:srgbClr val="E07B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Minimum kit: clamp + P2. Add P3 before a VFD purchase.</a:t>
            </a:r>
            <a:endParaRPr lang="en-US" sz="1150" dirty="0"/>
          </a:p>
        </p:txBody>
      </p:sp>
      <p:sp>
        <p:nvSpPr>
          <p:cNvPr id="18" name="Shape 16"/>
          <p:cNvSpPr/>
          <p:nvPr/>
        </p:nvSpPr>
        <p:spPr>
          <a:xfrm>
            <a:off x="548640" y="2468880"/>
            <a:ext cx="896112" cy="566928"/>
          </a:xfrm>
          <a:prstGeom prst="roundRect">
            <a:avLst>
              <a:gd name="adj" fmla="val 9677"/>
            </a:avLst>
          </a:prstGeom>
          <a:solidFill>
            <a:srgbClr val="E3F6E8"/>
          </a:solidFill>
          <a:ln w="12700">
            <a:solidFill>
              <a:srgbClr val="3DCD58"/>
            </a:solidFill>
            <a:prstDash val="solid"/>
          </a:ln>
        </p:spPr>
      </p:sp>
      <p:sp>
        <p:nvSpPr>
          <p:cNvPr id="19" name="Text 17"/>
          <p:cNvSpPr txBox="1"/>
          <p:nvPr/>
        </p:nvSpPr>
        <p:spPr>
          <a:xfrm>
            <a:off x="548640" y="2468880"/>
            <a:ext cx="89611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0E5A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Logs</a:t>
            </a:r>
            <a:endParaRPr lang="en-US" sz="1050" dirty="0"/>
          </a:p>
        </p:txBody>
      </p:sp>
      <p:sp>
        <p:nvSpPr>
          <p:cNvPr id="20" name="Shape 18"/>
          <p:cNvSpPr/>
          <p:nvPr/>
        </p:nvSpPr>
        <p:spPr>
          <a:xfrm>
            <a:off x="1545336" y="2468880"/>
            <a:ext cx="896112" cy="566928"/>
          </a:xfrm>
          <a:prstGeom prst="roundRect">
            <a:avLst>
              <a:gd name="adj" fmla="val 9677"/>
            </a:avLst>
          </a:prstGeom>
          <a:solidFill>
            <a:srgbClr val="E3F6E8"/>
          </a:solidFill>
          <a:ln w="12700">
            <a:solidFill>
              <a:srgbClr val="3DCD58"/>
            </a:solidFill>
            <a:prstDash val="solid"/>
          </a:ln>
        </p:spPr>
      </p:sp>
      <p:sp>
        <p:nvSpPr>
          <p:cNvPr id="21" name="Text 19"/>
          <p:cNvSpPr txBox="1"/>
          <p:nvPr/>
        </p:nvSpPr>
        <p:spPr>
          <a:xfrm>
            <a:off x="1545336" y="2468880"/>
            <a:ext cx="89611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0E5A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Calibrate</a:t>
            </a:r>
            <a:endParaRPr lang="en-US" sz="1050" dirty="0"/>
          </a:p>
        </p:txBody>
      </p:sp>
      <p:sp>
        <p:nvSpPr>
          <p:cNvPr id="22" name="Shape 20"/>
          <p:cNvSpPr/>
          <p:nvPr/>
        </p:nvSpPr>
        <p:spPr>
          <a:xfrm>
            <a:off x="2542032" y="2468880"/>
            <a:ext cx="896112" cy="566928"/>
          </a:xfrm>
          <a:prstGeom prst="roundRect">
            <a:avLst>
              <a:gd name="adj" fmla="val 9677"/>
            </a:avLst>
          </a:prstGeom>
          <a:solidFill>
            <a:srgbClr val="E3F6E8"/>
          </a:solidFill>
          <a:ln w="12700">
            <a:solidFill>
              <a:srgbClr val="3DCD58"/>
            </a:solidFill>
            <a:prstDash val="solid"/>
          </a:ln>
        </p:spPr>
      </p:sp>
      <p:sp>
        <p:nvSpPr>
          <p:cNvPr id="23" name="Text 21"/>
          <p:cNvSpPr txBox="1"/>
          <p:nvPr/>
        </p:nvSpPr>
        <p:spPr>
          <a:xfrm>
            <a:off x="2542032" y="2468880"/>
            <a:ext cx="89611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0E5A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Infer flow</a:t>
            </a:r>
            <a:endParaRPr lang="en-US" sz="1050" dirty="0"/>
          </a:p>
        </p:txBody>
      </p:sp>
      <p:sp>
        <p:nvSpPr>
          <p:cNvPr id="24" name="Shape 22"/>
          <p:cNvSpPr/>
          <p:nvPr/>
        </p:nvSpPr>
        <p:spPr>
          <a:xfrm>
            <a:off x="3538728" y="2468880"/>
            <a:ext cx="896112" cy="566928"/>
          </a:xfrm>
          <a:prstGeom prst="roundRect">
            <a:avLst>
              <a:gd name="adj" fmla="val 9677"/>
            </a:avLst>
          </a:prstGeom>
          <a:solidFill>
            <a:srgbClr val="E3F6E8"/>
          </a:solidFill>
          <a:ln w="12700">
            <a:solidFill>
              <a:srgbClr val="3DCD58"/>
            </a:solidFill>
            <a:prstDash val="solid"/>
          </a:ln>
        </p:spPr>
      </p:sp>
      <p:sp>
        <p:nvSpPr>
          <p:cNvPr id="25" name="Text 23"/>
          <p:cNvSpPr txBox="1"/>
          <p:nvPr/>
        </p:nvSpPr>
        <p:spPr>
          <a:xfrm>
            <a:off x="3538728" y="2468880"/>
            <a:ext cx="89611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0E5A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Shapley split</a:t>
            </a:r>
            <a:endParaRPr lang="en-US" sz="1050" dirty="0"/>
          </a:p>
        </p:txBody>
      </p:sp>
      <p:sp>
        <p:nvSpPr>
          <p:cNvPr id="26" name="Shape 24"/>
          <p:cNvSpPr/>
          <p:nvPr/>
        </p:nvSpPr>
        <p:spPr>
          <a:xfrm>
            <a:off x="4535424" y="2468880"/>
            <a:ext cx="896112" cy="566928"/>
          </a:xfrm>
          <a:prstGeom prst="roundRect">
            <a:avLst>
              <a:gd name="adj" fmla="val 9677"/>
            </a:avLst>
          </a:prstGeom>
          <a:solidFill>
            <a:srgbClr val="E3F6E8"/>
          </a:solidFill>
          <a:ln w="12700">
            <a:solidFill>
              <a:srgbClr val="3DCD58"/>
            </a:solidFill>
            <a:prstDash val="solid"/>
          </a:ln>
        </p:spPr>
      </p:sp>
      <p:sp>
        <p:nvSpPr>
          <p:cNvPr id="27" name="Text 25"/>
          <p:cNvSpPr txBox="1"/>
          <p:nvPr/>
        </p:nvSpPr>
        <p:spPr>
          <a:xfrm>
            <a:off x="4535424" y="2468880"/>
            <a:ext cx="89611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0E5A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CUSUM check</a:t>
            </a:r>
            <a:endParaRPr lang="en-US" sz="1050" dirty="0"/>
          </a:p>
        </p:txBody>
      </p:sp>
      <p:sp>
        <p:nvSpPr>
          <p:cNvPr id="28" name="Shape 26"/>
          <p:cNvSpPr/>
          <p:nvPr/>
        </p:nvSpPr>
        <p:spPr>
          <a:xfrm>
            <a:off x="5532120" y="2468880"/>
            <a:ext cx="896112" cy="566928"/>
          </a:xfrm>
          <a:prstGeom prst="roundRect">
            <a:avLst>
              <a:gd name="adj" fmla="val 9677"/>
            </a:avLst>
          </a:prstGeom>
          <a:solidFill>
            <a:srgbClr val="E07B00"/>
          </a:solidFill>
          <a:ln w="12700">
            <a:solidFill>
              <a:srgbClr val="E07B00"/>
            </a:solidFill>
            <a:prstDash val="solid"/>
          </a:ln>
        </p:spPr>
      </p:sp>
      <p:sp>
        <p:nvSpPr>
          <p:cNvPr id="29" name="Text 27"/>
          <p:cNvSpPr txBox="1"/>
          <p:nvPr/>
        </p:nvSpPr>
        <p:spPr>
          <a:xfrm>
            <a:off x="5532120" y="2468880"/>
            <a:ext cx="89611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₹ report</a:t>
            </a:r>
            <a:endParaRPr lang="en-US" sz="1050" dirty="0"/>
          </a:p>
        </p:txBody>
      </p:sp>
      <p:sp>
        <p:nvSpPr>
          <p:cNvPr id="30" name="Text 28"/>
          <p:cNvSpPr txBox="1"/>
          <p:nvPr/>
        </p:nvSpPr>
        <p:spPr>
          <a:xfrm>
            <a:off x="548640" y="3108960"/>
            <a:ext cx="59893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b="1" dirty="0">
                <a:solidFill>
                  <a:srgbClr val="1626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Shapley = </a:t>
            </a:r>
            <a:pPr indent="0" marL="0">
              <a:buNone/>
            </a:pPr>
            <a:r>
              <a:rPr lang="en-US" sz="1050" dirty="0">
                <a:solidFill>
                  <a:srgbClr val="1626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fair split of blame between causes.  </a:t>
            </a:r>
            <a:pPr indent="0" marL="0">
              <a:buNone/>
            </a:pPr>
            <a:r>
              <a:rPr lang="en-US" sz="1050" b="1" dirty="0">
                <a:solidFill>
                  <a:srgbClr val="1626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CUSUM = </a:t>
            </a:r>
            <a:pPr indent="0" marL="0">
              <a:buNone/>
            </a:pPr>
            <a:r>
              <a:rPr lang="en-US" sz="1050" dirty="0">
                <a:solidFill>
                  <a:srgbClr val="1626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early alarm when the pump slowly wears.  </a:t>
            </a:r>
            <a:pPr indent="0" marL="0">
              <a:buNone/>
            </a:pPr>
            <a:r>
              <a:rPr lang="en-US" sz="1050" b="1" dirty="0">
                <a:solidFill>
                  <a:srgbClr val="1626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SEC = </a:t>
            </a:r>
            <a:pPr indent="0" marL="0">
              <a:buNone/>
            </a:pPr>
            <a:r>
              <a:rPr lang="en-US" sz="1050" dirty="0">
                <a:solidFill>
                  <a:srgbClr val="1626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electricity units per m³ pumped.</a:t>
            </a:r>
            <a:endParaRPr lang="en-US" sz="1050" dirty="0"/>
          </a:p>
        </p:txBody>
      </p:sp>
      <p:sp>
        <p:nvSpPr>
          <p:cNvPr id="31" name="Shape 29"/>
          <p:cNvSpPr/>
          <p:nvPr/>
        </p:nvSpPr>
        <p:spPr>
          <a:xfrm>
            <a:off x="548640" y="3611880"/>
            <a:ext cx="3611880" cy="2697480"/>
          </a:xfrm>
          <a:prstGeom prst="roundRect">
            <a:avLst>
              <a:gd name="adj" fmla="val 2712"/>
            </a:avLst>
          </a:prstGeom>
          <a:solidFill>
            <a:srgbClr val="FFFFFF"/>
          </a:solidFill>
          <a:ln w="12700">
            <a:solidFill>
              <a:srgbClr val="D3DFD7"/>
            </a:solidFill>
            <a:prstDash val="solid"/>
          </a:ln>
        </p:spPr>
      </p:sp>
      <p:sp>
        <p:nvSpPr>
          <p:cNvPr id="32" name="Text 30"/>
          <p:cNvSpPr txBox="1"/>
          <p:nvPr/>
        </p:nvSpPr>
        <p:spPr>
          <a:xfrm>
            <a:off x="658368" y="3657600"/>
            <a:ext cx="34290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dirty="0">
                <a:solidFill>
                  <a:srgbClr val="0E5A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Grundfos NB 65-160/157 curves</a:t>
            </a:r>
            <a:endParaRPr lang="en-US" sz="1100" dirty="0"/>
          </a:p>
        </p:txBody>
      </p:sp>
      <p:pic>
        <p:nvPicPr>
          <p:cNvPr id="33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21792" y="3931920"/>
            <a:ext cx="3474720" cy="2057400"/>
          </a:xfrm>
          <a:prstGeom prst="rect">
            <a:avLst/>
          </a:prstGeom>
        </p:spPr>
      </p:pic>
      <p:sp>
        <p:nvSpPr>
          <p:cNvPr id="34" name="Text 31"/>
          <p:cNvSpPr txBox="1"/>
          <p:nvPr/>
        </p:nvSpPr>
        <p:spPr>
          <a:xfrm>
            <a:off x="658368" y="6053328"/>
            <a:ext cx="3429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i="1" dirty="0">
                <a:solidFill>
                  <a:srgbClr val="55655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Off-peak 61.6 m³/h. Simulated; the system curve is assumed.</a:t>
            </a:r>
            <a:endParaRPr lang="en-US" sz="900" dirty="0"/>
          </a:p>
        </p:txBody>
      </p:sp>
      <p:sp>
        <p:nvSpPr>
          <p:cNvPr id="35" name="Shape 32"/>
          <p:cNvSpPr/>
          <p:nvPr/>
        </p:nvSpPr>
        <p:spPr>
          <a:xfrm>
            <a:off x="4297680" y="3611880"/>
            <a:ext cx="2240280" cy="2697480"/>
          </a:xfrm>
          <a:prstGeom prst="roundRect">
            <a:avLst>
              <a:gd name="adj" fmla="val 3265"/>
            </a:avLst>
          </a:prstGeom>
          <a:solidFill>
            <a:srgbClr val="E3F6E8"/>
          </a:solidFill>
          <a:ln w="19050">
            <a:solidFill>
              <a:srgbClr val="3DCD58"/>
            </a:solidFill>
            <a:prstDash val="solid"/>
          </a:ln>
        </p:spPr>
      </p:sp>
      <p:sp>
        <p:nvSpPr>
          <p:cNvPr id="36" name="Text 33"/>
          <p:cNvSpPr txBox="1"/>
          <p:nvPr/>
        </p:nvSpPr>
        <p:spPr>
          <a:xfrm>
            <a:off x="4389120" y="3657600"/>
            <a:ext cx="21031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rgbClr val="0E5A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How flow is inferred</a:t>
            </a:r>
            <a:endParaRPr lang="en-US" sz="1200" dirty="0"/>
          </a:p>
        </p:txBody>
      </p:sp>
      <p:sp>
        <p:nvSpPr>
          <p:cNvPr id="37" name="Text 34"/>
          <p:cNvSpPr txBox="1"/>
          <p:nvPr/>
        </p:nvSpPr>
        <p:spPr>
          <a:xfrm>
            <a:off x="4389120" y="3950208"/>
            <a:ext cx="2084832" cy="2331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sz="1050" dirty="0">
                <a:solidFill>
                  <a:srgbClr val="1626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Head → flow from the pump curve H(Q)</a:t>
            </a:r>
            <a:endParaRPr lang="en-US" sz="1050" dirty="0"/>
          </a:p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sz="1050" dirty="0">
                <a:solidFill>
                  <a:srgbClr val="1626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Power → shaft power via motor efficiency → flow</a:t>
            </a:r>
            <a:endParaRPr lang="en-US" sz="1050" dirty="0"/>
          </a:p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sz="1050" dirty="0">
                <a:solidFill>
                  <a:srgbClr val="1626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Two scales, s_h and s_p, fitted from 7–14 days of logs</a:t>
            </a:r>
            <a:endParaRPr lang="en-US" sz="1050" dirty="0"/>
          </a:p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sz="1050" dirty="0">
                <a:solidFill>
                  <a:srgbClr val="1626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Optional anchors: shut-off head, closed-valve power</a:t>
            </a:r>
            <a:endParaRPr lang="en-US" sz="1050" dirty="0"/>
          </a:p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sz="1050" dirty="0">
                <a:solidFill>
                  <a:srgbClr val="1626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 flow meter used</a:t>
            </a:r>
            <a:endParaRPr lang="en-US" sz="1050" dirty="0"/>
          </a:p>
        </p:txBody>
      </p:sp>
      <p:sp>
        <p:nvSpPr>
          <p:cNvPr id="38" name="Shape 35"/>
          <p:cNvSpPr/>
          <p:nvPr/>
        </p:nvSpPr>
        <p:spPr>
          <a:xfrm>
            <a:off x="6858000" y="1005840"/>
            <a:ext cx="4800600" cy="3550830"/>
          </a:xfrm>
          <a:prstGeom prst="roundRect">
            <a:avLst>
              <a:gd name="adj" fmla="val 1545"/>
            </a:avLst>
          </a:prstGeom>
          <a:solidFill>
            <a:srgbClr val="FFFFFF"/>
          </a:solidFill>
          <a:ln w="19050">
            <a:solidFill>
              <a:srgbClr val="0E5A32"/>
            </a:solidFill>
            <a:prstDash val="solid"/>
          </a:ln>
        </p:spPr>
      </p:sp>
      <p:sp>
        <p:nvSpPr>
          <p:cNvPr id="39" name="Shape 36"/>
          <p:cNvSpPr/>
          <p:nvPr/>
        </p:nvSpPr>
        <p:spPr>
          <a:xfrm>
            <a:off x="6876288" y="1024128"/>
            <a:ext cx="4764024" cy="228600"/>
          </a:xfrm>
          <a:prstGeom prst="rect">
            <a:avLst/>
          </a:prstGeom>
          <a:solidFill>
            <a:srgbClr val="E3F2E7"/>
          </a:solidFill>
          <a:ln w="12700">
            <a:solidFill>
              <a:srgbClr val="E3F2E7"/>
            </a:solidFill>
            <a:prstDash val="solid"/>
          </a:ln>
        </p:spPr>
      </p:sp>
      <p:sp>
        <p:nvSpPr>
          <p:cNvPr id="40" name="Shape 37"/>
          <p:cNvSpPr/>
          <p:nvPr/>
        </p:nvSpPr>
        <p:spPr>
          <a:xfrm>
            <a:off x="6967728" y="1078992"/>
            <a:ext cx="91440" cy="91440"/>
          </a:xfrm>
          <a:prstGeom prst="ellipse">
            <a:avLst/>
          </a:prstGeom>
          <a:solidFill>
            <a:srgbClr val="EF4444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41" name="Shape 38"/>
          <p:cNvSpPr/>
          <p:nvPr/>
        </p:nvSpPr>
        <p:spPr>
          <a:xfrm>
            <a:off x="7114032" y="1078992"/>
            <a:ext cx="91440" cy="91440"/>
          </a:xfrm>
          <a:prstGeom prst="ellipse">
            <a:avLst/>
          </a:prstGeom>
          <a:solidFill>
            <a:srgbClr val="F59E0B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42" name="Shape 39"/>
          <p:cNvSpPr/>
          <p:nvPr/>
        </p:nvSpPr>
        <p:spPr>
          <a:xfrm>
            <a:off x="7260336" y="1078992"/>
            <a:ext cx="91440" cy="91440"/>
          </a:xfrm>
          <a:prstGeom prst="ellipse">
            <a:avLst/>
          </a:prstGeom>
          <a:solidFill>
            <a:srgbClr val="3DCD58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43" name="Shape 40"/>
          <p:cNvSpPr/>
          <p:nvPr/>
        </p:nvSpPr>
        <p:spPr>
          <a:xfrm>
            <a:off x="7498080" y="1051560"/>
            <a:ext cx="3886200" cy="155448"/>
          </a:xfrm>
          <a:prstGeom prst="roundRect">
            <a:avLst>
              <a:gd name="adj" fmla="val 47059"/>
            </a:avLst>
          </a:prstGeom>
          <a:solidFill>
            <a:srgbClr val="FFFFFF"/>
          </a:solidFill>
          <a:ln w="6350">
            <a:solidFill>
              <a:srgbClr val="BFE3C8"/>
            </a:solidFill>
            <a:prstDash val="solid"/>
          </a:ln>
        </p:spPr>
      </p:sp>
      <p:sp>
        <p:nvSpPr>
          <p:cNvPr id="44" name="Text 41"/>
          <p:cNvSpPr txBox="1"/>
          <p:nvPr/>
        </p:nvSpPr>
        <p:spPr>
          <a:xfrm>
            <a:off x="7498080" y="1051560"/>
            <a:ext cx="388620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55655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pumprupee-dashboard.vercel.app</a:t>
            </a:r>
            <a:endParaRPr lang="en-US" sz="800" dirty="0"/>
          </a:p>
        </p:txBody>
      </p:sp>
      <p:pic>
        <p:nvPicPr>
          <p:cNvPr id="45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876288" y="1252728"/>
            <a:ext cx="4764024" cy="3303942"/>
          </a:xfrm>
          <a:prstGeom prst="rect">
            <a:avLst/>
          </a:prstGeom>
        </p:spPr>
      </p:pic>
      <p:sp>
        <p:nvSpPr>
          <p:cNvPr id="46" name="Shape 42"/>
          <p:cNvSpPr/>
          <p:nvPr/>
        </p:nvSpPr>
        <p:spPr>
          <a:xfrm>
            <a:off x="7016406" y="1645059"/>
            <a:ext cx="4483787" cy="448379"/>
          </a:xfrm>
          <a:prstGeom prst="rect">
            <a:avLst/>
          </a:prstGeom>
          <a:solidFill>
            <a:srgbClr val="FFFFFF">
              <a:alpha val="0"/>
            </a:srgbClr>
          </a:solidFill>
          <a:ln w="25400">
            <a:solidFill>
              <a:srgbClr val="E07B00"/>
            </a:solidFill>
            <a:prstDash val="solid"/>
          </a:ln>
        </p:spPr>
      </p:sp>
      <p:sp>
        <p:nvSpPr>
          <p:cNvPr id="47" name="Shape 43"/>
          <p:cNvSpPr/>
          <p:nvPr/>
        </p:nvSpPr>
        <p:spPr>
          <a:xfrm>
            <a:off x="6897534" y="1526187"/>
            <a:ext cx="237744" cy="237744"/>
          </a:xfrm>
          <a:prstGeom prst="ellipse">
            <a:avLst/>
          </a:prstGeom>
          <a:solidFill>
            <a:srgbClr val="E07B00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48" name="Text 44"/>
          <p:cNvSpPr txBox="1"/>
          <p:nvPr/>
        </p:nvSpPr>
        <p:spPr>
          <a:xfrm>
            <a:off x="6897534" y="1526187"/>
            <a:ext cx="23774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000" dirty="0"/>
          </a:p>
        </p:txBody>
      </p:sp>
      <p:sp>
        <p:nvSpPr>
          <p:cNvPr id="49" name="Shape 45"/>
          <p:cNvSpPr/>
          <p:nvPr/>
        </p:nvSpPr>
        <p:spPr>
          <a:xfrm>
            <a:off x="7016406" y="2107450"/>
            <a:ext cx="4483787" cy="2059740"/>
          </a:xfrm>
          <a:prstGeom prst="rect">
            <a:avLst/>
          </a:prstGeom>
          <a:solidFill>
            <a:srgbClr val="FFFFFF">
              <a:alpha val="0"/>
            </a:srgbClr>
          </a:solidFill>
          <a:ln w="25400">
            <a:solidFill>
              <a:srgbClr val="E07B00"/>
            </a:solidFill>
            <a:prstDash val="solid"/>
          </a:ln>
        </p:spPr>
      </p:sp>
      <p:sp>
        <p:nvSpPr>
          <p:cNvPr id="50" name="Shape 46"/>
          <p:cNvSpPr/>
          <p:nvPr/>
        </p:nvSpPr>
        <p:spPr>
          <a:xfrm>
            <a:off x="6897534" y="1988578"/>
            <a:ext cx="237744" cy="237744"/>
          </a:xfrm>
          <a:prstGeom prst="ellipse">
            <a:avLst/>
          </a:prstGeom>
          <a:solidFill>
            <a:srgbClr val="E07B00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51" name="Text 47"/>
          <p:cNvSpPr txBox="1"/>
          <p:nvPr/>
        </p:nvSpPr>
        <p:spPr>
          <a:xfrm>
            <a:off x="6897534" y="1988578"/>
            <a:ext cx="23774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000" dirty="0"/>
          </a:p>
        </p:txBody>
      </p:sp>
      <p:sp>
        <p:nvSpPr>
          <p:cNvPr id="52" name="Shape 48"/>
          <p:cNvSpPr/>
          <p:nvPr/>
        </p:nvSpPr>
        <p:spPr>
          <a:xfrm>
            <a:off x="6858000" y="4602390"/>
            <a:ext cx="3840480" cy="310896"/>
          </a:xfrm>
          <a:prstGeom prst="roundRect">
            <a:avLst>
              <a:gd name="adj" fmla="val 50000"/>
            </a:avLst>
          </a:prstGeom>
          <a:solidFill>
            <a:srgbClr val="E07B00"/>
          </a:solidFill>
          <a:ln w="12700">
            <a:solidFill>
              <a:srgbClr val="E07B00"/>
            </a:solidFill>
            <a:prstDash val="solid"/>
          </a:ln>
        </p:spPr>
      </p:sp>
      <p:sp>
        <p:nvSpPr>
          <p:cNvPr id="53" name="Text 49"/>
          <p:cNvSpPr txBox="1"/>
          <p:nvPr/>
        </p:nvSpPr>
        <p:spPr>
          <a:xfrm>
            <a:off x="6858000" y="4602390"/>
            <a:ext cx="38404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Working prototype dashboard · simulated data</a:t>
            </a:r>
            <a:endParaRPr lang="en-US" sz="1000" dirty="0"/>
          </a:p>
        </p:txBody>
      </p:sp>
      <p:sp>
        <p:nvSpPr>
          <p:cNvPr id="54" name="Shape 50"/>
          <p:cNvSpPr/>
          <p:nvPr/>
        </p:nvSpPr>
        <p:spPr>
          <a:xfrm>
            <a:off x="6858000" y="4968150"/>
            <a:ext cx="182880" cy="182880"/>
          </a:xfrm>
          <a:prstGeom prst="ellipse">
            <a:avLst/>
          </a:prstGeom>
          <a:solidFill>
            <a:srgbClr val="E07B00"/>
          </a:solidFill>
          <a:ln w="12700">
            <a:solidFill>
              <a:srgbClr val="E07B00"/>
            </a:solidFill>
            <a:prstDash val="solid"/>
          </a:ln>
        </p:spPr>
      </p:sp>
      <p:sp>
        <p:nvSpPr>
          <p:cNvPr id="55" name="Text 51"/>
          <p:cNvSpPr txBox="1"/>
          <p:nvPr/>
        </p:nvSpPr>
        <p:spPr>
          <a:xfrm>
            <a:off x="6858000" y="4968150"/>
            <a:ext cx="1828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900" dirty="0"/>
          </a:p>
        </p:txBody>
      </p:sp>
      <p:sp>
        <p:nvSpPr>
          <p:cNvPr id="56" name="Text 52"/>
          <p:cNvSpPr txBox="1"/>
          <p:nvPr/>
        </p:nvSpPr>
        <p:spPr>
          <a:xfrm>
            <a:off x="7114032" y="4949862"/>
            <a:ext cx="45262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626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Choose datasheet-only or 1/3/7/14 days of logs</a:t>
            </a:r>
            <a:endParaRPr lang="en-US" sz="1100" dirty="0"/>
          </a:p>
        </p:txBody>
      </p:sp>
      <p:sp>
        <p:nvSpPr>
          <p:cNvPr id="57" name="Shape 53"/>
          <p:cNvSpPr/>
          <p:nvPr/>
        </p:nvSpPr>
        <p:spPr>
          <a:xfrm>
            <a:off x="6858000" y="5215038"/>
            <a:ext cx="182880" cy="182880"/>
          </a:xfrm>
          <a:prstGeom prst="ellipse">
            <a:avLst/>
          </a:prstGeom>
          <a:solidFill>
            <a:srgbClr val="E07B00"/>
          </a:solidFill>
          <a:ln w="12700">
            <a:solidFill>
              <a:srgbClr val="E07B00"/>
            </a:solidFill>
            <a:prstDash val="solid"/>
          </a:ln>
        </p:spPr>
      </p:sp>
      <p:sp>
        <p:nvSpPr>
          <p:cNvPr id="58" name="Text 54"/>
          <p:cNvSpPr txBox="1"/>
          <p:nvPr/>
        </p:nvSpPr>
        <p:spPr>
          <a:xfrm>
            <a:off x="6858000" y="5215038"/>
            <a:ext cx="1828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900" dirty="0"/>
          </a:p>
        </p:txBody>
      </p:sp>
      <p:sp>
        <p:nvSpPr>
          <p:cNvPr id="59" name="Text 55"/>
          <p:cNvSpPr txBox="1"/>
          <p:nvPr/>
        </p:nvSpPr>
        <p:spPr>
          <a:xfrm>
            <a:off x="7114032" y="5196750"/>
            <a:ext cx="45262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626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Blue points: measured head at the flow the model infers (no flow meter)</a:t>
            </a:r>
            <a:endParaRPr lang="en-US" sz="1100" dirty="0"/>
          </a:p>
        </p:txBody>
      </p:sp>
      <p:sp>
        <p:nvSpPr>
          <p:cNvPr id="60" name="Text 56"/>
          <p:cNvSpPr txBox="1"/>
          <p:nvPr/>
        </p:nvSpPr>
        <p:spPr>
          <a:xfrm>
            <a:off x="6858000" y="5507646"/>
            <a:ext cx="4800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rgbClr val="0E5A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About ±3 points only with a measured system curve; otherwise about ±10.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47120" y="6473952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5655D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l"/>
            <a:fld id="{F7021451-1387-4CA6-816F-3879F97B5CBC}" type="slidenum">
              <a:rPr b="0" lang="en-US"/>
              <a:t>6</a:t>
            </a:fld>
            <a:endParaRPr lang="en-US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274320"/>
            <a:ext cx="1106424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000" b="1" dirty="0">
                <a:solidFill>
                  <a:srgbClr val="0E5A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Prototype &amp; Simulated Results</a:t>
            </a:r>
            <a:endParaRPr lang="en-US" sz="3000" dirty="0"/>
          </a:p>
        </p:txBody>
      </p:sp>
      <p:sp>
        <p:nvSpPr>
          <p:cNvPr id="3" name="Shape 1"/>
          <p:cNvSpPr/>
          <p:nvPr/>
        </p:nvSpPr>
        <p:spPr>
          <a:xfrm>
            <a:off x="548640" y="896112"/>
            <a:ext cx="8503920" cy="310896"/>
          </a:xfrm>
          <a:prstGeom prst="roundRect">
            <a:avLst>
              <a:gd name="adj" fmla="val 50000"/>
            </a:avLst>
          </a:prstGeom>
          <a:solidFill>
            <a:srgbClr val="E07B00"/>
          </a:solidFill>
          <a:ln w="12700">
            <a:solidFill>
              <a:srgbClr val="E07B00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548640" y="896112"/>
            <a:ext cx="85039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SIMULATED – Grundfos NB 65-160/157, 11 kW · 10 m lift · 5% margin · 16 h/day · 300 days · ₹8/kWh</a:t>
            </a:r>
            <a:endParaRPr lang="en-US" sz="1100" dirty="0"/>
          </a:p>
        </p:txBody>
      </p:sp>
      <p:sp>
        <p:nvSpPr>
          <p:cNvPr id="5" name="Shape 3"/>
          <p:cNvSpPr/>
          <p:nvPr/>
        </p:nvSpPr>
        <p:spPr>
          <a:xfrm>
            <a:off x="548640" y="1280160"/>
            <a:ext cx="5394960" cy="3975757"/>
          </a:xfrm>
          <a:prstGeom prst="roundRect">
            <a:avLst>
              <a:gd name="adj" fmla="val 1380"/>
            </a:avLst>
          </a:prstGeom>
          <a:solidFill>
            <a:srgbClr val="FFFFFF"/>
          </a:solidFill>
          <a:ln w="19050">
            <a:solidFill>
              <a:srgbClr val="0E5A32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566928" y="1298448"/>
            <a:ext cx="5358384" cy="228600"/>
          </a:xfrm>
          <a:prstGeom prst="rect">
            <a:avLst/>
          </a:prstGeom>
          <a:solidFill>
            <a:srgbClr val="E3F2E7"/>
          </a:solidFill>
          <a:ln w="12700">
            <a:solidFill>
              <a:srgbClr val="E3F2E7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658368" y="1353312"/>
            <a:ext cx="91440" cy="91440"/>
          </a:xfrm>
          <a:prstGeom prst="ellipse">
            <a:avLst/>
          </a:prstGeom>
          <a:solidFill>
            <a:srgbClr val="EF4444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804672" y="1353312"/>
            <a:ext cx="91440" cy="91440"/>
          </a:xfrm>
          <a:prstGeom prst="ellipse">
            <a:avLst/>
          </a:prstGeom>
          <a:solidFill>
            <a:srgbClr val="F59E0B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950976" y="1353312"/>
            <a:ext cx="91440" cy="91440"/>
          </a:xfrm>
          <a:prstGeom prst="ellipse">
            <a:avLst/>
          </a:prstGeom>
          <a:solidFill>
            <a:srgbClr val="3DCD58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1188720" y="1325880"/>
            <a:ext cx="4480560" cy="155448"/>
          </a:xfrm>
          <a:prstGeom prst="roundRect">
            <a:avLst>
              <a:gd name="adj" fmla="val 47059"/>
            </a:avLst>
          </a:prstGeom>
          <a:solidFill>
            <a:srgbClr val="FFFFFF"/>
          </a:solidFill>
          <a:ln w="6350">
            <a:solidFill>
              <a:srgbClr val="BFE3C8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1188720" y="1325880"/>
            <a:ext cx="448056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55655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pumprupee-dashboard.vercel.app</a:t>
            </a:r>
            <a:endParaRPr lang="en-US" sz="800" dirty="0"/>
          </a:p>
        </p:txBody>
      </p:sp>
      <p:pic>
        <p:nvPicPr>
          <p:cNvPr id="1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1527048"/>
            <a:ext cx="5358384" cy="3728869"/>
          </a:xfrm>
          <a:prstGeom prst="rect">
            <a:avLst/>
          </a:prstGeom>
        </p:spPr>
      </p:pic>
      <p:sp>
        <p:nvSpPr>
          <p:cNvPr id="13" name="Shape 10"/>
          <p:cNvSpPr/>
          <p:nvPr/>
        </p:nvSpPr>
        <p:spPr>
          <a:xfrm>
            <a:off x="1691487" y="3484434"/>
            <a:ext cx="550059" cy="149720"/>
          </a:xfrm>
          <a:prstGeom prst="rect">
            <a:avLst/>
          </a:prstGeom>
          <a:solidFill>
            <a:srgbClr val="FFFFFF">
              <a:alpha val="0"/>
            </a:srgbClr>
          </a:solidFill>
          <a:ln w="25400">
            <a:solidFill>
              <a:srgbClr val="E07B00"/>
            </a:solidFill>
            <a:prstDash val="solid"/>
          </a:ln>
        </p:spPr>
      </p:sp>
      <p:sp>
        <p:nvSpPr>
          <p:cNvPr id="14" name="Shape 11"/>
          <p:cNvSpPr/>
          <p:nvPr/>
        </p:nvSpPr>
        <p:spPr>
          <a:xfrm>
            <a:off x="1572615" y="3365562"/>
            <a:ext cx="237744" cy="237744"/>
          </a:xfrm>
          <a:prstGeom prst="ellipse">
            <a:avLst/>
          </a:prstGeom>
          <a:solidFill>
            <a:srgbClr val="E07B00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5" name="Text 12"/>
          <p:cNvSpPr txBox="1"/>
          <p:nvPr/>
        </p:nvSpPr>
        <p:spPr>
          <a:xfrm>
            <a:off x="1572615" y="3365562"/>
            <a:ext cx="23774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000" dirty="0"/>
          </a:p>
        </p:txBody>
      </p:sp>
      <p:sp>
        <p:nvSpPr>
          <p:cNvPr id="16" name="Shape 13"/>
          <p:cNvSpPr/>
          <p:nvPr/>
        </p:nvSpPr>
        <p:spPr>
          <a:xfrm>
            <a:off x="3285520" y="2425365"/>
            <a:ext cx="2482193" cy="583118"/>
          </a:xfrm>
          <a:prstGeom prst="rect">
            <a:avLst/>
          </a:prstGeom>
          <a:solidFill>
            <a:srgbClr val="FFFFFF">
              <a:alpha val="0"/>
            </a:srgbClr>
          </a:solidFill>
          <a:ln w="25400">
            <a:solidFill>
              <a:srgbClr val="E07B00"/>
            </a:solidFill>
            <a:prstDash val="solid"/>
          </a:ln>
        </p:spPr>
      </p:sp>
      <p:sp>
        <p:nvSpPr>
          <p:cNvPr id="17" name="Shape 14"/>
          <p:cNvSpPr/>
          <p:nvPr/>
        </p:nvSpPr>
        <p:spPr>
          <a:xfrm>
            <a:off x="3166648" y="2306493"/>
            <a:ext cx="237744" cy="237744"/>
          </a:xfrm>
          <a:prstGeom prst="ellipse">
            <a:avLst/>
          </a:prstGeom>
          <a:solidFill>
            <a:srgbClr val="E07B00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8" name="Text 15"/>
          <p:cNvSpPr txBox="1"/>
          <p:nvPr/>
        </p:nvSpPr>
        <p:spPr>
          <a:xfrm>
            <a:off x="3166648" y="2306493"/>
            <a:ext cx="23774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000" dirty="0"/>
          </a:p>
        </p:txBody>
      </p:sp>
      <p:sp>
        <p:nvSpPr>
          <p:cNvPr id="19" name="Shape 16"/>
          <p:cNvSpPr/>
          <p:nvPr/>
        </p:nvSpPr>
        <p:spPr>
          <a:xfrm>
            <a:off x="724528" y="4442639"/>
            <a:ext cx="5043185" cy="630398"/>
          </a:xfrm>
          <a:prstGeom prst="rect">
            <a:avLst/>
          </a:prstGeom>
          <a:solidFill>
            <a:srgbClr val="FFFFFF">
              <a:alpha val="0"/>
            </a:srgbClr>
          </a:solidFill>
          <a:ln w="25400">
            <a:solidFill>
              <a:srgbClr val="E07B00"/>
            </a:solidFill>
            <a:prstDash val="solid"/>
          </a:ln>
        </p:spPr>
      </p:sp>
      <p:sp>
        <p:nvSpPr>
          <p:cNvPr id="20" name="Shape 17"/>
          <p:cNvSpPr/>
          <p:nvPr/>
        </p:nvSpPr>
        <p:spPr>
          <a:xfrm>
            <a:off x="605656" y="4323767"/>
            <a:ext cx="237744" cy="237744"/>
          </a:xfrm>
          <a:prstGeom prst="ellipse">
            <a:avLst/>
          </a:prstGeom>
          <a:solidFill>
            <a:srgbClr val="E07B00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1" name="Text 18"/>
          <p:cNvSpPr txBox="1"/>
          <p:nvPr/>
        </p:nvSpPr>
        <p:spPr>
          <a:xfrm>
            <a:off x="605656" y="4323767"/>
            <a:ext cx="23774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000" dirty="0"/>
          </a:p>
        </p:txBody>
      </p:sp>
      <p:sp>
        <p:nvSpPr>
          <p:cNvPr id="22" name="Shape 19"/>
          <p:cNvSpPr/>
          <p:nvPr/>
        </p:nvSpPr>
        <p:spPr>
          <a:xfrm>
            <a:off x="548640" y="5301637"/>
            <a:ext cx="3840480" cy="310896"/>
          </a:xfrm>
          <a:prstGeom prst="roundRect">
            <a:avLst>
              <a:gd name="adj" fmla="val 50000"/>
            </a:avLst>
          </a:prstGeom>
          <a:solidFill>
            <a:srgbClr val="E07B00"/>
          </a:solidFill>
          <a:ln w="12700">
            <a:solidFill>
              <a:srgbClr val="E07B00"/>
            </a:solidFill>
            <a:prstDash val="solid"/>
          </a:ln>
        </p:spPr>
      </p:sp>
      <p:sp>
        <p:nvSpPr>
          <p:cNvPr id="23" name="Text 20"/>
          <p:cNvSpPr txBox="1"/>
          <p:nvPr/>
        </p:nvSpPr>
        <p:spPr>
          <a:xfrm>
            <a:off x="548640" y="5301637"/>
            <a:ext cx="38404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Working prototype dashboard · simulated data</a:t>
            </a:r>
            <a:endParaRPr lang="en-US" sz="1000" dirty="0"/>
          </a:p>
        </p:txBody>
      </p:sp>
      <p:sp>
        <p:nvSpPr>
          <p:cNvPr id="24" name="Shape 21"/>
          <p:cNvSpPr/>
          <p:nvPr/>
        </p:nvSpPr>
        <p:spPr>
          <a:xfrm>
            <a:off x="6309360" y="1280160"/>
            <a:ext cx="4434840" cy="3879544"/>
          </a:xfrm>
          <a:prstGeom prst="roundRect">
            <a:avLst>
              <a:gd name="adj" fmla="val 1414"/>
            </a:avLst>
          </a:prstGeom>
          <a:solidFill>
            <a:srgbClr val="FFFFFF"/>
          </a:solidFill>
          <a:ln w="19050">
            <a:solidFill>
              <a:srgbClr val="0E5A32"/>
            </a:solidFill>
            <a:prstDash val="solid"/>
          </a:ln>
        </p:spPr>
      </p:sp>
      <p:sp>
        <p:nvSpPr>
          <p:cNvPr id="25" name="Shape 22"/>
          <p:cNvSpPr/>
          <p:nvPr/>
        </p:nvSpPr>
        <p:spPr>
          <a:xfrm>
            <a:off x="6327648" y="1298448"/>
            <a:ext cx="4398264" cy="228600"/>
          </a:xfrm>
          <a:prstGeom prst="rect">
            <a:avLst/>
          </a:prstGeom>
          <a:solidFill>
            <a:srgbClr val="E3F2E7"/>
          </a:solidFill>
          <a:ln w="12700">
            <a:solidFill>
              <a:srgbClr val="E3F2E7"/>
            </a:solidFill>
            <a:prstDash val="solid"/>
          </a:ln>
        </p:spPr>
      </p:sp>
      <p:sp>
        <p:nvSpPr>
          <p:cNvPr id="26" name="Shape 23"/>
          <p:cNvSpPr/>
          <p:nvPr/>
        </p:nvSpPr>
        <p:spPr>
          <a:xfrm>
            <a:off x="6419088" y="1353312"/>
            <a:ext cx="91440" cy="91440"/>
          </a:xfrm>
          <a:prstGeom prst="ellipse">
            <a:avLst/>
          </a:prstGeom>
          <a:solidFill>
            <a:srgbClr val="EF4444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7" name="Shape 24"/>
          <p:cNvSpPr/>
          <p:nvPr/>
        </p:nvSpPr>
        <p:spPr>
          <a:xfrm>
            <a:off x="6565392" y="1353312"/>
            <a:ext cx="91440" cy="91440"/>
          </a:xfrm>
          <a:prstGeom prst="ellipse">
            <a:avLst/>
          </a:prstGeom>
          <a:solidFill>
            <a:srgbClr val="F59E0B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8" name="Shape 25"/>
          <p:cNvSpPr/>
          <p:nvPr/>
        </p:nvSpPr>
        <p:spPr>
          <a:xfrm>
            <a:off x="6711696" y="1353312"/>
            <a:ext cx="91440" cy="91440"/>
          </a:xfrm>
          <a:prstGeom prst="ellipse">
            <a:avLst/>
          </a:prstGeom>
          <a:solidFill>
            <a:srgbClr val="3DCD58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9" name="Shape 26"/>
          <p:cNvSpPr/>
          <p:nvPr/>
        </p:nvSpPr>
        <p:spPr>
          <a:xfrm>
            <a:off x="6949440" y="1325880"/>
            <a:ext cx="3520440" cy="155448"/>
          </a:xfrm>
          <a:prstGeom prst="roundRect">
            <a:avLst>
              <a:gd name="adj" fmla="val 47059"/>
            </a:avLst>
          </a:prstGeom>
          <a:solidFill>
            <a:srgbClr val="FFFFFF"/>
          </a:solidFill>
          <a:ln w="6350">
            <a:solidFill>
              <a:srgbClr val="BFE3C8"/>
            </a:solidFill>
            <a:prstDash val="solid"/>
          </a:ln>
        </p:spPr>
      </p:sp>
      <p:sp>
        <p:nvSpPr>
          <p:cNvPr id="30" name="Text 27"/>
          <p:cNvSpPr txBox="1"/>
          <p:nvPr/>
        </p:nvSpPr>
        <p:spPr>
          <a:xfrm>
            <a:off x="6949440" y="1325880"/>
            <a:ext cx="352044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55655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pumprupee-dashboard.vercel.app</a:t>
            </a:r>
            <a:endParaRPr lang="en-US" sz="800" dirty="0"/>
          </a:p>
        </p:txBody>
      </p:sp>
      <p:pic>
        <p:nvPicPr>
          <p:cNvPr id="31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327648" y="1527048"/>
            <a:ext cx="4398264" cy="3632656"/>
          </a:xfrm>
          <a:prstGeom prst="rect">
            <a:avLst/>
          </a:prstGeom>
        </p:spPr>
      </p:pic>
      <p:sp>
        <p:nvSpPr>
          <p:cNvPr id="32" name="Shape 28"/>
          <p:cNvSpPr/>
          <p:nvPr/>
        </p:nvSpPr>
        <p:spPr>
          <a:xfrm>
            <a:off x="6347052" y="1546452"/>
            <a:ext cx="4359456" cy="607995"/>
          </a:xfrm>
          <a:prstGeom prst="rect">
            <a:avLst/>
          </a:prstGeom>
          <a:solidFill>
            <a:srgbClr val="FFFFFF">
              <a:alpha val="0"/>
            </a:srgbClr>
          </a:solidFill>
          <a:ln w="25400">
            <a:solidFill>
              <a:srgbClr val="E07B00"/>
            </a:solidFill>
            <a:prstDash val="solid"/>
          </a:ln>
        </p:spPr>
      </p:sp>
      <p:sp>
        <p:nvSpPr>
          <p:cNvPr id="33" name="Shape 29"/>
          <p:cNvSpPr/>
          <p:nvPr/>
        </p:nvSpPr>
        <p:spPr>
          <a:xfrm>
            <a:off x="6228180" y="1427580"/>
            <a:ext cx="237744" cy="237744"/>
          </a:xfrm>
          <a:prstGeom prst="ellipse">
            <a:avLst/>
          </a:prstGeom>
          <a:solidFill>
            <a:srgbClr val="E07B00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4" name="Text 30"/>
          <p:cNvSpPr txBox="1"/>
          <p:nvPr/>
        </p:nvSpPr>
        <p:spPr>
          <a:xfrm>
            <a:off x="6228180" y="1427580"/>
            <a:ext cx="23774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000" dirty="0"/>
          </a:p>
        </p:txBody>
      </p:sp>
      <p:sp>
        <p:nvSpPr>
          <p:cNvPr id="35" name="Shape 31"/>
          <p:cNvSpPr/>
          <p:nvPr/>
        </p:nvSpPr>
        <p:spPr>
          <a:xfrm>
            <a:off x="6347052" y="2219128"/>
            <a:ext cx="1060758" cy="485103"/>
          </a:xfrm>
          <a:prstGeom prst="rect">
            <a:avLst/>
          </a:prstGeom>
          <a:solidFill>
            <a:srgbClr val="FFFFFF">
              <a:alpha val="0"/>
            </a:srgbClr>
          </a:solidFill>
          <a:ln w="25400">
            <a:solidFill>
              <a:srgbClr val="E07B00"/>
            </a:solidFill>
            <a:prstDash val="solid"/>
          </a:ln>
        </p:spPr>
      </p:sp>
      <p:sp>
        <p:nvSpPr>
          <p:cNvPr id="36" name="Shape 32"/>
          <p:cNvSpPr/>
          <p:nvPr/>
        </p:nvSpPr>
        <p:spPr>
          <a:xfrm>
            <a:off x="6228180" y="2100256"/>
            <a:ext cx="237744" cy="237744"/>
          </a:xfrm>
          <a:prstGeom prst="ellipse">
            <a:avLst/>
          </a:prstGeom>
          <a:solidFill>
            <a:srgbClr val="E07B00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7" name="Text 33"/>
          <p:cNvSpPr txBox="1"/>
          <p:nvPr/>
        </p:nvSpPr>
        <p:spPr>
          <a:xfrm>
            <a:off x="6228180" y="2100256"/>
            <a:ext cx="23774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000" dirty="0"/>
          </a:p>
        </p:txBody>
      </p:sp>
      <p:sp>
        <p:nvSpPr>
          <p:cNvPr id="38" name="Shape 34"/>
          <p:cNvSpPr/>
          <p:nvPr/>
        </p:nvSpPr>
        <p:spPr>
          <a:xfrm>
            <a:off x="9444534" y="2878867"/>
            <a:ext cx="1152018" cy="181105"/>
          </a:xfrm>
          <a:prstGeom prst="rect">
            <a:avLst/>
          </a:prstGeom>
          <a:solidFill>
            <a:srgbClr val="FFFFFF">
              <a:alpha val="0"/>
            </a:srgbClr>
          </a:solidFill>
          <a:ln w="25400">
            <a:solidFill>
              <a:srgbClr val="E07B00"/>
            </a:solidFill>
            <a:prstDash val="solid"/>
          </a:ln>
        </p:spPr>
      </p:sp>
      <p:sp>
        <p:nvSpPr>
          <p:cNvPr id="39" name="Shape 35"/>
          <p:cNvSpPr/>
          <p:nvPr/>
        </p:nvSpPr>
        <p:spPr>
          <a:xfrm>
            <a:off x="9325662" y="2759995"/>
            <a:ext cx="237744" cy="237744"/>
          </a:xfrm>
          <a:prstGeom prst="ellipse">
            <a:avLst/>
          </a:prstGeom>
          <a:solidFill>
            <a:srgbClr val="E07B00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40" name="Text 36"/>
          <p:cNvSpPr txBox="1"/>
          <p:nvPr/>
        </p:nvSpPr>
        <p:spPr>
          <a:xfrm>
            <a:off x="9325662" y="2759995"/>
            <a:ext cx="23774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000" dirty="0"/>
          </a:p>
        </p:txBody>
      </p:sp>
      <p:sp>
        <p:nvSpPr>
          <p:cNvPr id="41" name="Shape 37"/>
          <p:cNvSpPr/>
          <p:nvPr/>
        </p:nvSpPr>
        <p:spPr>
          <a:xfrm>
            <a:off x="6309360" y="5205424"/>
            <a:ext cx="3840480" cy="310896"/>
          </a:xfrm>
          <a:prstGeom prst="roundRect">
            <a:avLst>
              <a:gd name="adj" fmla="val 50000"/>
            </a:avLst>
          </a:prstGeom>
          <a:solidFill>
            <a:srgbClr val="E07B00"/>
          </a:solidFill>
          <a:ln w="12700">
            <a:solidFill>
              <a:srgbClr val="E07B00"/>
            </a:solidFill>
            <a:prstDash val="solid"/>
          </a:ln>
        </p:spPr>
      </p:sp>
      <p:sp>
        <p:nvSpPr>
          <p:cNvPr id="42" name="Text 38"/>
          <p:cNvSpPr txBox="1"/>
          <p:nvPr/>
        </p:nvSpPr>
        <p:spPr>
          <a:xfrm>
            <a:off x="6309360" y="5205424"/>
            <a:ext cx="38404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Working prototype dashboard · simulated data</a:t>
            </a:r>
            <a:endParaRPr lang="en-US" sz="1000" dirty="0"/>
          </a:p>
        </p:txBody>
      </p:sp>
      <p:sp>
        <p:nvSpPr>
          <p:cNvPr id="43" name="Shape 39"/>
          <p:cNvSpPr/>
          <p:nvPr/>
        </p:nvSpPr>
        <p:spPr>
          <a:xfrm>
            <a:off x="548640" y="5649109"/>
            <a:ext cx="182880" cy="182880"/>
          </a:xfrm>
          <a:prstGeom prst="ellipse">
            <a:avLst/>
          </a:prstGeom>
          <a:solidFill>
            <a:srgbClr val="E07B00"/>
          </a:solidFill>
          <a:ln w="12700">
            <a:solidFill>
              <a:srgbClr val="E07B00"/>
            </a:solidFill>
            <a:prstDash val="solid"/>
          </a:ln>
        </p:spPr>
      </p:sp>
      <p:sp>
        <p:nvSpPr>
          <p:cNvPr id="44" name="Text 40"/>
          <p:cNvSpPr txBox="1"/>
          <p:nvPr/>
        </p:nvSpPr>
        <p:spPr>
          <a:xfrm>
            <a:off x="548640" y="5649109"/>
            <a:ext cx="1828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900" dirty="0"/>
          </a:p>
        </p:txBody>
      </p:sp>
      <p:sp>
        <p:nvSpPr>
          <p:cNvPr id="45" name="Text 41"/>
          <p:cNvSpPr txBox="1"/>
          <p:nvPr/>
        </p:nvSpPr>
        <p:spPr>
          <a:xfrm>
            <a:off x="804672" y="5630821"/>
            <a:ext cx="51206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1626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Valve share of waste (Shapley split)</a:t>
            </a:r>
            <a:endParaRPr lang="en-US" sz="1050" dirty="0"/>
          </a:p>
        </p:txBody>
      </p:sp>
      <p:sp>
        <p:nvSpPr>
          <p:cNvPr id="46" name="Shape 42"/>
          <p:cNvSpPr/>
          <p:nvPr/>
        </p:nvSpPr>
        <p:spPr>
          <a:xfrm>
            <a:off x="548640" y="5850277"/>
            <a:ext cx="182880" cy="182880"/>
          </a:xfrm>
          <a:prstGeom prst="ellipse">
            <a:avLst/>
          </a:prstGeom>
          <a:solidFill>
            <a:srgbClr val="E07B00"/>
          </a:solidFill>
          <a:ln w="12700">
            <a:solidFill>
              <a:srgbClr val="E07B00"/>
            </a:solidFill>
            <a:prstDash val="solid"/>
          </a:ln>
        </p:spPr>
      </p:sp>
      <p:sp>
        <p:nvSpPr>
          <p:cNvPr id="47" name="Text 43"/>
          <p:cNvSpPr txBox="1"/>
          <p:nvPr/>
        </p:nvSpPr>
        <p:spPr>
          <a:xfrm>
            <a:off x="548640" y="5850277"/>
            <a:ext cx="1828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900" dirty="0"/>
          </a:p>
        </p:txBody>
      </p:sp>
      <p:sp>
        <p:nvSpPr>
          <p:cNvPr id="48" name="Text 44"/>
          <p:cNvSpPr txBox="1"/>
          <p:nvPr/>
        </p:nvSpPr>
        <p:spPr>
          <a:xfrm>
            <a:off x="804672" y="5831989"/>
            <a:ext cx="51206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1626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₹ per year, by cause</a:t>
            </a:r>
            <a:endParaRPr lang="en-US" sz="1050" dirty="0"/>
          </a:p>
        </p:txBody>
      </p:sp>
      <p:sp>
        <p:nvSpPr>
          <p:cNvPr id="49" name="Shape 45"/>
          <p:cNvSpPr/>
          <p:nvPr/>
        </p:nvSpPr>
        <p:spPr>
          <a:xfrm>
            <a:off x="548640" y="6051445"/>
            <a:ext cx="182880" cy="182880"/>
          </a:xfrm>
          <a:prstGeom prst="ellipse">
            <a:avLst/>
          </a:prstGeom>
          <a:solidFill>
            <a:srgbClr val="E07B00"/>
          </a:solidFill>
          <a:ln w="12700">
            <a:solidFill>
              <a:srgbClr val="E07B00"/>
            </a:solidFill>
            <a:prstDash val="solid"/>
          </a:ln>
        </p:spPr>
      </p:sp>
      <p:sp>
        <p:nvSpPr>
          <p:cNvPr id="50" name="Text 46"/>
          <p:cNvSpPr txBox="1"/>
          <p:nvPr/>
        </p:nvSpPr>
        <p:spPr>
          <a:xfrm>
            <a:off x="548640" y="6051445"/>
            <a:ext cx="1828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900" dirty="0"/>
          </a:p>
        </p:txBody>
      </p:sp>
      <p:sp>
        <p:nvSpPr>
          <p:cNvPr id="51" name="Text 47"/>
          <p:cNvSpPr txBox="1"/>
          <p:nvPr/>
        </p:nvSpPr>
        <p:spPr>
          <a:xfrm>
            <a:off x="804672" y="6033157"/>
            <a:ext cx="51206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1626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Valve share is partly by construction</a:t>
            </a:r>
            <a:endParaRPr lang="en-US" sz="1050" dirty="0"/>
          </a:p>
        </p:txBody>
      </p:sp>
      <p:sp>
        <p:nvSpPr>
          <p:cNvPr id="52" name="Shape 48"/>
          <p:cNvSpPr/>
          <p:nvPr/>
        </p:nvSpPr>
        <p:spPr>
          <a:xfrm>
            <a:off x="6309360" y="5552896"/>
            <a:ext cx="182880" cy="182880"/>
          </a:xfrm>
          <a:prstGeom prst="ellipse">
            <a:avLst/>
          </a:prstGeom>
          <a:solidFill>
            <a:srgbClr val="E07B00"/>
          </a:solidFill>
          <a:ln w="12700">
            <a:solidFill>
              <a:srgbClr val="E07B00"/>
            </a:solidFill>
            <a:prstDash val="solid"/>
          </a:ln>
        </p:spPr>
      </p:sp>
      <p:sp>
        <p:nvSpPr>
          <p:cNvPr id="53" name="Text 49"/>
          <p:cNvSpPr txBox="1"/>
          <p:nvPr/>
        </p:nvSpPr>
        <p:spPr>
          <a:xfrm>
            <a:off x="6309360" y="5552896"/>
            <a:ext cx="1828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900" dirty="0"/>
          </a:p>
        </p:txBody>
      </p:sp>
      <p:sp>
        <p:nvSpPr>
          <p:cNvPr id="54" name="Text 50"/>
          <p:cNvSpPr txBox="1"/>
          <p:nvPr/>
        </p:nvSpPr>
        <p:spPr>
          <a:xfrm>
            <a:off x="6565392" y="5534608"/>
            <a:ext cx="41605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1626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GO / NO-GO verdict for this pump</a:t>
            </a:r>
            <a:endParaRPr lang="en-US" sz="1050" dirty="0"/>
          </a:p>
        </p:txBody>
      </p:sp>
      <p:sp>
        <p:nvSpPr>
          <p:cNvPr id="55" name="Shape 51"/>
          <p:cNvSpPr/>
          <p:nvPr/>
        </p:nvSpPr>
        <p:spPr>
          <a:xfrm>
            <a:off x="6309360" y="5754064"/>
            <a:ext cx="182880" cy="182880"/>
          </a:xfrm>
          <a:prstGeom prst="ellipse">
            <a:avLst/>
          </a:prstGeom>
          <a:solidFill>
            <a:srgbClr val="E07B00"/>
          </a:solidFill>
          <a:ln w="12700">
            <a:solidFill>
              <a:srgbClr val="E07B00"/>
            </a:solidFill>
            <a:prstDash val="solid"/>
          </a:ln>
        </p:spPr>
      </p:sp>
      <p:sp>
        <p:nvSpPr>
          <p:cNvPr id="56" name="Text 52"/>
          <p:cNvSpPr txBox="1"/>
          <p:nvPr/>
        </p:nvSpPr>
        <p:spPr>
          <a:xfrm>
            <a:off x="6309360" y="5754064"/>
            <a:ext cx="1828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900" dirty="0"/>
          </a:p>
        </p:txBody>
      </p:sp>
      <p:sp>
        <p:nvSpPr>
          <p:cNvPr id="57" name="Text 53"/>
          <p:cNvSpPr txBox="1"/>
          <p:nvPr/>
        </p:nvSpPr>
        <p:spPr>
          <a:xfrm>
            <a:off x="6565392" y="5735776"/>
            <a:ext cx="41605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1626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Annual saving in ₹</a:t>
            </a:r>
            <a:endParaRPr lang="en-US" sz="1050" dirty="0"/>
          </a:p>
        </p:txBody>
      </p:sp>
      <p:sp>
        <p:nvSpPr>
          <p:cNvPr id="58" name="Shape 54"/>
          <p:cNvSpPr/>
          <p:nvPr/>
        </p:nvSpPr>
        <p:spPr>
          <a:xfrm>
            <a:off x="6309360" y="5955232"/>
            <a:ext cx="182880" cy="182880"/>
          </a:xfrm>
          <a:prstGeom prst="ellipse">
            <a:avLst/>
          </a:prstGeom>
          <a:solidFill>
            <a:srgbClr val="E07B00"/>
          </a:solidFill>
          <a:ln w="12700">
            <a:solidFill>
              <a:srgbClr val="E07B00"/>
            </a:solidFill>
            <a:prstDash val="solid"/>
          </a:ln>
        </p:spPr>
      </p:sp>
      <p:sp>
        <p:nvSpPr>
          <p:cNvPr id="59" name="Text 55"/>
          <p:cNvSpPr txBox="1"/>
          <p:nvPr/>
        </p:nvSpPr>
        <p:spPr>
          <a:xfrm>
            <a:off x="6309360" y="5955232"/>
            <a:ext cx="1828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900" dirty="0"/>
          </a:p>
        </p:txBody>
      </p:sp>
      <p:sp>
        <p:nvSpPr>
          <p:cNvPr id="60" name="Text 56"/>
          <p:cNvSpPr txBox="1"/>
          <p:nvPr/>
        </p:nvSpPr>
        <p:spPr>
          <a:xfrm>
            <a:off x="6565392" y="5936944"/>
            <a:ext cx="41605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1626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Break-even month</a:t>
            </a:r>
            <a:endParaRPr lang="en-US" sz="1050" dirty="0"/>
          </a:p>
        </p:txBody>
      </p:sp>
      <p:sp>
        <p:nvSpPr>
          <p:cNvPr id="61" name="Text 57"/>
          <p:cNvSpPr txBox="1"/>
          <p:nvPr/>
        </p:nvSpPr>
        <p:spPr>
          <a:xfrm>
            <a:off x="548640" y="6254496"/>
            <a:ext cx="111099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dirty="0">
                <a:solidFill>
                  <a:srgbClr val="0E5A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₹69,292 / ₹1,27,178 per year  ·  valve 83–93% of waste  ·  payback 4–19 months  ·  ±3 / ±10 points</a:t>
            </a:r>
            <a:endParaRPr lang="en-US" sz="11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47120" y="6473952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5655D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l"/>
            <a:fld id="{F7021451-1387-4CA6-816F-3879F97B5CBC}" type="slidenum">
              <a:rPr b="0" lang="en-US"/>
              <a:t>7</a:t>
            </a:fld>
            <a:endParaRPr lang="en-US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274320"/>
            <a:ext cx="1106424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000" b="1" dirty="0">
                <a:solidFill>
                  <a:srgbClr val="0E5A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Prototype: Upload Your Own Logs</a:t>
            </a:r>
            <a:endParaRPr lang="en-US" sz="30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868680"/>
            <a:ext cx="11064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rgbClr val="55655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Not just a replay: the dashboard calibrates from a CSV you load.</a:t>
            </a:r>
            <a:endParaRPr lang="en-US" sz="1600" dirty="0"/>
          </a:p>
        </p:txBody>
      </p:sp>
      <p:sp>
        <p:nvSpPr>
          <p:cNvPr id="4" name="Shape 2"/>
          <p:cNvSpPr/>
          <p:nvPr/>
        </p:nvSpPr>
        <p:spPr>
          <a:xfrm>
            <a:off x="548640" y="1280160"/>
            <a:ext cx="4343400" cy="4769134"/>
          </a:xfrm>
          <a:prstGeom prst="roundRect">
            <a:avLst>
              <a:gd name="adj" fmla="val 1263"/>
            </a:avLst>
          </a:prstGeom>
          <a:solidFill>
            <a:srgbClr val="FFFFFF"/>
          </a:solidFill>
          <a:ln w="19050">
            <a:solidFill>
              <a:srgbClr val="0E5A32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566928" y="1298448"/>
            <a:ext cx="4306824" cy="228600"/>
          </a:xfrm>
          <a:prstGeom prst="rect">
            <a:avLst/>
          </a:prstGeom>
          <a:solidFill>
            <a:srgbClr val="E3F2E7"/>
          </a:solidFill>
          <a:ln w="12700">
            <a:solidFill>
              <a:srgbClr val="E3F2E7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658368" y="1353312"/>
            <a:ext cx="91440" cy="91440"/>
          </a:xfrm>
          <a:prstGeom prst="ellipse">
            <a:avLst/>
          </a:prstGeom>
          <a:solidFill>
            <a:srgbClr val="EF4444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804672" y="1353312"/>
            <a:ext cx="91440" cy="91440"/>
          </a:xfrm>
          <a:prstGeom prst="ellipse">
            <a:avLst/>
          </a:prstGeom>
          <a:solidFill>
            <a:srgbClr val="F59E0B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950976" y="1353312"/>
            <a:ext cx="91440" cy="91440"/>
          </a:xfrm>
          <a:prstGeom prst="ellipse">
            <a:avLst/>
          </a:prstGeom>
          <a:solidFill>
            <a:srgbClr val="3DCD58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1188720" y="1325880"/>
            <a:ext cx="3429000" cy="155448"/>
          </a:xfrm>
          <a:prstGeom prst="roundRect">
            <a:avLst>
              <a:gd name="adj" fmla="val 47059"/>
            </a:avLst>
          </a:prstGeom>
          <a:solidFill>
            <a:srgbClr val="FFFFFF"/>
          </a:solidFill>
          <a:ln w="6350">
            <a:solidFill>
              <a:srgbClr val="BFE3C8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1188720" y="1325880"/>
            <a:ext cx="342900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55655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pumprupee-dashboard.vercel.app</a:t>
            </a:r>
            <a:endParaRPr lang="en-US" sz="800" dirty="0"/>
          </a:p>
        </p:txBody>
      </p:sp>
      <p:pic>
        <p:nvPicPr>
          <p:cNvPr id="11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1527048"/>
            <a:ext cx="4306824" cy="4522246"/>
          </a:xfrm>
          <a:prstGeom prst="rect">
            <a:avLst/>
          </a:prstGeom>
        </p:spPr>
      </p:pic>
      <p:sp>
        <p:nvSpPr>
          <p:cNvPr id="12" name="Shape 9"/>
          <p:cNvSpPr/>
          <p:nvPr/>
        </p:nvSpPr>
        <p:spPr>
          <a:xfrm>
            <a:off x="585929" y="1546049"/>
            <a:ext cx="4268823" cy="652357"/>
          </a:xfrm>
          <a:prstGeom prst="rect">
            <a:avLst/>
          </a:prstGeom>
          <a:solidFill>
            <a:srgbClr val="FFFFFF">
              <a:alpha val="0"/>
            </a:srgbClr>
          </a:solidFill>
          <a:ln w="25400">
            <a:solidFill>
              <a:srgbClr val="E07B00"/>
            </a:solidFill>
            <a:prstDash val="solid"/>
          </a:ln>
        </p:spPr>
      </p:sp>
      <p:sp>
        <p:nvSpPr>
          <p:cNvPr id="13" name="Shape 10"/>
          <p:cNvSpPr/>
          <p:nvPr/>
        </p:nvSpPr>
        <p:spPr>
          <a:xfrm>
            <a:off x="467057" y="1427177"/>
            <a:ext cx="237744" cy="237744"/>
          </a:xfrm>
          <a:prstGeom prst="ellipse">
            <a:avLst/>
          </a:prstGeom>
          <a:solidFill>
            <a:srgbClr val="E07B00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Text 11"/>
          <p:cNvSpPr txBox="1"/>
          <p:nvPr/>
        </p:nvSpPr>
        <p:spPr>
          <a:xfrm>
            <a:off x="467057" y="1427177"/>
            <a:ext cx="23774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000" dirty="0"/>
          </a:p>
        </p:txBody>
      </p:sp>
      <p:sp>
        <p:nvSpPr>
          <p:cNvPr id="15" name="Shape 12"/>
          <p:cNvSpPr/>
          <p:nvPr/>
        </p:nvSpPr>
        <p:spPr>
          <a:xfrm>
            <a:off x="585929" y="2261742"/>
            <a:ext cx="4268823" cy="475017"/>
          </a:xfrm>
          <a:prstGeom prst="rect">
            <a:avLst/>
          </a:prstGeom>
          <a:solidFill>
            <a:srgbClr val="FFFFFF">
              <a:alpha val="0"/>
            </a:srgbClr>
          </a:solidFill>
          <a:ln w="25400">
            <a:solidFill>
              <a:srgbClr val="E07B00"/>
            </a:solidFill>
            <a:prstDash val="solid"/>
          </a:ln>
        </p:spPr>
      </p:sp>
      <p:sp>
        <p:nvSpPr>
          <p:cNvPr id="16" name="Shape 13"/>
          <p:cNvSpPr/>
          <p:nvPr/>
        </p:nvSpPr>
        <p:spPr>
          <a:xfrm>
            <a:off x="467057" y="2142870"/>
            <a:ext cx="237744" cy="237744"/>
          </a:xfrm>
          <a:prstGeom prst="ellipse">
            <a:avLst/>
          </a:prstGeom>
          <a:solidFill>
            <a:srgbClr val="E07B00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Text 14"/>
          <p:cNvSpPr txBox="1"/>
          <p:nvPr/>
        </p:nvSpPr>
        <p:spPr>
          <a:xfrm>
            <a:off x="467057" y="2142870"/>
            <a:ext cx="23774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000" dirty="0"/>
          </a:p>
        </p:txBody>
      </p:sp>
      <p:sp>
        <p:nvSpPr>
          <p:cNvPr id="18" name="Shape 15"/>
          <p:cNvSpPr/>
          <p:nvPr/>
        </p:nvSpPr>
        <p:spPr>
          <a:xfrm>
            <a:off x="585929" y="2800095"/>
            <a:ext cx="4268823" cy="722026"/>
          </a:xfrm>
          <a:prstGeom prst="rect">
            <a:avLst/>
          </a:prstGeom>
          <a:solidFill>
            <a:srgbClr val="FFFFFF">
              <a:alpha val="0"/>
            </a:srgbClr>
          </a:solidFill>
          <a:ln w="25400">
            <a:solidFill>
              <a:srgbClr val="E07B00"/>
            </a:solidFill>
            <a:prstDash val="solid"/>
          </a:ln>
        </p:spPr>
      </p:sp>
      <p:sp>
        <p:nvSpPr>
          <p:cNvPr id="19" name="Shape 16"/>
          <p:cNvSpPr/>
          <p:nvPr/>
        </p:nvSpPr>
        <p:spPr>
          <a:xfrm>
            <a:off x="467057" y="2681223"/>
            <a:ext cx="237744" cy="237744"/>
          </a:xfrm>
          <a:prstGeom prst="ellipse">
            <a:avLst/>
          </a:prstGeom>
          <a:solidFill>
            <a:srgbClr val="E07B00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0" name="Text 17"/>
          <p:cNvSpPr txBox="1"/>
          <p:nvPr/>
        </p:nvSpPr>
        <p:spPr>
          <a:xfrm>
            <a:off x="467057" y="2681223"/>
            <a:ext cx="23774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000" dirty="0"/>
          </a:p>
        </p:txBody>
      </p:sp>
      <p:sp>
        <p:nvSpPr>
          <p:cNvPr id="21" name="Shape 18"/>
          <p:cNvSpPr/>
          <p:nvPr/>
        </p:nvSpPr>
        <p:spPr>
          <a:xfrm>
            <a:off x="548640" y="6095014"/>
            <a:ext cx="3840480" cy="310896"/>
          </a:xfrm>
          <a:prstGeom prst="roundRect">
            <a:avLst>
              <a:gd name="adj" fmla="val 50000"/>
            </a:avLst>
          </a:prstGeom>
          <a:solidFill>
            <a:srgbClr val="E07B00"/>
          </a:solidFill>
          <a:ln w="12700">
            <a:solidFill>
              <a:srgbClr val="E07B00"/>
            </a:solidFill>
            <a:prstDash val="solid"/>
          </a:ln>
        </p:spPr>
      </p:sp>
      <p:sp>
        <p:nvSpPr>
          <p:cNvPr id="22" name="Text 19"/>
          <p:cNvSpPr txBox="1"/>
          <p:nvPr/>
        </p:nvSpPr>
        <p:spPr>
          <a:xfrm>
            <a:off x="548640" y="6095014"/>
            <a:ext cx="38404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Working prototype · sample data</a:t>
            </a:r>
            <a:endParaRPr lang="en-US" sz="1000" dirty="0"/>
          </a:p>
        </p:txBody>
      </p:sp>
      <p:sp>
        <p:nvSpPr>
          <p:cNvPr id="23" name="Shape 20"/>
          <p:cNvSpPr/>
          <p:nvPr/>
        </p:nvSpPr>
        <p:spPr>
          <a:xfrm>
            <a:off x="5212080" y="1280160"/>
            <a:ext cx="6446520" cy="804672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D3DFD7"/>
            </a:solidFill>
            <a:prstDash val="solid"/>
          </a:ln>
        </p:spPr>
      </p:sp>
      <p:sp>
        <p:nvSpPr>
          <p:cNvPr id="24" name="Shape 21"/>
          <p:cNvSpPr/>
          <p:nvPr/>
        </p:nvSpPr>
        <p:spPr>
          <a:xfrm>
            <a:off x="5321808" y="1435608"/>
            <a:ext cx="475488" cy="475488"/>
          </a:xfrm>
          <a:prstGeom prst="ellipse">
            <a:avLst/>
          </a:prstGeom>
          <a:solidFill>
            <a:srgbClr val="0E5A32"/>
          </a:solidFill>
          <a:ln w="12700">
            <a:solidFill>
              <a:srgbClr val="0E5A32"/>
            </a:solidFill>
            <a:prstDash val="solid"/>
          </a:ln>
        </p:spPr>
      </p:sp>
      <p:pic>
        <p:nvPicPr>
          <p:cNvPr id="25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35925" y="1549725"/>
            <a:ext cx="247254" cy="247254"/>
          </a:xfrm>
          <a:prstGeom prst="rect">
            <a:avLst/>
          </a:prstGeom>
        </p:spPr>
      </p:pic>
      <p:sp>
        <p:nvSpPr>
          <p:cNvPr id="26" name="Text 22"/>
          <p:cNvSpPr txBox="1"/>
          <p:nvPr/>
        </p:nvSpPr>
        <p:spPr>
          <a:xfrm>
            <a:off x="5943600" y="1325880"/>
            <a:ext cx="562356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626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Export a CSV</a:t>
            </a:r>
            <a:endParaRPr lang="en-US" sz="1400" dirty="0"/>
          </a:p>
          <a:p>
            <a:pPr indent="0" marL="0">
              <a:buNone/>
            </a:pPr>
            <a:r>
              <a:rPr lang="en-US" sz="1150" dirty="0">
                <a:solidFill>
                  <a:srgbClr val="55655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power_kw, discharge_bar and optional suction_bar, from the ESP32 SD card or any logger.</a:t>
            </a:r>
            <a:endParaRPr lang="en-US" sz="1400" dirty="0"/>
          </a:p>
        </p:txBody>
      </p:sp>
      <p:sp>
        <p:nvSpPr>
          <p:cNvPr id="27" name="Shape 23"/>
          <p:cNvSpPr/>
          <p:nvPr/>
        </p:nvSpPr>
        <p:spPr>
          <a:xfrm>
            <a:off x="5212080" y="2194560"/>
            <a:ext cx="6446520" cy="804672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D3DFD7"/>
            </a:solidFill>
            <a:prstDash val="solid"/>
          </a:ln>
        </p:spPr>
      </p:sp>
      <p:sp>
        <p:nvSpPr>
          <p:cNvPr id="28" name="Shape 24"/>
          <p:cNvSpPr/>
          <p:nvPr/>
        </p:nvSpPr>
        <p:spPr>
          <a:xfrm>
            <a:off x="5321808" y="2350008"/>
            <a:ext cx="475488" cy="475488"/>
          </a:xfrm>
          <a:prstGeom prst="ellipse">
            <a:avLst/>
          </a:prstGeom>
          <a:solidFill>
            <a:srgbClr val="0E5A32"/>
          </a:solidFill>
          <a:ln w="12700">
            <a:solidFill>
              <a:srgbClr val="0E5A32"/>
            </a:solidFill>
            <a:prstDash val="solid"/>
          </a:ln>
        </p:spPr>
      </p:sp>
      <p:pic>
        <p:nvPicPr>
          <p:cNvPr id="29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435925" y="2464125"/>
            <a:ext cx="247254" cy="247254"/>
          </a:xfrm>
          <a:prstGeom prst="rect">
            <a:avLst/>
          </a:prstGeom>
        </p:spPr>
      </p:pic>
      <p:sp>
        <p:nvSpPr>
          <p:cNvPr id="30" name="Text 25"/>
          <p:cNvSpPr txBox="1"/>
          <p:nvPr/>
        </p:nvSpPr>
        <p:spPr>
          <a:xfrm>
            <a:off x="5943600" y="2240280"/>
            <a:ext cx="562356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626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Stays in your browser</a:t>
            </a:r>
            <a:endParaRPr lang="en-US" sz="1400" dirty="0"/>
          </a:p>
          <a:p>
            <a:pPr indent="0" marL="0">
              <a:buNone/>
            </a:pPr>
            <a:r>
              <a:rPr lang="en-US" sz="1150" dirty="0">
                <a:solidFill>
                  <a:srgbClr val="55655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Nothing is uploaded to a server.</a:t>
            </a:r>
            <a:endParaRPr lang="en-US" sz="1400" dirty="0"/>
          </a:p>
        </p:txBody>
      </p:sp>
      <p:sp>
        <p:nvSpPr>
          <p:cNvPr id="31" name="Shape 26"/>
          <p:cNvSpPr/>
          <p:nvPr/>
        </p:nvSpPr>
        <p:spPr>
          <a:xfrm>
            <a:off x="5212080" y="3108960"/>
            <a:ext cx="6446520" cy="804672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D3DFD7"/>
            </a:solidFill>
            <a:prstDash val="solid"/>
          </a:ln>
        </p:spPr>
      </p:sp>
      <p:sp>
        <p:nvSpPr>
          <p:cNvPr id="32" name="Shape 27"/>
          <p:cNvSpPr/>
          <p:nvPr/>
        </p:nvSpPr>
        <p:spPr>
          <a:xfrm>
            <a:off x="5321808" y="3264408"/>
            <a:ext cx="475488" cy="475488"/>
          </a:xfrm>
          <a:prstGeom prst="ellipse">
            <a:avLst/>
          </a:prstGeom>
          <a:solidFill>
            <a:srgbClr val="0E5A32"/>
          </a:solidFill>
          <a:ln w="12700">
            <a:solidFill>
              <a:srgbClr val="0E5A32"/>
            </a:solidFill>
            <a:prstDash val="solid"/>
          </a:ln>
        </p:spPr>
      </p:sp>
      <p:pic>
        <p:nvPicPr>
          <p:cNvPr id="33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435925" y="3378525"/>
            <a:ext cx="247254" cy="247254"/>
          </a:xfrm>
          <a:prstGeom prst="rect">
            <a:avLst/>
          </a:prstGeom>
        </p:spPr>
      </p:pic>
      <p:sp>
        <p:nvSpPr>
          <p:cNvPr id="34" name="Text 28"/>
          <p:cNvSpPr txBox="1"/>
          <p:nvPr/>
        </p:nvSpPr>
        <p:spPr>
          <a:xfrm>
            <a:off x="5943600" y="3154680"/>
            <a:ext cx="562356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626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Calibrate and infer flow</a:t>
            </a:r>
            <a:endParaRPr lang="en-US" sz="1400" dirty="0"/>
          </a:p>
          <a:p>
            <a:pPr indent="0" marL="0">
              <a:buNone/>
            </a:pPr>
            <a:r>
              <a:rPr lang="en-US" sz="1150" dirty="0">
                <a:solidFill>
                  <a:srgbClr val="55655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Fits a head scale and a power scale, then infers flow per record. No flow meter.</a:t>
            </a:r>
            <a:endParaRPr lang="en-US" sz="1400" dirty="0"/>
          </a:p>
        </p:txBody>
      </p:sp>
      <p:sp>
        <p:nvSpPr>
          <p:cNvPr id="35" name="Shape 29"/>
          <p:cNvSpPr/>
          <p:nvPr/>
        </p:nvSpPr>
        <p:spPr>
          <a:xfrm>
            <a:off x="5212080" y="4023360"/>
            <a:ext cx="6446520" cy="804672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D3DFD7"/>
            </a:solidFill>
            <a:prstDash val="solid"/>
          </a:ln>
        </p:spPr>
      </p:sp>
      <p:sp>
        <p:nvSpPr>
          <p:cNvPr id="36" name="Shape 30"/>
          <p:cNvSpPr/>
          <p:nvPr/>
        </p:nvSpPr>
        <p:spPr>
          <a:xfrm>
            <a:off x="5321808" y="4178808"/>
            <a:ext cx="475488" cy="475488"/>
          </a:xfrm>
          <a:prstGeom prst="ellipse">
            <a:avLst/>
          </a:prstGeom>
          <a:solidFill>
            <a:srgbClr val="0E5A32"/>
          </a:solidFill>
          <a:ln w="12700">
            <a:solidFill>
              <a:srgbClr val="0E5A32"/>
            </a:solidFill>
            <a:prstDash val="solid"/>
          </a:ln>
        </p:spPr>
      </p:sp>
      <p:pic>
        <p:nvPicPr>
          <p:cNvPr id="37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435925" y="4292925"/>
            <a:ext cx="247254" cy="247254"/>
          </a:xfrm>
          <a:prstGeom prst="rect">
            <a:avLst/>
          </a:prstGeom>
        </p:spPr>
      </p:pic>
      <p:sp>
        <p:nvSpPr>
          <p:cNvPr id="38" name="Text 31"/>
          <p:cNvSpPr txBox="1"/>
          <p:nvPr/>
        </p:nvSpPr>
        <p:spPr>
          <a:xfrm>
            <a:off x="5943600" y="4069080"/>
            <a:ext cx="562356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626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₹ saving and payback</a:t>
            </a:r>
            <a:endParaRPr lang="en-US" sz="1400" dirty="0"/>
          </a:p>
          <a:p>
            <a:pPr indent="0" marL="0">
              <a:buNone/>
            </a:pPr>
            <a:r>
              <a:rPr lang="en-US" sz="1150" dirty="0">
                <a:solidFill>
                  <a:srgbClr val="55655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SEC, ₹/m³, VFD saving per year and payback for your tariff and VFD price.</a:t>
            </a:r>
            <a:endParaRPr lang="en-US" sz="1400" dirty="0"/>
          </a:p>
        </p:txBody>
      </p:sp>
      <p:sp>
        <p:nvSpPr>
          <p:cNvPr id="39" name="Shape 32"/>
          <p:cNvSpPr/>
          <p:nvPr/>
        </p:nvSpPr>
        <p:spPr>
          <a:xfrm>
            <a:off x="5212080" y="5047488"/>
            <a:ext cx="182880" cy="182880"/>
          </a:xfrm>
          <a:prstGeom prst="ellipse">
            <a:avLst/>
          </a:prstGeom>
          <a:solidFill>
            <a:srgbClr val="E07B00"/>
          </a:solidFill>
          <a:ln w="12700">
            <a:solidFill>
              <a:srgbClr val="E07B00"/>
            </a:solidFill>
            <a:prstDash val="solid"/>
          </a:ln>
        </p:spPr>
      </p:sp>
      <p:sp>
        <p:nvSpPr>
          <p:cNvPr id="40" name="Text 33"/>
          <p:cNvSpPr txBox="1"/>
          <p:nvPr/>
        </p:nvSpPr>
        <p:spPr>
          <a:xfrm>
            <a:off x="5212080" y="5047488"/>
            <a:ext cx="1828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900" dirty="0"/>
          </a:p>
        </p:txBody>
      </p:sp>
      <p:sp>
        <p:nvSpPr>
          <p:cNvPr id="41" name="Text 34"/>
          <p:cNvSpPr txBox="1"/>
          <p:nvPr/>
        </p:nvSpPr>
        <p:spPr>
          <a:xfrm>
            <a:off x="5468112" y="5029200"/>
            <a:ext cx="61722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1626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Calibrated pump scales found from the logs</a:t>
            </a:r>
            <a:endParaRPr lang="en-US" sz="1150" dirty="0"/>
          </a:p>
        </p:txBody>
      </p:sp>
      <p:sp>
        <p:nvSpPr>
          <p:cNvPr id="42" name="Shape 35"/>
          <p:cNvSpPr/>
          <p:nvPr/>
        </p:nvSpPr>
        <p:spPr>
          <a:xfrm>
            <a:off x="5212080" y="5294376"/>
            <a:ext cx="182880" cy="182880"/>
          </a:xfrm>
          <a:prstGeom prst="ellipse">
            <a:avLst/>
          </a:prstGeom>
          <a:solidFill>
            <a:srgbClr val="E07B00"/>
          </a:solidFill>
          <a:ln w="12700">
            <a:solidFill>
              <a:srgbClr val="E07B00"/>
            </a:solidFill>
            <a:prstDash val="solid"/>
          </a:ln>
        </p:spPr>
      </p:sp>
      <p:sp>
        <p:nvSpPr>
          <p:cNvPr id="43" name="Text 36"/>
          <p:cNvSpPr txBox="1"/>
          <p:nvPr/>
        </p:nvSpPr>
        <p:spPr>
          <a:xfrm>
            <a:off x="5212080" y="5294376"/>
            <a:ext cx="1828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900" dirty="0"/>
          </a:p>
        </p:txBody>
      </p:sp>
      <p:sp>
        <p:nvSpPr>
          <p:cNvPr id="44" name="Text 37"/>
          <p:cNvSpPr txBox="1"/>
          <p:nvPr/>
        </p:nvSpPr>
        <p:spPr>
          <a:xfrm>
            <a:off x="5468112" y="5276088"/>
            <a:ext cx="61722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1626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Forecast VFD saving, running cost, CO₂</a:t>
            </a:r>
            <a:endParaRPr lang="en-US" sz="1150" dirty="0"/>
          </a:p>
        </p:txBody>
      </p:sp>
      <p:sp>
        <p:nvSpPr>
          <p:cNvPr id="45" name="Shape 38"/>
          <p:cNvSpPr/>
          <p:nvPr/>
        </p:nvSpPr>
        <p:spPr>
          <a:xfrm>
            <a:off x="5212080" y="5541264"/>
            <a:ext cx="182880" cy="182880"/>
          </a:xfrm>
          <a:prstGeom prst="ellipse">
            <a:avLst/>
          </a:prstGeom>
          <a:solidFill>
            <a:srgbClr val="E07B00"/>
          </a:solidFill>
          <a:ln w="12700">
            <a:solidFill>
              <a:srgbClr val="E07B00"/>
            </a:solidFill>
            <a:prstDash val="solid"/>
          </a:ln>
        </p:spPr>
      </p:sp>
      <p:sp>
        <p:nvSpPr>
          <p:cNvPr id="46" name="Text 39"/>
          <p:cNvSpPr txBox="1"/>
          <p:nvPr/>
        </p:nvSpPr>
        <p:spPr>
          <a:xfrm>
            <a:off x="5212080" y="5541264"/>
            <a:ext cx="1828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900" dirty="0"/>
          </a:p>
        </p:txBody>
      </p:sp>
      <p:sp>
        <p:nvSpPr>
          <p:cNvPr id="47" name="Text 40"/>
          <p:cNvSpPr txBox="1"/>
          <p:nvPr/>
        </p:nvSpPr>
        <p:spPr>
          <a:xfrm>
            <a:off x="5468112" y="5522976"/>
            <a:ext cx="61722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1626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VFD payback and GO / NO-GO</a:t>
            </a:r>
            <a:endParaRPr lang="en-US" sz="1150" dirty="0"/>
          </a:p>
        </p:txBody>
      </p:sp>
      <p:sp>
        <p:nvSpPr>
          <p:cNvPr id="48" name="Shape 41"/>
          <p:cNvSpPr/>
          <p:nvPr/>
        </p:nvSpPr>
        <p:spPr>
          <a:xfrm>
            <a:off x="5212080" y="5852160"/>
            <a:ext cx="6446520" cy="502920"/>
          </a:xfrm>
          <a:prstGeom prst="roundRect">
            <a:avLst>
              <a:gd name="adj" fmla="val 14545"/>
            </a:avLst>
          </a:prstGeom>
          <a:solidFill>
            <a:srgbClr val="FFF4E5"/>
          </a:solidFill>
          <a:ln w="19050">
            <a:solidFill>
              <a:srgbClr val="E07B00"/>
            </a:solidFill>
            <a:prstDash val="solid"/>
          </a:ln>
        </p:spPr>
      </p:sp>
      <p:sp>
        <p:nvSpPr>
          <p:cNvPr id="49" name="Text 42"/>
          <p:cNvSpPr txBox="1"/>
          <p:nvPr/>
        </p:nvSpPr>
        <p:spPr>
          <a:xfrm>
            <a:off x="5303520" y="5852160"/>
            <a:ext cx="62636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E07B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Limits: reference pump (Grundfos NB 65-160/157) only; system curve assumed, so about ±10 points unless measured.</a:t>
            </a:r>
            <a:endParaRPr lang="en-US" sz="11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47120" y="6473952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5655D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l"/>
            <a:fld id="{F7021451-1387-4CA6-816F-3879F97B5CBC}" type="slidenum">
              <a:rPr b="0" lang="en-US"/>
              <a:t>8</a:t>
            </a:fld>
            <a:endParaRPr lang="en-US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274320"/>
            <a:ext cx="1106424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000" b="1" dirty="0">
                <a:solidFill>
                  <a:srgbClr val="0E5A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Innovation</a:t>
            </a:r>
            <a:endParaRPr lang="en-US" sz="30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868680"/>
            <a:ext cx="11064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rgbClr val="55655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 build on proven tools. The new part is the integration for MSMEs.</a:t>
            </a:r>
            <a:endParaRPr lang="en-US" sz="1600" dirty="0"/>
          </a:p>
        </p:txBody>
      </p:sp>
      <p:sp>
        <p:nvSpPr>
          <p:cNvPr id="4" name="Shape 2"/>
          <p:cNvSpPr/>
          <p:nvPr/>
        </p:nvSpPr>
        <p:spPr>
          <a:xfrm>
            <a:off x="548640" y="1325880"/>
            <a:ext cx="4480560" cy="2148840"/>
          </a:xfrm>
          <a:prstGeom prst="roundRect">
            <a:avLst>
              <a:gd name="adj" fmla="val 3404"/>
            </a:avLst>
          </a:prstGeom>
          <a:solidFill>
            <a:srgbClr val="FFFFFF"/>
          </a:solidFill>
          <a:ln w="12700">
            <a:solidFill>
              <a:srgbClr val="D3DFD7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85800" y="1371600"/>
            <a:ext cx="42062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55655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Already exists (we build on it)</a:t>
            </a:r>
            <a:endParaRPr lang="en-US" sz="1400" dirty="0"/>
          </a:p>
        </p:txBody>
      </p:sp>
      <p:sp>
        <p:nvSpPr>
          <p:cNvPr id="6" name="Text 4"/>
          <p:cNvSpPr txBox="1"/>
          <p:nvPr/>
        </p:nvSpPr>
        <p:spPr>
          <a:xfrm>
            <a:off x="685800" y="1691640"/>
            <a:ext cx="420624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200" dirty="0">
                <a:solidFill>
                  <a:srgbClr val="1626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KSB PumpMeter, US DOE PSAT</a:t>
            </a:r>
            <a:endParaRPr lang="en-US" sz="120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200" dirty="0">
                <a:solidFill>
                  <a:srgbClr val="1626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Samotics (motor-current efficiency)</a:t>
            </a:r>
            <a:endParaRPr lang="en-US" sz="120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200" dirty="0">
                <a:solidFill>
                  <a:srgbClr val="1626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Schneider Altivar Process (sensorless flow), EcoStruxure</a:t>
            </a:r>
            <a:endParaRPr lang="en-US" sz="120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200" dirty="0">
                <a:solidFill>
                  <a:srgbClr val="1626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Indian IoT vendors and ESCOs</a:t>
            </a:r>
            <a:endParaRPr lang="en-US" sz="120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200" dirty="0">
                <a:solidFill>
                  <a:srgbClr val="1626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Shapley split and CUSUM: known methods</a:t>
            </a:r>
            <a:endParaRPr lang="en-US" sz="1200" dirty="0"/>
          </a:p>
        </p:txBody>
      </p:sp>
      <p:sp>
        <p:nvSpPr>
          <p:cNvPr id="7" name="Shape 5"/>
          <p:cNvSpPr/>
          <p:nvPr/>
        </p:nvSpPr>
        <p:spPr>
          <a:xfrm>
            <a:off x="548640" y="3611880"/>
            <a:ext cx="4480560" cy="2194560"/>
          </a:xfrm>
          <a:prstGeom prst="roundRect">
            <a:avLst>
              <a:gd name="adj" fmla="val 3333"/>
            </a:avLst>
          </a:prstGeom>
          <a:solidFill>
            <a:srgbClr val="E3F6E8"/>
          </a:solidFill>
          <a:ln w="31750">
            <a:solidFill>
              <a:srgbClr val="3DCD58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685800" y="3657600"/>
            <a:ext cx="42062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0E5A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Our integration</a:t>
            </a:r>
            <a:endParaRPr lang="en-US" sz="1400" dirty="0"/>
          </a:p>
        </p:txBody>
      </p:sp>
      <p:sp>
        <p:nvSpPr>
          <p:cNvPr id="9" name="Text 7"/>
          <p:cNvSpPr txBox="1"/>
          <p:nvPr/>
        </p:nvSpPr>
        <p:spPr>
          <a:xfrm>
            <a:off x="685800" y="3977640"/>
            <a:ext cx="4206240" cy="1783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200" dirty="0">
                <a:solidFill>
                  <a:srgbClr val="1626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₹ waste split by cause</a:t>
            </a:r>
            <a:endParaRPr lang="en-US" sz="120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200" dirty="0">
                <a:solidFill>
                  <a:srgbClr val="1626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Prices the value of an extra sensor</a:t>
            </a:r>
            <a:endParaRPr lang="en-US" sz="120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200" dirty="0">
                <a:solidFill>
                  <a:srgbClr val="1626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Low-cost shared kit, no flow meter</a:t>
            </a:r>
            <a:endParaRPr lang="en-US" sz="120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200" dirty="0">
                <a:solidFill>
                  <a:srgbClr val="1626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Built-in before/after verification</a:t>
            </a:r>
            <a:endParaRPr lang="en-US" sz="120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200" dirty="0">
                <a:solidFill>
                  <a:srgbClr val="1626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Pump-specific VFD verdict before capex</a:t>
            </a:r>
            <a:endParaRPr lang="en-US" sz="1200" dirty="0"/>
          </a:p>
        </p:txBody>
      </p:sp>
      <p:sp>
        <p:nvSpPr>
          <p:cNvPr id="10" name="Shape 8"/>
          <p:cNvSpPr/>
          <p:nvPr/>
        </p:nvSpPr>
        <p:spPr>
          <a:xfrm>
            <a:off x="7315200" y="1325880"/>
            <a:ext cx="1051560" cy="502920"/>
          </a:xfrm>
          <a:prstGeom prst="roundRect">
            <a:avLst>
              <a:gd name="adj" fmla="val 9091"/>
            </a:avLst>
          </a:prstGeom>
          <a:solidFill>
            <a:srgbClr val="E8EEEA"/>
          </a:solidFill>
          <a:ln w="12700">
            <a:solidFill>
              <a:srgbClr val="D3DFD7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7315200" y="1325880"/>
            <a:ext cx="10515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626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Flow meter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8412480" y="1325880"/>
            <a:ext cx="1051560" cy="502920"/>
          </a:xfrm>
          <a:prstGeom prst="roundRect">
            <a:avLst>
              <a:gd name="adj" fmla="val 9091"/>
            </a:avLst>
          </a:prstGeom>
          <a:solidFill>
            <a:srgbClr val="E8EEEA"/>
          </a:solidFill>
          <a:ln w="12700">
            <a:solidFill>
              <a:srgbClr val="D3DFD7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8412480" y="1325880"/>
            <a:ext cx="10515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626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Manual audit</a:t>
            </a:r>
            <a:endParaRPr lang="en-US" sz="1100" dirty="0"/>
          </a:p>
        </p:txBody>
      </p:sp>
      <p:sp>
        <p:nvSpPr>
          <p:cNvPr id="14" name="Shape 12"/>
          <p:cNvSpPr/>
          <p:nvPr/>
        </p:nvSpPr>
        <p:spPr>
          <a:xfrm>
            <a:off x="9509760" y="1325880"/>
            <a:ext cx="1051560" cy="502920"/>
          </a:xfrm>
          <a:prstGeom prst="roundRect">
            <a:avLst>
              <a:gd name="adj" fmla="val 9091"/>
            </a:avLst>
          </a:prstGeom>
          <a:solidFill>
            <a:srgbClr val="E8EEEA"/>
          </a:solidFill>
          <a:ln w="12700">
            <a:solidFill>
              <a:srgbClr val="D3DFD7"/>
            </a:solidFill>
            <a:prstDash val="solid"/>
          </a:ln>
        </p:spPr>
      </p:sp>
      <p:sp>
        <p:nvSpPr>
          <p:cNvPr id="15" name="Text 13"/>
          <p:cNvSpPr txBox="1"/>
          <p:nvPr/>
        </p:nvSpPr>
        <p:spPr>
          <a:xfrm>
            <a:off x="9509760" y="1325880"/>
            <a:ext cx="10515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626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Full platform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10607040" y="1325880"/>
            <a:ext cx="1051560" cy="502920"/>
          </a:xfrm>
          <a:prstGeom prst="roundRect">
            <a:avLst>
              <a:gd name="adj" fmla="val 9091"/>
            </a:avLst>
          </a:prstGeom>
          <a:solidFill>
            <a:srgbClr val="0E5A32"/>
          </a:solidFill>
          <a:ln w="12700">
            <a:solidFill>
              <a:srgbClr val="0E5A32"/>
            </a:solidFill>
            <a:prstDash val="solid"/>
          </a:ln>
        </p:spPr>
      </p:sp>
      <p:sp>
        <p:nvSpPr>
          <p:cNvPr id="17" name="Text 15"/>
          <p:cNvSpPr txBox="1"/>
          <p:nvPr/>
        </p:nvSpPr>
        <p:spPr>
          <a:xfrm>
            <a:off x="10607040" y="1325880"/>
            <a:ext cx="10515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PumpRupee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5303520" y="1892808"/>
            <a:ext cx="6355080" cy="457200"/>
          </a:xfrm>
          <a:prstGeom prst="rect">
            <a:avLst/>
          </a:prstGeom>
          <a:solidFill>
            <a:srgbClr val="FFFFFF"/>
          </a:solidFill>
          <a:ln w="6350">
            <a:solidFill>
              <a:srgbClr val="D3DFD7"/>
            </a:solidFill>
            <a:prstDash val="solid"/>
          </a:ln>
        </p:spPr>
      </p:sp>
      <p:sp>
        <p:nvSpPr>
          <p:cNvPr id="19" name="Text 17"/>
          <p:cNvSpPr txBox="1"/>
          <p:nvPr/>
        </p:nvSpPr>
        <p:spPr>
          <a:xfrm>
            <a:off x="5394960" y="1892808"/>
            <a:ext cx="19202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1626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Upfront cost, small plant</a:t>
            </a:r>
            <a:endParaRPr lang="en-US" sz="1150" dirty="0"/>
          </a:p>
        </p:txBody>
      </p:sp>
      <p:sp>
        <p:nvSpPr>
          <p:cNvPr id="20" name="Text 18"/>
          <p:cNvSpPr txBox="1"/>
          <p:nvPr/>
        </p:nvSpPr>
        <p:spPr>
          <a:xfrm>
            <a:off x="7315200" y="1892808"/>
            <a:ext cx="10515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626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Meter + install</a:t>
            </a:r>
            <a:endParaRPr lang="en-US" sz="1000" dirty="0"/>
          </a:p>
        </p:txBody>
      </p:sp>
      <p:sp>
        <p:nvSpPr>
          <p:cNvPr id="21" name="Text 19"/>
          <p:cNvSpPr txBox="1"/>
          <p:nvPr/>
        </p:nvSpPr>
        <p:spPr>
          <a:xfrm>
            <a:off x="8412480" y="1892808"/>
            <a:ext cx="10515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626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Fee per visit</a:t>
            </a:r>
            <a:endParaRPr lang="en-US" sz="1000" dirty="0"/>
          </a:p>
        </p:txBody>
      </p:sp>
      <p:sp>
        <p:nvSpPr>
          <p:cNvPr id="22" name="Text 20"/>
          <p:cNvSpPr txBox="1"/>
          <p:nvPr/>
        </p:nvSpPr>
        <p:spPr>
          <a:xfrm>
            <a:off x="9509760" y="1892808"/>
            <a:ext cx="10515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626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Higher</a:t>
            </a:r>
            <a:endParaRPr lang="en-US" sz="1000" dirty="0"/>
          </a:p>
        </p:txBody>
      </p:sp>
      <p:sp>
        <p:nvSpPr>
          <p:cNvPr id="23" name="Text 21"/>
          <p:cNvSpPr txBox="1"/>
          <p:nvPr/>
        </p:nvSpPr>
        <p:spPr>
          <a:xfrm>
            <a:off x="10607040" y="1892808"/>
            <a:ext cx="10515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E5A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₹6,100–13,300</a:t>
            </a:r>
            <a:endParaRPr lang="en-US" sz="1000" dirty="0"/>
          </a:p>
        </p:txBody>
      </p:sp>
      <p:sp>
        <p:nvSpPr>
          <p:cNvPr id="24" name="Shape 22"/>
          <p:cNvSpPr/>
          <p:nvPr/>
        </p:nvSpPr>
        <p:spPr>
          <a:xfrm>
            <a:off x="5303520" y="2377440"/>
            <a:ext cx="6355080" cy="457200"/>
          </a:xfrm>
          <a:prstGeom prst="rect">
            <a:avLst/>
          </a:prstGeom>
          <a:solidFill>
            <a:srgbClr val="EEF4F0"/>
          </a:solidFill>
          <a:ln w="6350">
            <a:solidFill>
              <a:srgbClr val="D3DFD7"/>
            </a:solidFill>
            <a:prstDash val="solid"/>
          </a:ln>
        </p:spPr>
      </p:sp>
      <p:sp>
        <p:nvSpPr>
          <p:cNvPr id="25" name="Text 23"/>
          <p:cNvSpPr txBox="1"/>
          <p:nvPr/>
        </p:nvSpPr>
        <p:spPr>
          <a:xfrm>
            <a:off x="5394960" y="2377440"/>
            <a:ext cx="19202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1626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 shutdown</a:t>
            </a:r>
            <a:endParaRPr lang="en-US" sz="1150" dirty="0"/>
          </a:p>
        </p:txBody>
      </p:sp>
      <p:pic>
        <p:nvPicPr>
          <p:cNvPr id="2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680960" y="2468880"/>
            <a:ext cx="274320" cy="274320"/>
          </a:xfrm>
          <a:prstGeom prst="rect">
            <a:avLst/>
          </a:prstGeom>
        </p:spPr>
      </p:pic>
      <p:pic>
        <p:nvPicPr>
          <p:cNvPr id="27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778240" y="2468880"/>
            <a:ext cx="274320" cy="274320"/>
          </a:xfrm>
          <a:prstGeom prst="rect">
            <a:avLst/>
          </a:prstGeom>
        </p:spPr>
      </p:pic>
      <p:pic>
        <p:nvPicPr>
          <p:cNvPr id="28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875520" y="2468880"/>
            <a:ext cx="274320" cy="274320"/>
          </a:xfrm>
          <a:prstGeom prst="rect">
            <a:avLst/>
          </a:prstGeom>
        </p:spPr>
      </p:pic>
      <p:pic>
        <p:nvPicPr>
          <p:cNvPr id="29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0972800" y="2468880"/>
            <a:ext cx="274320" cy="274320"/>
          </a:xfrm>
          <a:prstGeom prst="rect">
            <a:avLst/>
          </a:prstGeom>
        </p:spPr>
      </p:pic>
      <p:sp>
        <p:nvSpPr>
          <p:cNvPr id="30" name="Shape 24"/>
          <p:cNvSpPr/>
          <p:nvPr/>
        </p:nvSpPr>
        <p:spPr>
          <a:xfrm>
            <a:off x="5303520" y="2862072"/>
            <a:ext cx="6355080" cy="457200"/>
          </a:xfrm>
          <a:prstGeom prst="rect">
            <a:avLst/>
          </a:prstGeom>
          <a:solidFill>
            <a:srgbClr val="FFFFFF"/>
          </a:solidFill>
          <a:ln w="6350">
            <a:solidFill>
              <a:srgbClr val="D3DFD7"/>
            </a:solidFill>
            <a:prstDash val="solid"/>
          </a:ln>
        </p:spPr>
      </p:sp>
      <p:sp>
        <p:nvSpPr>
          <p:cNvPr id="31" name="Text 25"/>
          <p:cNvSpPr txBox="1"/>
          <p:nvPr/>
        </p:nvSpPr>
        <p:spPr>
          <a:xfrm>
            <a:off x="5394960" y="2862072"/>
            <a:ext cx="19202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1626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Answer in ₹</a:t>
            </a:r>
            <a:endParaRPr lang="en-US" sz="1150" dirty="0"/>
          </a:p>
        </p:txBody>
      </p:sp>
      <p:pic>
        <p:nvPicPr>
          <p:cNvPr id="32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680960" y="2953512"/>
            <a:ext cx="274320" cy="274320"/>
          </a:xfrm>
          <a:prstGeom prst="rect">
            <a:avLst/>
          </a:prstGeom>
        </p:spPr>
      </p:pic>
      <p:pic>
        <p:nvPicPr>
          <p:cNvPr id="33" name="Image 5" descr="preencoded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8778240" y="2953512"/>
            <a:ext cx="274320" cy="274320"/>
          </a:xfrm>
          <a:prstGeom prst="rect">
            <a:avLst/>
          </a:prstGeom>
        </p:spPr>
      </p:pic>
      <p:pic>
        <p:nvPicPr>
          <p:cNvPr id="34" name="Image 6" descr="preencoded.png">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9875520" y="2953512"/>
            <a:ext cx="274320" cy="274320"/>
          </a:xfrm>
          <a:prstGeom prst="rect">
            <a:avLst/>
          </a:prstGeom>
        </p:spPr>
      </p:pic>
      <p:pic>
        <p:nvPicPr>
          <p:cNvPr id="35" name="Image 7" descr="preencoded.png">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10972800" y="2953512"/>
            <a:ext cx="274320" cy="274320"/>
          </a:xfrm>
          <a:prstGeom prst="rect">
            <a:avLst/>
          </a:prstGeom>
        </p:spPr>
      </p:pic>
      <p:sp>
        <p:nvSpPr>
          <p:cNvPr id="36" name="Shape 26"/>
          <p:cNvSpPr/>
          <p:nvPr/>
        </p:nvSpPr>
        <p:spPr>
          <a:xfrm>
            <a:off x="5303520" y="3346704"/>
            <a:ext cx="6355080" cy="457200"/>
          </a:xfrm>
          <a:prstGeom prst="rect">
            <a:avLst/>
          </a:prstGeom>
          <a:solidFill>
            <a:srgbClr val="EEF4F0"/>
          </a:solidFill>
          <a:ln w="6350">
            <a:solidFill>
              <a:srgbClr val="D3DFD7"/>
            </a:solidFill>
            <a:prstDash val="solid"/>
          </a:ln>
        </p:spPr>
      </p:sp>
      <p:sp>
        <p:nvSpPr>
          <p:cNvPr id="37" name="Text 27"/>
          <p:cNvSpPr txBox="1"/>
          <p:nvPr/>
        </p:nvSpPr>
        <p:spPr>
          <a:xfrm>
            <a:off x="5394960" y="3346704"/>
            <a:ext cx="19202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1626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Cause breakdown</a:t>
            </a:r>
            <a:endParaRPr lang="en-US" sz="1150" dirty="0"/>
          </a:p>
        </p:txBody>
      </p:sp>
      <p:pic>
        <p:nvPicPr>
          <p:cNvPr id="38" name="Image 8" descr="preencoded.png">    </p:cNvPr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7680960" y="3438144"/>
            <a:ext cx="274320" cy="274320"/>
          </a:xfrm>
          <a:prstGeom prst="rect">
            <a:avLst/>
          </a:prstGeom>
        </p:spPr>
      </p:pic>
      <p:pic>
        <p:nvPicPr>
          <p:cNvPr id="39" name="Image 9" descr="preencoded.png">    </p:cNvPr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8778240" y="3438144"/>
            <a:ext cx="274320" cy="274320"/>
          </a:xfrm>
          <a:prstGeom prst="rect">
            <a:avLst/>
          </a:prstGeom>
        </p:spPr>
      </p:pic>
      <p:pic>
        <p:nvPicPr>
          <p:cNvPr id="40" name="Image 10" descr="preencoded.png">    </p:cNvPr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9875520" y="3438144"/>
            <a:ext cx="274320" cy="274320"/>
          </a:xfrm>
          <a:prstGeom prst="rect">
            <a:avLst/>
          </a:prstGeom>
        </p:spPr>
      </p:pic>
      <p:pic>
        <p:nvPicPr>
          <p:cNvPr id="41" name="Image 11" descr="preencoded.png">    </p:cNvPr>
          <p:cNvPicPr>
            <a:picLocks noChangeAspect="1"/>
          </p:cNvPicPr>
          <p:nvPr/>
        </p:nvPicPr>
        <p:blipFill>
          <a:blip r:embed="rId12"/>
          <a:stretch>
            <a:fillRect/>
          </a:stretch>
        </p:blipFill>
        <p:spPr>
          <a:xfrm>
            <a:off x="10972800" y="3438144"/>
            <a:ext cx="274320" cy="274320"/>
          </a:xfrm>
          <a:prstGeom prst="rect">
            <a:avLst/>
          </a:prstGeom>
        </p:spPr>
      </p:pic>
      <p:sp>
        <p:nvSpPr>
          <p:cNvPr id="42" name="Shape 28"/>
          <p:cNvSpPr/>
          <p:nvPr/>
        </p:nvSpPr>
        <p:spPr>
          <a:xfrm>
            <a:off x="5303520" y="3831336"/>
            <a:ext cx="6355080" cy="457200"/>
          </a:xfrm>
          <a:prstGeom prst="rect">
            <a:avLst/>
          </a:prstGeom>
          <a:solidFill>
            <a:srgbClr val="FFFFFF"/>
          </a:solidFill>
          <a:ln w="6350">
            <a:solidFill>
              <a:srgbClr val="D3DFD7"/>
            </a:solidFill>
            <a:prstDash val="solid"/>
          </a:ln>
        </p:spPr>
      </p:sp>
      <p:sp>
        <p:nvSpPr>
          <p:cNvPr id="43" name="Text 29"/>
          <p:cNvSpPr txBox="1"/>
          <p:nvPr/>
        </p:nvSpPr>
        <p:spPr>
          <a:xfrm>
            <a:off x="5394960" y="3831336"/>
            <a:ext cx="19202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1626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VFD verdict</a:t>
            </a:r>
            <a:endParaRPr lang="en-US" sz="1150" dirty="0"/>
          </a:p>
        </p:txBody>
      </p:sp>
      <p:pic>
        <p:nvPicPr>
          <p:cNvPr id="44" name="Image 12" descr="preencoded.png">    </p:cNvPr>
          <p:cNvPicPr>
            <a:picLocks noChangeAspect="1"/>
          </p:cNvPicPr>
          <p:nvPr/>
        </p:nvPicPr>
        <p:blipFill>
          <a:blip r:embed="rId13"/>
          <a:stretch>
            <a:fillRect/>
          </a:stretch>
        </p:blipFill>
        <p:spPr>
          <a:xfrm>
            <a:off x="7680960" y="3922776"/>
            <a:ext cx="274320" cy="274320"/>
          </a:xfrm>
          <a:prstGeom prst="rect">
            <a:avLst/>
          </a:prstGeom>
        </p:spPr>
      </p:pic>
      <p:pic>
        <p:nvPicPr>
          <p:cNvPr id="45" name="Image 13" descr="preencoded.png">    </p:cNvPr>
          <p:cNvPicPr>
            <a:picLocks noChangeAspect="1"/>
          </p:cNvPicPr>
          <p:nvPr/>
        </p:nvPicPr>
        <p:blipFill>
          <a:blip r:embed="rId14"/>
          <a:stretch>
            <a:fillRect/>
          </a:stretch>
        </p:blipFill>
        <p:spPr>
          <a:xfrm>
            <a:off x="8778240" y="3922776"/>
            <a:ext cx="274320" cy="274320"/>
          </a:xfrm>
          <a:prstGeom prst="rect">
            <a:avLst/>
          </a:prstGeom>
        </p:spPr>
      </p:pic>
      <p:pic>
        <p:nvPicPr>
          <p:cNvPr id="46" name="Image 14" descr="preencoded.png">    </p:cNvPr>
          <p:cNvPicPr>
            <a:picLocks noChangeAspect="1"/>
          </p:cNvPicPr>
          <p:nvPr/>
        </p:nvPicPr>
        <p:blipFill>
          <a:blip r:embed="rId15"/>
          <a:stretch>
            <a:fillRect/>
          </a:stretch>
        </p:blipFill>
        <p:spPr>
          <a:xfrm>
            <a:off x="9875520" y="3922776"/>
            <a:ext cx="274320" cy="274320"/>
          </a:xfrm>
          <a:prstGeom prst="rect">
            <a:avLst/>
          </a:prstGeom>
        </p:spPr>
      </p:pic>
      <p:pic>
        <p:nvPicPr>
          <p:cNvPr id="47" name="Image 15" descr="preencoded.png">    </p:cNvPr>
          <p:cNvPicPr>
            <a:picLocks noChangeAspect="1"/>
          </p:cNvPicPr>
          <p:nvPr/>
        </p:nvPicPr>
        <p:blipFill>
          <a:blip r:embed="rId16"/>
          <a:stretch>
            <a:fillRect/>
          </a:stretch>
        </p:blipFill>
        <p:spPr>
          <a:xfrm>
            <a:off x="10972800" y="3922776"/>
            <a:ext cx="274320" cy="274320"/>
          </a:xfrm>
          <a:prstGeom prst="rect">
            <a:avLst/>
          </a:prstGeom>
        </p:spPr>
      </p:pic>
      <p:sp>
        <p:nvSpPr>
          <p:cNvPr id="48" name="Shape 30"/>
          <p:cNvSpPr/>
          <p:nvPr/>
        </p:nvSpPr>
        <p:spPr>
          <a:xfrm>
            <a:off x="5303520" y="4315968"/>
            <a:ext cx="6355080" cy="457200"/>
          </a:xfrm>
          <a:prstGeom prst="rect">
            <a:avLst/>
          </a:prstGeom>
          <a:solidFill>
            <a:srgbClr val="EEF4F0"/>
          </a:solidFill>
          <a:ln w="6350">
            <a:solidFill>
              <a:srgbClr val="D3DFD7"/>
            </a:solidFill>
            <a:prstDash val="solid"/>
          </a:ln>
        </p:spPr>
      </p:sp>
      <p:sp>
        <p:nvSpPr>
          <p:cNvPr id="49" name="Text 31"/>
          <p:cNvSpPr txBox="1"/>
          <p:nvPr/>
        </p:nvSpPr>
        <p:spPr>
          <a:xfrm>
            <a:off x="5394960" y="4315968"/>
            <a:ext cx="19202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1626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Verified savings</a:t>
            </a:r>
            <a:endParaRPr lang="en-US" sz="1150" dirty="0"/>
          </a:p>
        </p:txBody>
      </p:sp>
      <p:pic>
        <p:nvPicPr>
          <p:cNvPr id="50" name="Image 16" descr="preencoded.png">    </p:cNvPr>
          <p:cNvPicPr>
            <a:picLocks noChangeAspect="1"/>
          </p:cNvPicPr>
          <p:nvPr/>
        </p:nvPicPr>
        <p:blipFill>
          <a:blip r:embed="rId17"/>
          <a:stretch>
            <a:fillRect/>
          </a:stretch>
        </p:blipFill>
        <p:spPr>
          <a:xfrm>
            <a:off x="7680960" y="4407408"/>
            <a:ext cx="274320" cy="274320"/>
          </a:xfrm>
          <a:prstGeom prst="rect">
            <a:avLst/>
          </a:prstGeom>
        </p:spPr>
      </p:pic>
      <p:pic>
        <p:nvPicPr>
          <p:cNvPr id="51" name="Image 17" descr="preencoded.png">    </p:cNvPr>
          <p:cNvPicPr>
            <a:picLocks noChangeAspect="1"/>
          </p:cNvPicPr>
          <p:nvPr/>
        </p:nvPicPr>
        <p:blipFill>
          <a:blip r:embed="rId18"/>
          <a:stretch>
            <a:fillRect/>
          </a:stretch>
        </p:blipFill>
        <p:spPr>
          <a:xfrm>
            <a:off x="8778240" y="4407408"/>
            <a:ext cx="274320" cy="274320"/>
          </a:xfrm>
          <a:prstGeom prst="rect">
            <a:avLst/>
          </a:prstGeom>
        </p:spPr>
      </p:pic>
      <p:pic>
        <p:nvPicPr>
          <p:cNvPr id="52" name="Image 18" descr="preencoded.png">    </p:cNvPr>
          <p:cNvPicPr>
            <a:picLocks noChangeAspect="1"/>
          </p:cNvPicPr>
          <p:nvPr/>
        </p:nvPicPr>
        <p:blipFill>
          <a:blip r:embed="rId19"/>
          <a:stretch>
            <a:fillRect/>
          </a:stretch>
        </p:blipFill>
        <p:spPr>
          <a:xfrm>
            <a:off x="9875520" y="4407408"/>
            <a:ext cx="274320" cy="274320"/>
          </a:xfrm>
          <a:prstGeom prst="rect">
            <a:avLst/>
          </a:prstGeom>
        </p:spPr>
      </p:pic>
      <p:pic>
        <p:nvPicPr>
          <p:cNvPr id="53" name="Image 19" descr="preencoded.png">    </p:cNvPr>
          <p:cNvPicPr>
            <a:picLocks noChangeAspect="1"/>
          </p:cNvPicPr>
          <p:nvPr/>
        </p:nvPicPr>
        <p:blipFill>
          <a:blip r:embed="rId20"/>
          <a:stretch>
            <a:fillRect/>
          </a:stretch>
        </p:blipFill>
        <p:spPr>
          <a:xfrm>
            <a:off x="10972800" y="4407408"/>
            <a:ext cx="274320" cy="274320"/>
          </a:xfrm>
          <a:prstGeom prst="rect">
            <a:avLst/>
          </a:prstGeom>
        </p:spPr>
      </p:pic>
      <p:sp>
        <p:nvSpPr>
          <p:cNvPr id="54" name="Shape 32"/>
          <p:cNvSpPr/>
          <p:nvPr/>
        </p:nvSpPr>
        <p:spPr>
          <a:xfrm>
            <a:off x="5303520" y="4800600"/>
            <a:ext cx="6355080" cy="457200"/>
          </a:xfrm>
          <a:prstGeom prst="rect">
            <a:avLst/>
          </a:prstGeom>
          <a:solidFill>
            <a:srgbClr val="FFFFFF"/>
          </a:solidFill>
          <a:ln w="6350">
            <a:solidFill>
              <a:srgbClr val="D3DFD7"/>
            </a:solidFill>
            <a:prstDash val="solid"/>
          </a:ln>
        </p:spPr>
      </p:sp>
      <p:sp>
        <p:nvSpPr>
          <p:cNvPr id="55" name="Text 33"/>
          <p:cNvSpPr txBox="1"/>
          <p:nvPr/>
        </p:nvSpPr>
        <p:spPr>
          <a:xfrm>
            <a:off x="5394960" y="4800600"/>
            <a:ext cx="19202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1626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Fits small MSMEs</a:t>
            </a:r>
            <a:endParaRPr lang="en-US" sz="1150" dirty="0"/>
          </a:p>
        </p:txBody>
      </p:sp>
      <p:pic>
        <p:nvPicPr>
          <p:cNvPr id="56" name="Image 20" descr="preencoded.png">    </p:cNvPr>
          <p:cNvPicPr>
            <a:picLocks noChangeAspect="1"/>
          </p:cNvPicPr>
          <p:nvPr/>
        </p:nvPicPr>
        <p:blipFill>
          <a:blip r:embed="rId21"/>
          <a:stretch>
            <a:fillRect/>
          </a:stretch>
        </p:blipFill>
        <p:spPr>
          <a:xfrm>
            <a:off x="7680960" y="4892040"/>
            <a:ext cx="274320" cy="274320"/>
          </a:xfrm>
          <a:prstGeom prst="rect">
            <a:avLst/>
          </a:prstGeom>
        </p:spPr>
      </p:pic>
      <p:pic>
        <p:nvPicPr>
          <p:cNvPr id="57" name="Image 21" descr="preencoded.png">    </p:cNvPr>
          <p:cNvPicPr>
            <a:picLocks noChangeAspect="1"/>
          </p:cNvPicPr>
          <p:nvPr/>
        </p:nvPicPr>
        <p:blipFill>
          <a:blip r:embed="rId22"/>
          <a:stretch>
            <a:fillRect/>
          </a:stretch>
        </p:blipFill>
        <p:spPr>
          <a:xfrm>
            <a:off x="8778240" y="4892040"/>
            <a:ext cx="274320" cy="274320"/>
          </a:xfrm>
          <a:prstGeom prst="rect">
            <a:avLst/>
          </a:prstGeom>
        </p:spPr>
      </p:pic>
      <p:pic>
        <p:nvPicPr>
          <p:cNvPr id="58" name="Image 22" descr="preencoded.png">    </p:cNvPr>
          <p:cNvPicPr>
            <a:picLocks noChangeAspect="1"/>
          </p:cNvPicPr>
          <p:nvPr/>
        </p:nvPicPr>
        <p:blipFill>
          <a:blip r:embed="rId23"/>
          <a:stretch>
            <a:fillRect/>
          </a:stretch>
        </p:blipFill>
        <p:spPr>
          <a:xfrm>
            <a:off x="9875520" y="4892040"/>
            <a:ext cx="274320" cy="274320"/>
          </a:xfrm>
          <a:prstGeom prst="rect">
            <a:avLst/>
          </a:prstGeom>
        </p:spPr>
      </p:pic>
      <p:pic>
        <p:nvPicPr>
          <p:cNvPr id="59" name="Image 23" descr="preencoded.png">    </p:cNvPr>
          <p:cNvPicPr>
            <a:picLocks noChangeAspect="1"/>
          </p:cNvPicPr>
          <p:nvPr/>
        </p:nvPicPr>
        <p:blipFill>
          <a:blip r:embed="rId24"/>
          <a:stretch>
            <a:fillRect/>
          </a:stretch>
        </p:blipFill>
        <p:spPr>
          <a:xfrm>
            <a:off x="10972800" y="4892040"/>
            <a:ext cx="274320" cy="274320"/>
          </a:xfrm>
          <a:prstGeom prst="rect">
            <a:avLst/>
          </a:prstGeom>
        </p:spPr>
      </p:pic>
      <p:sp>
        <p:nvSpPr>
          <p:cNvPr id="60" name="Text 34"/>
          <p:cNvSpPr txBox="1"/>
          <p:nvPr/>
        </p:nvSpPr>
        <p:spPr>
          <a:xfrm>
            <a:off x="5303520" y="5303520"/>
            <a:ext cx="6309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i="1" dirty="0">
                <a:solidFill>
                  <a:srgbClr val="55655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✔ yes  ~ partly / varies  ✘ no. Our general assessment; PumpRupee's ticks are design targets (simulated).</a:t>
            </a:r>
            <a:endParaRPr lang="en-US" sz="950" dirty="0"/>
          </a:p>
        </p:txBody>
      </p:sp>
      <p:sp>
        <p:nvSpPr>
          <p:cNvPr id="61" name="Shape 35"/>
          <p:cNvSpPr/>
          <p:nvPr/>
        </p:nvSpPr>
        <p:spPr>
          <a:xfrm>
            <a:off x="548640" y="5897880"/>
            <a:ext cx="11109960" cy="502920"/>
          </a:xfrm>
          <a:prstGeom prst="roundRect">
            <a:avLst>
              <a:gd name="adj" fmla="val 18182"/>
            </a:avLst>
          </a:prstGeom>
          <a:solidFill>
            <a:srgbClr val="0E5A32"/>
          </a:solidFill>
          <a:ln w="12700">
            <a:solidFill>
              <a:srgbClr val="0E5A32"/>
            </a:solidFill>
            <a:prstDash val="solid"/>
          </a:ln>
        </p:spPr>
      </p:sp>
      <p:sp>
        <p:nvSpPr>
          <p:cNvPr id="62" name="Text 36"/>
          <p:cNvSpPr txBox="1"/>
          <p:nvPr/>
        </p:nvSpPr>
        <p:spPr>
          <a:xfrm>
            <a:off x="548640" y="5897880"/>
            <a:ext cx="111099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 found no low-cost shared kit that combines these. Full platforms are the next step after PumpRupee.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47120" y="6473952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5655D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l"/>
            <a:fld id="{F7021451-1387-4CA6-816F-3879F97B5CBC}" type="slidenum">
              <a:rPr b="0" lang="en-US"/>
              <a:t>9</a:t>
            </a:fld>
            <a:endParaRPr lang="en-US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274320"/>
            <a:ext cx="1106424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000" b="1" dirty="0">
                <a:solidFill>
                  <a:srgbClr val="0E5A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Expected Impact</a:t>
            </a:r>
            <a:endParaRPr lang="en-US" sz="3000" dirty="0"/>
          </a:p>
        </p:txBody>
      </p:sp>
      <p:sp>
        <p:nvSpPr>
          <p:cNvPr id="3" name="Shape 1"/>
          <p:cNvSpPr/>
          <p:nvPr/>
        </p:nvSpPr>
        <p:spPr>
          <a:xfrm>
            <a:off x="548640" y="896112"/>
            <a:ext cx="4937760" cy="310896"/>
          </a:xfrm>
          <a:prstGeom prst="roundRect">
            <a:avLst>
              <a:gd name="adj" fmla="val 50000"/>
            </a:avLst>
          </a:prstGeom>
          <a:solidFill>
            <a:srgbClr val="E07B00"/>
          </a:solidFill>
          <a:ln w="12700">
            <a:solidFill>
              <a:srgbClr val="E07B00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548640" y="896112"/>
            <a:ext cx="49377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SIMULATED – per 11 kW pump; prices indicative, not quotes</a:t>
            </a:r>
            <a:endParaRPr lang="en-US" sz="1100" dirty="0"/>
          </a:p>
        </p:txBody>
      </p:sp>
      <p:sp>
        <p:nvSpPr>
          <p:cNvPr id="5" name="Shape 3"/>
          <p:cNvSpPr/>
          <p:nvPr/>
        </p:nvSpPr>
        <p:spPr>
          <a:xfrm>
            <a:off x="548640" y="1371600"/>
            <a:ext cx="6583680" cy="3154680"/>
          </a:xfrm>
          <a:prstGeom prst="roundRect">
            <a:avLst>
              <a:gd name="adj" fmla="val 2319"/>
            </a:avLst>
          </a:prstGeom>
          <a:solidFill>
            <a:srgbClr val="FFFFFF"/>
          </a:solidFill>
          <a:ln w="12700">
            <a:solidFill>
              <a:srgbClr val="D3DFD7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685800" y="1435608"/>
            <a:ext cx="63093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0E5A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one-time kit vs a yearly saving (₹)</a:t>
            </a:r>
            <a:endParaRPr lang="en-US" sz="1500" dirty="0"/>
          </a:p>
        </p:txBody>
      </p:sp>
      <p:sp>
        <p:nvSpPr>
          <p:cNvPr id="7" name="Text 5"/>
          <p:cNvSpPr txBox="1"/>
          <p:nvPr/>
        </p:nvSpPr>
        <p:spPr>
          <a:xfrm>
            <a:off x="685800" y="1828800"/>
            <a:ext cx="6309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1626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Kit, one-time and reusable (top tier)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685800" y="2130552"/>
            <a:ext cx="497255" cy="365760"/>
          </a:xfrm>
          <a:prstGeom prst="rect">
            <a:avLst/>
          </a:prstGeom>
          <a:solidFill>
            <a:srgbClr val="9AA5A0"/>
          </a:solidFill>
          <a:ln w="12700">
            <a:solidFill>
              <a:srgbClr val="9AA5A0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1274495" y="2130552"/>
            <a:ext cx="12801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626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₹13,300</a:t>
            </a:r>
            <a:endParaRPr lang="en-US" sz="1400" dirty="0"/>
          </a:p>
        </p:txBody>
      </p:sp>
      <p:sp>
        <p:nvSpPr>
          <p:cNvPr id="10" name="Text 8"/>
          <p:cNvSpPr txBox="1"/>
          <p:nvPr/>
        </p:nvSpPr>
        <p:spPr>
          <a:xfrm>
            <a:off x="685800" y="2606040"/>
            <a:ext cx="6309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1626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Saving per year, constant pressure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685800" y="2907792"/>
            <a:ext cx="2590661" cy="365760"/>
          </a:xfrm>
          <a:prstGeom prst="rect">
            <a:avLst/>
          </a:prstGeom>
          <a:solidFill>
            <a:srgbClr val="3DCD58"/>
          </a:solidFill>
          <a:ln w="12700">
            <a:solidFill>
              <a:srgbClr val="3DCD58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3367901" y="2907792"/>
            <a:ext cx="12801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626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₹69,292</a:t>
            </a:r>
            <a:endParaRPr lang="en-US" sz="1400" dirty="0"/>
          </a:p>
        </p:txBody>
      </p:sp>
      <p:sp>
        <p:nvSpPr>
          <p:cNvPr id="13" name="Text 11"/>
          <p:cNvSpPr txBox="1"/>
          <p:nvPr/>
        </p:nvSpPr>
        <p:spPr>
          <a:xfrm>
            <a:off x="685800" y="3383280"/>
            <a:ext cx="6309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1626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Saving per year, proportional pressure</a:t>
            </a:r>
            <a:endParaRPr lang="en-US" sz="1200" dirty="0"/>
          </a:p>
        </p:txBody>
      </p:sp>
      <p:sp>
        <p:nvSpPr>
          <p:cNvPr id="14" name="Shape 12"/>
          <p:cNvSpPr/>
          <p:nvPr/>
        </p:nvSpPr>
        <p:spPr>
          <a:xfrm>
            <a:off x="685800" y="3685032"/>
            <a:ext cx="4754880" cy="365760"/>
          </a:xfrm>
          <a:prstGeom prst="rect">
            <a:avLst/>
          </a:prstGeom>
          <a:solidFill>
            <a:srgbClr val="0E5A32"/>
          </a:solidFill>
          <a:ln w="12700">
            <a:solidFill>
              <a:srgbClr val="0E5A32"/>
            </a:solidFill>
            <a:prstDash val="solid"/>
          </a:ln>
        </p:spPr>
      </p:sp>
      <p:sp>
        <p:nvSpPr>
          <p:cNvPr id="15" name="Text 13"/>
          <p:cNvSpPr txBox="1"/>
          <p:nvPr/>
        </p:nvSpPr>
        <p:spPr>
          <a:xfrm>
            <a:off x="5532120" y="3685032"/>
            <a:ext cx="12801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626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₹1,27,178</a:t>
            </a:r>
            <a:endParaRPr lang="en-US" sz="1400" dirty="0"/>
          </a:p>
        </p:txBody>
      </p:sp>
      <p:sp>
        <p:nvSpPr>
          <p:cNvPr id="16" name="Text 14"/>
          <p:cNvSpPr txBox="1"/>
          <p:nvPr/>
        </p:nvSpPr>
        <p:spPr>
          <a:xfrm>
            <a:off x="685800" y="4206240"/>
            <a:ext cx="6309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rgbClr val="0E5A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One kit ≈ 5–19% of a year's simulated saving on one pump.</a:t>
            </a:r>
            <a:endParaRPr lang="en-US" sz="1200" dirty="0"/>
          </a:p>
        </p:txBody>
      </p:sp>
      <p:sp>
        <p:nvSpPr>
          <p:cNvPr id="17" name="Shape 15"/>
          <p:cNvSpPr/>
          <p:nvPr/>
        </p:nvSpPr>
        <p:spPr>
          <a:xfrm>
            <a:off x="7315200" y="1371600"/>
            <a:ext cx="4343400" cy="960120"/>
          </a:xfrm>
          <a:prstGeom prst="roundRect">
            <a:avLst>
              <a:gd name="adj" fmla="val 7619"/>
            </a:avLst>
          </a:prstGeom>
          <a:solidFill>
            <a:srgbClr val="FFFFFF"/>
          </a:solidFill>
          <a:ln w="12700">
            <a:solidFill>
              <a:srgbClr val="D3DFD7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7452360" y="1572768"/>
            <a:ext cx="548640" cy="548640"/>
          </a:xfrm>
          <a:prstGeom prst="ellipse">
            <a:avLst/>
          </a:prstGeom>
          <a:solidFill>
            <a:srgbClr val="0E5A32"/>
          </a:solidFill>
          <a:ln w="12700">
            <a:solidFill>
              <a:srgbClr val="0E5A32"/>
            </a:solidFill>
            <a:prstDash val="solid"/>
          </a:ln>
        </p:spPr>
      </p:sp>
      <p:pic>
        <p:nvPicPr>
          <p:cNvPr id="19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584034" y="1704442"/>
            <a:ext cx="285293" cy="285293"/>
          </a:xfrm>
          <a:prstGeom prst="rect">
            <a:avLst/>
          </a:prstGeom>
        </p:spPr>
      </p:pic>
      <p:sp>
        <p:nvSpPr>
          <p:cNvPr id="20" name="Text 17"/>
          <p:cNvSpPr txBox="1"/>
          <p:nvPr/>
        </p:nvSpPr>
        <p:spPr>
          <a:xfrm>
            <a:off x="8138160" y="1444752"/>
            <a:ext cx="34290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0E5A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6.1–11.3 t</a:t>
            </a:r>
            <a:endParaRPr lang="en-US" sz="1800" dirty="0"/>
          </a:p>
          <a:p>
            <a:pPr indent="0" marL="0">
              <a:buNone/>
            </a:pPr>
            <a:r>
              <a:rPr lang="en-US" sz="1050" dirty="0">
                <a:solidFill>
                  <a:srgbClr val="55655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CO₂ avoided per pump per year (0.710 kg/kWh)</a:t>
            </a:r>
            <a:endParaRPr lang="en-US" sz="1800" dirty="0"/>
          </a:p>
        </p:txBody>
      </p:sp>
      <p:sp>
        <p:nvSpPr>
          <p:cNvPr id="21" name="Shape 18"/>
          <p:cNvSpPr/>
          <p:nvPr/>
        </p:nvSpPr>
        <p:spPr>
          <a:xfrm>
            <a:off x="7315200" y="2450592"/>
            <a:ext cx="4343400" cy="960120"/>
          </a:xfrm>
          <a:prstGeom prst="roundRect">
            <a:avLst>
              <a:gd name="adj" fmla="val 7619"/>
            </a:avLst>
          </a:prstGeom>
          <a:solidFill>
            <a:srgbClr val="FFFFFF"/>
          </a:solidFill>
          <a:ln w="12700">
            <a:solidFill>
              <a:srgbClr val="D3DFD7"/>
            </a:solidFill>
            <a:prstDash val="solid"/>
          </a:ln>
        </p:spPr>
      </p:sp>
      <p:sp>
        <p:nvSpPr>
          <p:cNvPr id="22" name="Shape 19"/>
          <p:cNvSpPr/>
          <p:nvPr/>
        </p:nvSpPr>
        <p:spPr>
          <a:xfrm>
            <a:off x="7452360" y="2651760"/>
            <a:ext cx="548640" cy="548640"/>
          </a:xfrm>
          <a:prstGeom prst="ellipse">
            <a:avLst/>
          </a:prstGeom>
          <a:solidFill>
            <a:srgbClr val="E07B00"/>
          </a:solidFill>
          <a:ln w="12700">
            <a:solidFill>
              <a:srgbClr val="E07B00"/>
            </a:solidFill>
            <a:prstDash val="solid"/>
          </a:ln>
        </p:spPr>
      </p:sp>
      <p:pic>
        <p:nvPicPr>
          <p:cNvPr id="23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584034" y="2783434"/>
            <a:ext cx="285293" cy="285293"/>
          </a:xfrm>
          <a:prstGeom prst="rect">
            <a:avLst/>
          </a:prstGeom>
        </p:spPr>
      </p:pic>
      <p:sp>
        <p:nvSpPr>
          <p:cNvPr id="24" name="Text 20"/>
          <p:cNvSpPr txBox="1"/>
          <p:nvPr/>
        </p:nvSpPr>
        <p:spPr>
          <a:xfrm>
            <a:off x="8138160" y="2523744"/>
            <a:ext cx="34290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0E5A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₹50,200–1,09,400</a:t>
            </a:r>
            <a:endParaRPr lang="en-US" sz="1800" dirty="0"/>
          </a:p>
          <a:p>
            <a:pPr indent="0" marL="0">
              <a:buNone/>
            </a:pPr>
            <a:r>
              <a:rPr lang="en-US" sz="1050" dirty="0">
                <a:solidFill>
                  <a:srgbClr val="55655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wrong VFD purchase avoided where it won't pay back</a:t>
            </a:r>
            <a:endParaRPr lang="en-US" sz="1800" dirty="0"/>
          </a:p>
        </p:txBody>
      </p:sp>
      <p:sp>
        <p:nvSpPr>
          <p:cNvPr id="25" name="Shape 21"/>
          <p:cNvSpPr/>
          <p:nvPr/>
        </p:nvSpPr>
        <p:spPr>
          <a:xfrm>
            <a:off x="7315200" y="3529584"/>
            <a:ext cx="4343400" cy="960120"/>
          </a:xfrm>
          <a:prstGeom prst="roundRect">
            <a:avLst>
              <a:gd name="adj" fmla="val 7619"/>
            </a:avLst>
          </a:prstGeom>
          <a:solidFill>
            <a:srgbClr val="FFFFFF"/>
          </a:solidFill>
          <a:ln w="12700">
            <a:solidFill>
              <a:srgbClr val="D3DFD7"/>
            </a:solidFill>
            <a:prstDash val="solid"/>
          </a:ln>
        </p:spPr>
      </p:sp>
      <p:sp>
        <p:nvSpPr>
          <p:cNvPr id="26" name="Shape 22"/>
          <p:cNvSpPr/>
          <p:nvPr/>
        </p:nvSpPr>
        <p:spPr>
          <a:xfrm>
            <a:off x="7452360" y="3730752"/>
            <a:ext cx="548640" cy="548640"/>
          </a:xfrm>
          <a:prstGeom prst="ellipse">
            <a:avLst/>
          </a:prstGeom>
          <a:solidFill>
            <a:srgbClr val="0E5A32"/>
          </a:solidFill>
          <a:ln w="12700">
            <a:solidFill>
              <a:srgbClr val="0E5A32"/>
            </a:solidFill>
            <a:prstDash val="solid"/>
          </a:ln>
        </p:spPr>
      </p:sp>
      <p:pic>
        <p:nvPicPr>
          <p:cNvPr id="27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584034" y="3862426"/>
            <a:ext cx="285293" cy="285293"/>
          </a:xfrm>
          <a:prstGeom prst="rect">
            <a:avLst/>
          </a:prstGeom>
        </p:spPr>
      </p:pic>
      <p:sp>
        <p:nvSpPr>
          <p:cNvPr id="28" name="Text 23"/>
          <p:cNvSpPr txBox="1"/>
          <p:nvPr/>
        </p:nvSpPr>
        <p:spPr>
          <a:xfrm>
            <a:off x="8138160" y="3602736"/>
            <a:ext cx="34290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0E5A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4–19 months</a:t>
            </a:r>
            <a:endParaRPr lang="en-US" sz="1800" dirty="0"/>
          </a:p>
          <a:p>
            <a:pPr indent="0" marL="0">
              <a:buNone/>
            </a:pPr>
            <a:r>
              <a:rPr lang="en-US" sz="1050" dirty="0">
                <a:solidFill>
                  <a:srgbClr val="55655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payback, oversized pump (2–4+ years if right-sized, high lift)</a:t>
            </a:r>
            <a:endParaRPr lang="en-US" sz="1800" dirty="0"/>
          </a:p>
        </p:txBody>
      </p:sp>
      <p:sp>
        <p:nvSpPr>
          <p:cNvPr id="29" name="Text 24"/>
          <p:cNvSpPr txBox="1"/>
          <p:nvPr/>
        </p:nvSpPr>
        <p:spPr>
          <a:xfrm>
            <a:off x="548640" y="4709160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0E5A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Who benefits</a:t>
            </a:r>
            <a:endParaRPr lang="en-US" sz="1400" dirty="0"/>
          </a:p>
        </p:txBody>
      </p:sp>
      <p:sp>
        <p:nvSpPr>
          <p:cNvPr id="30" name="Shape 25"/>
          <p:cNvSpPr/>
          <p:nvPr/>
        </p:nvSpPr>
        <p:spPr>
          <a:xfrm>
            <a:off x="548640" y="5029200"/>
            <a:ext cx="1828800" cy="310896"/>
          </a:xfrm>
          <a:prstGeom prst="roundRect">
            <a:avLst>
              <a:gd name="adj" fmla="val 50000"/>
            </a:avLst>
          </a:prstGeom>
          <a:solidFill>
            <a:srgbClr val="0E5A32"/>
          </a:solidFill>
          <a:ln w="12700">
            <a:solidFill>
              <a:srgbClr val="0E5A32"/>
            </a:solidFill>
            <a:prstDash val="solid"/>
          </a:ln>
        </p:spPr>
      </p:sp>
      <p:sp>
        <p:nvSpPr>
          <p:cNvPr id="31" name="Text 26"/>
          <p:cNvSpPr txBox="1"/>
          <p:nvPr/>
        </p:nvSpPr>
        <p:spPr>
          <a:xfrm>
            <a:off x="548640" y="5029200"/>
            <a:ext cx="18288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MSME plant owners</a:t>
            </a:r>
            <a:endParaRPr lang="en-US" sz="1050" dirty="0"/>
          </a:p>
        </p:txBody>
      </p:sp>
      <p:sp>
        <p:nvSpPr>
          <p:cNvPr id="32" name="Shape 27"/>
          <p:cNvSpPr/>
          <p:nvPr/>
        </p:nvSpPr>
        <p:spPr>
          <a:xfrm>
            <a:off x="2560320" y="5029200"/>
            <a:ext cx="1645920" cy="310896"/>
          </a:xfrm>
          <a:prstGeom prst="roundRect">
            <a:avLst>
              <a:gd name="adj" fmla="val 50000"/>
            </a:avLst>
          </a:prstGeom>
          <a:solidFill>
            <a:srgbClr val="2E7D5B"/>
          </a:solidFill>
          <a:ln w="12700">
            <a:solidFill>
              <a:srgbClr val="2E7D5B"/>
            </a:solidFill>
            <a:prstDash val="solid"/>
          </a:ln>
        </p:spPr>
      </p:sp>
      <p:sp>
        <p:nvSpPr>
          <p:cNvPr id="33" name="Text 28"/>
          <p:cNvSpPr txBox="1"/>
          <p:nvPr/>
        </p:nvSpPr>
        <p:spPr>
          <a:xfrm>
            <a:off x="2560320" y="5029200"/>
            <a:ext cx="16459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Maintenance teams</a:t>
            </a:r>
            <a:endParaRPr lang="en-US" sz="1050" dirty="0"/>
          </a:p>
        </p:txBody>
      </p:sp>
      <p:sp>
        <p:nvSpPr>
          <p:cNvPr id="34" name="Shape 29"/>
          <p:cNvSpPr/>
          <p:nvPr/>
        </p:nvSpPr>
        <p:spPr>
          <a:xfrm>
            <a:off x="4297680" y="5029200"/>
            <a:ext cx="2103120" cy="310896"/>
          </a:xfrm>
          <a:prstGeom prst="roundRect">
            <a:avLst>
              <a:gd name="adj" fmla="val 50000"/>
            </a:avLst>
          </a:prstGeom>
          <a:solidFill>
            <a:srgbClr val="0E5A32"/>
          </a:solidFill>
          <a:ln w="12700">
            <a:solidFill>
              <a:srgbClr val="0E5A32"/>
            </a:solidFill>
            <a:prstDash val="solid"/>
          </a:ln>
        </p:spPr>
      </p:sp>
      <p:sp>
        <p:nvSpPr>
          <p:cNvPr id="35" name="Text 30"/>
          <p:cNvSpPr txBox="1"/>
          <p:nvPr/>
        </p:nvSpPr>
        <p:spPr>
          <a:xfrm>
            <a:off x="4297680" y="5029200"/>
            <a:ext cx="21031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Energy auditors / ESCOs</a:t>
            </a:r>
            <a:endParaRPr lang="en-US" sz="1050" dirty="0"/>
          </a:p>
        </p:txBody>
      </p:sp>
      <p:sp>
        <p:nvSpPr>
          <p:cNvPr id="36" name="Shape 31"/>
          <p:cNvSpPr/>
          <p:nvPr/>
        </p:nvSpPr>
        <p:spPr>
          <a:xfrm>
            <a:off x="6492240" y="5029200"/>
            <a:ext cx="1737360" cy="310896"/>
          </a:xfrm>
          <a:prstGeom prst="roundRect">
            <a:avLst>
              <a:gd name="adj" fmla="val 50000"/>
            </a:avLst>
          </a:prstGeom>
          <a:solidFill>
            <a:srgbClr val="2E7D5B"/>
          </a:solidFill>
          <a:ln w="12700">
            <a:solidFill>
              <a:srgbClr val="2E7D5B"/>
            </a:solidFill>
            <a:prstDash val="solid"/>
          </a:ln>
        </p:spPr>
      </p:sp>
      <p:sp>
        <p:nvSpPr>
          <p:cNvPr id="37" name="Text 32"/>
          <p:cNvSpPr txBox="1"/>
          <p:nvPr/>
        </p:nvSpPr>
        <p:spPr>
          <a:xfrm>
            <a:off x="6492240" y="5029200"/>
            <a:ext cx="17373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Drive channel partners</a:t>
            </a:r>
            <a:endParaRPr lang="en-US" sz="1050" dirty="0"/>
          </a:p>
        </p:txBody>
      </p:sp>
      <p:sp>
        <p:nvSpPr>
          <p:cNvPr id="38" name="Shape 33"/>
          <p:cNvSpPr/>
          <p:nvPr/>
        </p:nvSpPr>
        <p:spPr>
          <a:xfrm>
            <a:off x="8321040" y="5029200"/>
            <a:ext cx="2926080" cy="310896"/>
          </a:xfrm>
          <a:prstGeom prst="roundRect">
            <a:avLst>
              <a:gd name="adj" fmla="val 50000"/>
            </a:avLst>
          </a:prstGeom>
          <a:solidFill>
            <a:srgbClr val="0E5A32"/>
          </a:solidFill>
          <a:ln w="12700">
            <a:solidFill>
              <a:srgbClr val="0E5A32"/>
            </a:solidFill>
            <a:prstDash val="solid"/>
          </a:ln>
        </p:spPr>
      </p:sp>
      <p:sp>
        <p:nvSpPr>
          <p:cNvPr id="39" name="Text 34"/>
          <p:cNvSpPr txBox="1"/>
          <p:nvPr/>
        </p:nvSpPr>
        <p:spPr>
          <a:xfrm>
            <a:off x="8321040" y="5029200"/>
            <a:ext cx="29260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India's industrial efficiency goals</a:t>
            </a:r>
            <a:endParaRPr lang="en-US" sz="1050" dirty="0"/>
          </a:p>
        </p:txBody>
      </p:sp>
      <p:sp>
        <p:nvSpPr>
          <p:cNvPr id="40" name="Shape 35"/>
          <p:cNvSpPr/>
          <p:nvPr/>
        </p:nvSpPr>
        <p:spPr>
          <a:xfrm>
            <a:off x="548640" y="5486400"/>
            <a:ext cx="11109960" cy="822960"/>
          </a:xfrm>
          <a:prstGeom prst="roundRect">
            <a:avLst>
              <a:gd name="adj" fmla="val 8889"/>
            </a:avLst>
          </a:prstGeom>
          <a:solidFill>
            <a:srgbClr val="FFF4E5"/>
          </a:solidFill>
          <a:ln w="19050">
            <a:solidFill>
              <a:srgbClr val="E07B00"/>
            </a:solidFill>
            <a:prstDash val="solid"/>
          </a:ln>
        </p:spPr>
      </p:sp>
      <p:sp>
        <p:nvSpPr>
          <p:cNvPr id="41" name="Text 36"/>
          <p:cNvSpPr txBox="1"/>
          <p:nvPr/>
        </p:nvSpPr>
        <p:spPr>
          <a:xfrm>
            <a:off x="731520" y="5513832"/>
            <a:ext cx="10789920" cy="7680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E07B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Scale-up illustration, not a projection: </a:t>
            </a:r>
            <a:pPr indent="0" marL="0">
              <a:buNone/>
            </a:pPr>
            <a:r>
              <a:rPr lang="en-US" sz="1200" dirty="0">
                <a:solidFill>
                  <a:srgbClr val="1626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total = N pumps × per-pump saving. For N = 10: ₹6,92,920–12,71,780 per year and 61–113 t CO₂ per year, using the 11 kW base case. The 54–60% saving for heavily oversized pumps is an upper bound only.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47120" y="6473952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5655D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l"/>
            <a:fld id="{F7021451-1387-4CA6-816F-3879F97B5CBC}" type="slidenum">
              <a:rPr b="0" lang="en-US"/>
              <a:t>10</a:t>
            </a:fld>
            <a:endParaRPr lang="en-US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274320"/>
            <a:ext cx="1106424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000" b="1" dirty="0">
                <a:solidFill>
                  <a:srgbClr val="0E5A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Implementation Roadmap</a:t>
            </a:r>
            <a:endParaRPr lang="en-US" sz="30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868680"/>
            <a:ext cx="11064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rgbClr val="55655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is done, what is next, and which limit each phase removes.</a:t>
            </a:r>
            <a:endParaRPr lang="en-US" sz="1600" dirty="0"/>
          </a:p>
        </p:txBody>
      </p:sp>
      <p:sp>
        <p:nvSpPr>
          <p:cNvPr id="4" name="Shape 2"/>
          <p:cNvSpPr/>
          <p:nvPr/>
        </p:nvSpPr>
        <p:spPr>
          <a:xfrm>
            <a:off x="1097280" y="1691640"/>
            <a:ext cx="9966960" cy="0"/>
          </a:xfrm>
          <a:prstGeom prst="line">
            <a:avLst/>
          </a:prstGeom>
          <a:noFill/>
          <a:ln w="38100">
            <a:solidFill>
              <a:srgbClr val="9AA5A0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1325880" y="1463040"/>
            <a:ext cx="457200" cy="457200"/>
          </a:xfrm>
          <a:prstGeom prst="ellipse">
            <a:avLst/>
          </a:prstGeom>
          <a:solidFill>
            <a:srgbClr val="3DCD58"/>
          </a:solidFill>
          <a:ln w="25400">
            <a:solidFill>
              <a:srgbClr val="0E5A32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1325880" y="146304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0E5A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500" dirty="0"/>
          </a:p>
        </p:txBody>
      </p:sp>
      <p:sp>
        <p:nvSpPr>
          <p:cNvPr id="7" name="Shape 5"/>
          <p:cNvSpPr/>
          <p:nvPr/>
        </p:nvSpPr>
        <p:spPr>
          <a:xfrm>
            <a:off x="548640" y="2103120"/>
            <a:ext cx="2103120" cy="2514600"/>
          </a:xfrm>
          <a:prstGeom prst="roundRect">
            <a:avLst>
              <a:gd name="adj" fmla="val 3478"/>
            </a:avLst>
          </a:prstGeom>
          <a:solidFill>
            <a:srgbClr val="FFFFFF"/>
          </a:solidFill>
          <a:ln w="12700">
            <a:solidFill>
              <a:srgbClr val="D3DFD7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640080" y="2176272"/>
            <a:ext cx="1920240" cy="1874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500" b="1" dirty="0">
                <a:solidFill>
                  <a:srgbClr val="1626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Simulation + dashboard</a:t>
            </a:r>
            <a:endParaRPr lang="en-US" sz="15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150" dirty="0">
                <a:solidFill>
                  <a:srgbClr val="1626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Real Grundfos curve fits, stress tests, working dashboard with CSV upload (simulated data).</a:t>
            </a:r>
            <a:endParaRPr lang="en-US" sz="1500" dirty="0"/>
          </a:p>
          <a:p>
            <a:pPr indent="0" marL="0">
              <a:buNone/>
            </a:pPr>
            <a:r>
              <a:rPr lang="en-US" sz="1050" b="1" dirty="0">
                <a:solidFill>
                  <a:srgbClr val="0E5A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Limit removed: none yet</a:t>
            </a:r>
            <a:endParaRPr lang="en-US" sz="1500" dirty="0"/>
          </a:p>
        </p:txBody>
      </p:sp>
      <p:sp>
        <p:nvSpPr>
          <p:cNvPr id="9" name="Shape 7"/>
          <p:cNvSpPr/>
          <p:nvPr/>
        </p:nvSpPr>
        <p:spPr>
          <a:xfrm>
            <a:off x="640080" y="4187952"/>
            <a:ext cx="1005840" cy="310896"/>
          </a:xfrm>
          <a:prstGeom prst="roundRect">
            <a:avLst>
              <a:gd name="adj" fmla="val 50000"/>
            </a:avLst>
          </a:prstGeom>
          <a:solidFill>
            <a:srgbClr val="3DCD58"/>
          </a:solidFill>
          <a:ln w="12700">
            <a:solidFill>
              <a:srgbClr val="3DCD58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640080" y="4187952"/>
            <a:ext cx="1005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E5A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DONE</a:t>
            </a:r>
            <a:endParaRPr lang="en-US" sz="1000" dirty="0"/>
          </a:p>
        </p:txBody>
      </p:sp>
      <p:sp>
        <p:nvSpPr>
          <p:cNvPr id="11" name="Shape 9"/>
          <p:cNvSpPr/>
          <p:nvPr/>
        </p:nvSpPr>
        <p:spPr>
          <a:xfrm>
            <a:off x="3575304" y="1463040"/>
            <a:ext cx="457200" cy="457200"/>
          </a:xfrm>
          <a:prstGeom prst="ellipse">
            <a:avLst/>
          </a:prstGeom>
          <a:solidFill>
            <a:srgbClr val="F8D9B0"/>
          </a:solidFill>
          <a:ln w="25400">
            <a:solidFill>
              <a:srgbClr val="E07B00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3575304" y="146304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E07B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500" dirty="0"/>
          </a:p>
        </p:txBody>
      </p:sp>
      <p:sp>
        <p:nvSpPr>
          <p:cNvPr id="13" name="Shape 11"/>
          <p:cNvSpPr/>
          <p:nvPr/>
        </p:nvSpPr>
        <p:spPr>
          <a:xfrm>
            <a:off x="2798064" y="2103120"/>
            <a:ext cx="2103120" cy="2514600"/>
          </a:xfrm>
          <a:prstGeom prst="roundRect">
            <a:avLst>
              <a:gd name="adj" fmla="val 3478"/>
            </a:avLst>
          </a:prstGeom>
          <a:solidFill>
            <a:srgbClr val="FFFFFF"/>
          </a:solidFill>
          <a:ln w="12700">
            <a:solidFill>
              <a:srgbClr val="D3DFD7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2889504" y="2176272"/>
            <a:ext cx="1920240" cy="1874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500" b="1" dirty="0">
                <a:solidFill>
                  <a:srgbClr val="1626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Bench test</a:t>
            </a:r>
            <a:endParaRPr lang="en-US" sz="15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150" dirty="0">
                <a:solidFill>
                  <a:srgbClr val="1626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Real pump, ESP32 kit and a reference flow meter.</a:t>
            </a:r>
            <a:endParaRPr lang="en-US" sz="1500" dirty="0"/>
          </a:p>
          <a:p>
            <a:pPr indent="0" marL="0">
              <a:buNone/>
            </a:pPr>
            <a:r>
              <a:rPr lang="en-US" sz="1050" b="1" dirty="0">
                <a:solidFill>
                  <a:srgbClr val="0E5A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Removes: flow-inference accuracy, head = discharge − suction</a:t>
            </a:r>
            <a:endParaRPr lang="en-US" sz="1500" dirty="0"/>
          </a:p>
        </p:txBody>
      </p:sp>
      <p:sp>
        <p:nvSpPr>
          <p:cNvPr id="15" name="Shape 13"/>
          <p:cNvSpPr/>
          <p:nvPr/>
        </p:nvSpPr>
        <p:spPr>
          <a:xfrm>
            <a:off x="2889504" y="4187952"/>
            <a:ext cx="1005840" cy="310896"/>
          </a:xfrm>
          <a:prstGeom prst="roundRect">
            <a:avLst>
              <a:gd name="adj" fmla="val 50000"/>
            </a:avLst>
          </a:prstGeom>
          <a:solidFill>
            <a:srgbClr val="F8D9B0"/>
          </a:solidFill>
          <a:ln w="12700">
            <a:solidFill>
              <a:srgbClr val="F8D9B0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2889504" y="4187952"/>
            <a:ext cx="1005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E07B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NEXT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5824728" y="1463040"/>
            <a:ext cx="457200" cy="457200"/>
          </a:xfrm>
          <a:prstGeom prst="ellipse">
            <a:avLst/>
          </a:prstGeom>
          <a:solidFill>
            <a:srgbClr val="D3DFD7"/>
          </a:solidFill>
          <a:ln w="25400">
            <a:solidFill>
              <a:srgbClr val="55655D"/>
            </a:solidFill>
            <a:prstDash val="solid"/>
          </a:ln>
        </p:spPr>
      </p:sp>
      <p:sp>
        <p:nvSpPr>
          <p:cNvPr id="18" name="Text 16"/>
          <p:cNvSpPr txBox="1"/>
          <p:nvPr/>
        </p:nvSpPr>
        <p:spPr>
          <a:xfrm>
            <a:off x="5824728" y="146304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55655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500" dirty="0"/>
          </a:p>
        </p:txBody>
      </p:sp>
      <p:sp>
        <p:nvSpPr>
          <p:cNvPr id="19" name="Shape 17"/>
          <p:cNvSpPr/>
          <p:nvPr/>
        </p:nvSpPr>
        <p:spPr>
          <a:xfrm>
            <a:off x="5047488" y="2103120"/>
            <a:ext cx="2103120" cy="2514600"/>
          </a:xfrm>
          <a:prstGeom prst="roundRect">
            <a:avLst>
              <a:gd name="adj" fmla="val 3478"/>
            </a:avLst>
          </a:prstGeom>
          <a:solidFill>
            <a:srgbClr val="FFFFFF"/>
          </a:solidFill>
          <a:ln w="12700">
            <a:solidFill>
              <a:srgbClr val="D3DFD7"/>
            </a:solidFill>
            <a:prstDash val="solid"/>
          </a:ln>
        </p:spPr>
      </p:sp>
      <p:sp>
        <p:nvSpPr>
          <p:cNvPr id="20" name="Text 18"/>
          <p:cNvSpPr txBox="1"/>
          <p:nvPr/>
        </p:nvSpPr>
        <p:spPr>
          <a:xfrm>
            <a:off x="5138928" y="2176272"/>
            <a:ext cx="1920240" cy="1874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500" b="1" dirty="0">
                <a:solidFill>
                  <a:srgbClr val="1626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Pilot, 1–2 plants</a:t>
            </a:r>
            <a:endParaRPr lang="en-US" sz="15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150" dirty="0">
                <a:solidFill>
                  <a:srgbClr val="1626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Measure the system curve on site; log 7–14 days.</a:t>
            </a:r>
            <a:endParaRPr lang="en-US" sz="1500" dirty="0"/>
          </a:p>
          <a:p>
            <a:pPr indent="0" marL="0">
              <a:buNone/>
            </a:pPr>
            <a:r>
              <a:rPr lang="en-US" sz="1050" b="1" dirty="0">
                <a:solidFill>
                  <a:srgbClr val="0E5A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Removes: ±10 → ±3 points</a:t>
            </a:r>
            <a:endParaRPr lang="en-US" sz="1500" dirty="0"/>
          </a:p>
        </p:txBody>
      </p:sp>
      <p:sp>
        <p:nvSpPr>
          <p:cNvPr id="21" name="Shape 19"/>
          <p:cNvSpPr/>
          <p:nvPr/>
        </p:nvSpPr>
        <p:spPr>
          <a:xfrm>
            <a:off x="5138928" y="4187952"/>
            <a:ext cx="1005840" cy="310896"/>
          </a:xfrm>
          <a:prstGeom prst="roundRect">
            <a:avLst>
              <a:gd name="adj" fmla="val 50000"/>
            </a:avLst>
          </a:prstGeom>
          <a:solidFill>
            <a:srgbClr val="D3DFD7"/>
          </a:solidFill>
          <a:ln w="12700">
            <a:solidFill>
              <a:srgbClr val="D3DFD7"/>
            </a:solidFill>
            <a:prstDash val="solid"/>
          </a:ln>
        </p:spPr>
      </p:sp>
      <p:sp>
        <p:nvSpPr>
          <p:cNvPr id="22" name="Text 20"/>
          <p:cNvSpPr txBox="1"/>
          <p:nvPr/>
        </p:nvSpPr>
        <p:spPr>
          <a:xfrm>
            <a:off x="5138928" y="4187952"/>
            <a:ext cx="1005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55655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PLANNED</a:t>
            </a:r>
            <a:endParaRPr lang="en-US" sz="1000" dirty="0"/>
          </a:p>
        </p:txBody>
      </p:sp>
      <p:sp>
        <p:nvSpPr>
          <p:cNvPr id="23" name="Shape 21"/>
          <p:cNvSpPr/>
          <p:nvPr/>
        </p:nvSpPr>
        <p:spPr>
          <a:xfrm>
            <a:off x="8074152" y="1463040"/>
            <a:ext cx="457200" cy="457200"/>
          </a:xfrm>
          <a:prstGeom prst="ellipse">
            <a:avLst/>
          </a:prstGeom>
          <a:solidFill>
            <a:srgbClr val="D3DFD7"/>
          </a:solidFill>
          <a:ln w="25400">
            <a:solidFill>
              <a:srgbClr val="55655D"/>
            </a:solidFill>
            <a:prstDash val="solid"/>
          </a:ln>
        </p:spPr>
      </p:sp>
      <p:sp>
        <p:nvSpPr>
          <p:cNvPr id="24" name="Text 22"/>
          <p:cNvSpPr txBox="1"/>
          <p:nvPr/>
        </p:nvSpPr>
        <p:spPr>
          <a:xfrm>
            <a:off x="8074152" y="146304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55655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500" dirty="0"/>
          </a:p>
        </p:txBody>
      </p:sp>
      <p:sp>
        <p:nvSpPr>
          <p:cNvPr id="25" name="Shape 23"/>
          <p:cNvSpPr/>
          <p:nvPr/>
        </p:nvSpPr>
        <p:spPr>
          <a:xfrm>
            <a:off x="7296912" y="2103120"/>
            <a:ext cx="2103120" cy="2514600"/>
          </a:xfrm>
          <a:prstGeom prst="roundRect">
            <a:avLst>
              <a:gd name="adj" fmla="val 3478"/>
            </a:avLst>
          </a:prstGeom>
          <a:solidFill>
            <a:srgbClr val="FFFFFF"/>
          </a:solidFill>
          <a:ln w="12700">
            <a:solidFill>
              <a:srgbClr val="D3DFD7"/>
            </a:solidFill>
            <a:prstDash val="solid"/>
          </a:ln>
        </p:spPr>
      </p:sp>
      <p:sp>
        <p:nvSpPr>
          <p:cNvPr id="26" name="Text 24"/>
          <p:cNvSpPr txBox="1"/>
          <p:nvPr/>
        </p:nvSpPr>
        <p:spPr>
          <a:xfrm>
            <a:off x="7388352" y="2176272"/>
            <a:ext cx="1920240" cy="1874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500" b="1" dirty="0">
                <a:solidFill>
                  <a:srgbClr val="1626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Validate forecast</a:t>
            </a:r>
            <a:endParaRPr lang="en-US" sz="15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150" dirty="0">
                <a:solidFill>
                  <a:srgbClr val="1626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Compare the forecast with the measured saving after a fix.</a:t>
            </a:r>
            <a:endParaRPr lang="en-US" sz="1500" dirty="0"/>
          </a:p>
          <a:p>
            <a:pPr indent="0" marL="0">
              <a:buNone/>
            </a:pPr>
            <a:r>
              <a:rPr lang="en-US" sz="1050" b="1" dirty="0">
                <a:solidFill>
                  <a:srgbClr val="0E5A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Removes: optimistic system-curve fit</a:t>
            </a:r>
            <a:endParaRPr lang="en-US" sz="1500" dirty="0"/>
          </a:p>
        </p:txBody>
      </p:sp>
      <p:sp>
        <p:nvSpPr>
          <p:cNvPr id="27" name="Shape 25"/>
          <p:cNvSpPr/>
          <p:nvPr/>
        </p:nvSpPr>
        <p:spPr>
          <a:xfrm>
            <a:off x="7388352" y="4187952"/>
            <a:ext cx="1005840" cy="310896"/>
          </a:xfrm>
          <a:prstGeom prst="roundRect">
            <a:avLst>
              <a:gd name="adj" fmla="val 50000"/>
            </a:avLst>
          </a:prstGeom>
          <a:solidFill>
            <a:srgbClr val="D3DFD7"/>
          </a:solidFill>
          <a:ln w="12700">
            <a:solidFill>
              <a:srgbClr val="D3DFD7"/>
            </a:solidFill>
            <a:prstDash val="solid"/>
          </a:ln>
        </p:spPr>
      </p:sp>
      <p:sp>
        <p:nvSpPr>
          <p:cNvPr id="28" name="Text 26"/>
          <p:cNvSpPr txBox="1"/>
          <p:nvPr/>
        </p:nvSpPr>
        <p:spPr>
          <a:xfrm>
            <a:off x="7388352" y="4187952"/>
            <a:ext cx="1005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55655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PLANNED</a:t>
            </a:r>
            <a:endParaRPr lang="en-US" sz="1000" dirty="0"/>
          </a:p>
        </p:txBody>
      </p:sp>
      <p:sp>
        <p:nvSpPr>
          <p:cNvPr id="29" name="Shape 27"/>
          <p:cNvSpPr/>
          <p:nvPr/>
        </p:nvSpPr>
        <p:spPr>
          <a:xfrm>
            <a:off x="10323576" y="1463040"/>
            <a:ext cx="457200" cy="457200"/>
          </a:xfrm>
          <a:prstGeom prst="ellipse">
            <a:avLst/>
          </a:prstGeom>
          <a:solidFill>
            <a:srgbClr val="D3DFD7"/>
          </a:solidFill>
          <a:ln w="25400">
            <a:solidFill>
              <a:srgbClr val="55655D"/>
            </a:solidFill>
            <a:prstDash val="solid"/>
          </a:ln>
        </p:spPr>
      </p:sp>
      <p:sp>
        <p:nvSpPr>
          <p:cNvPr id="30" name="Text 28"/>
          <p:cNvSpPr txBox="1"/>
          <p:nvPr/>
        </p:nvSpPr>
        <p:spPr>
          <a:xfrm>
            <a:off x="10323576" y="146304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55655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1500" dirty="0"/>
          </a:p>
        </p:txBody>
      </p:sp>
      <p:sp>
        <p:nvSpPr>
          <p:cNvPr id="31" name="Shape 29"/>
          <p:cNvSpPr/>
          <p:nvPr/>
        </p:nvSpPr>
        <p:spPr>
          <a:xfrm>
            <a:off x="9546336" y="2103120"/>
            <a:ext cx="2103120" cy="2514600"/>
          </a:xfrm>
          <a:prstGeom prst="roundRect">
            <a:avLst>
              <a:gd name="adj" fmla="val 3478"/>
            </a:avLst>
          </a:prstGeom>
          <a:solidFill>
            <a:srgbClr val="FFFFFF"/>
          </a:solidFill>
          <a:ln w="12700">
            <a:solidFill>
              <a:srgbClr val="D3DFD7"/>
            </a:solidFill>
            <a:prstDash val="solid"/>
          </a:ln>
        </p:spPr>
      </p:sp>
      <p:sp>
        <p:nvSpPr>
          <p:cNvPr id="32" name="Text 30"/>
          <p:cNvSpPr txBox="1"/>
          <p:nvPr/>
        </p:nvSpPr>
        <p:spPr>
          <a:xfrm>
            <a:off x="9637776" y="2176272"/>
            <a:ext cx="1920240" cy="1874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500" b="1" dirty="0">
                <a:solidFill>
                  <a:srgbClr val="1626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Rollout</a:t>
            </a:r>
            <a:endParaRPr lang="en-US" sz="15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150" dirty="0">
                <a:solidFill>
                  <a:srgbClr val="1626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Multi-pump, multi-plant; ESCO and channel use.</a:t>
            </a:r>
            <a:endParaRPr lang="en-US" sz="1500" dirty="0"/>
          </a:p>
          <a:p>
            <a:pPr indent="0" marL="0">
              <a:buNone/>
            </a:pPr>
            <a:r>
              <a:rPr lang="en-US" sz="1050" b="1" dirty="0">
                <a:solidFill>
                  <a:srgbClr val="0E5A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Widens: parallel pumps, drives, NPSH</a:t>
            </a:r>
            <a:endParaRPr lang="en-US" sz="1500" dirty="0"/>
          </a:p>
        </p:txBody>
      </p:sp>
      <p:sp>
        <p:nvSpPr>
          <p:cNvPr id="33" name="Shape 31"/>
          <p:cNvSpPr/>
          <p:nvPr/>
        </p:nvSpPr>
        <p:spPr>
          <a:xfrm>
            <a:off x="9637776" y="4187952"/>
            <a:ext cx="1005840" cy="310896"/>
          </a:xfrm>
          <a:prstGeom prst="roundRect">
            <a:avLst>
              <a:gd name="adj" fmla="val 50000"/>
            </a:avLst>
          </a:prstGeom>
          <a:solidFill>
            <a:srgbClr val="D3DFD7"/>
          </a:solidFill>
          <a:ln w="12700">
            <a:solidFill>
              <a:srgbClr val="D3DFD7"/>
            </a:solidFill>
            <a:prstDash val="solid"/>
          </a:ln>
        </p:spPr>
      </p:sp>
      <p:sp>
        <p:nvSpPr>
          <p:cNvPr id="34" name="Text 32"/>
          <p:cNvSpPr txBox="1"/>
          <p:nvPr/>
        </p:nvSpPr>
        <p:spPr>
          <a:xfrm>
            <a:off x="9637776" y="4187952"/>
            <a:ext cx="1005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55655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PLANNED</a:t>
            </a:r>
            <a:endParaRPr lang="en-US" sz="1000" dirty="0"/>
          </a:p>
        </p:txBody>
      </p:sp>
      <p:sp>
        <p:nvSpPr>
          <p:cNvPr id="35" name="Shape 33"/>
          <p:cNvSpPr/>
          <p:nvPr/>
        </p:nvSpPr>
        <p:spPr>
          <a:xfrm>
            <a:off x="548640" y="4800600"/>
            <a:ext cx="11109960" cy="1554480"/>
          </a:xfrm>
          <a:prstGeom prst="roundRect">
            <a:avLst>
              <a:gd name="adj" fmla="val 4706"/>
            </a:avLst>
          </a:prstGeom>
          <a:solidFill>
            <a:srgbClr val="FFF4E5"/>
          </a:solidFill>
          <a:ln w="25400">
            <a:solidFill>
              <a:srgbClr val="E07B00"/>
            </a:solidFill>
            <a:prstDash val="solid"/>
          </a:ln>
        </p:spPr>
      </p:sp>
      <p:sp>
        <p:nvSpPr>
          <p:cNvPr id="36" name="Text 34"/>
          <p:cNvSpPr txBox="1"/>
          <p:nvPr/>
        </p:nvSpPr>
        <p:spPr>
          <a:xfrm>
            <a:off x="731520" y="4846320"/>
            <a:ext cx="73152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E07B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Honest limits we validate next</a:t>
            </a:r>
            <a:endParaRPr lang="en-US" sz="1500" dirty="0"/>
          </a:p>
        </p:txBody>
      </p:sp>
      <p:sp>
        <p:nvSpPr>
          <p:cNvPr id="37" name="Text 35"/>
          <p:cNvSpPr txBox="1"/>
          <p:nvPr/>
        </p:nvSpPr>
        <p:spPr>
          <a:xfrm>
            <a:off x="777240" y="5166360"/>
            <a:ext cx="10698480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250" dirty="0">
                <a:solidFill>
                  <a:srgbClr val="1626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Simulation and software prototype only: no lab or field data, no real quotes</a:t>
            </a:r>
            <a:endParaRPr lang="en-US" sz="125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250" dirty="0">
                <a:solidFill>
                  <a:srgbClr val="1626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About ±3 points only with a measured system curve; otherwise about ±10; the curve fit is optimistic</a:t>
            </a:r>
            <a:endParaRPr lang="en-US" sz="125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250" dirty="0">
                <a:solidFill>
                  <a:srgbClr val="1626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Single pump, steady state. Out of scope: parallel pumps, closed loops, pumps already on drives, min-flow/NPSH, control dynamics</a:t>
            </a:r>
            <a:endParaRPr lang="en-US" sz="12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47120" y="6473952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5655D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l"/>
            <a:fld id="{F7021451-1387-4CA6-816F-3879F97B5CBC}" type="slidenum">
              <a:rPr b="0" lang="en-US"/>
              <a:t>11</a:t>
            </a:fld>
            <a:endParaRPr lang="en-US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274320"/>
            <a:ext cx="1106424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000" b="1" dirty="0">
                <a:solidFill>
                  <a:srgbClr val="0E5A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Team Introduction</a:t>
            </a:r>
            <a:endParaRPr lang="en-US" sz="30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868680"/>
            <a:ext cx="11064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rgbClr val="55655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Team ANS_4X · Schneider Electric Yuva Yodha 2026 · Smart Manufacturing</a:t>
            </a:r>
            <a:endParaRPr lang="en-US" sz="1600" dirty="0"/>
          </a:p>
        </p:txBody>
      </p:sp>
      <p:sp>
        <p:nvSpPr>
          <p:cNvPr id="4" name="Shape 2"/>
          <p:cNvSpPr/>
          <p:nvPr/>
        </p:nvSpPr>
        <p:spPr>
          <a:xfrm>
            <a:off x="548640" y="1280160"/>
            <a:ext cx="2651760" cy="1783080"/>
          </a:xfrm>
          <a:prstGeom prst="roundRect">
            <a:avLst>
              <a:gd name="adj" fmla="val 4103"/>
            </a:avLst>
          </a:prstGeom>
          <a:solidFill>
            <a:srgbClr val="FFFFFF"/>
          </a:solidFill>
          <a:ln w="12700">
            <a:solidFill>
              <a:srgbClr val="D3DFD7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685800" y="1389888"/>
            <a:ext cx="457200" cy="457200"/>
          </a:xfrm>
          <a:prstGeom prst="ellipse">
            <a:avLst/>
          </a:prstGeom>
          <a:solidFill>
            <a:srgbClr val="0E5A32"/>
          </a:solidFill>
          <a:ln w="12700">
            <a:solidFill>
              <a:srgbClr val="0E5A32"/>
            </a:solidFill>
            <a:prstDash val="solid"/>
          </a:ln>
        </p:spPr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95528" y="1499616"/>
            <a:ext cx="237744" cy="237744"/>
          </a:xfrm>
          <a:prstGeom prst="rect">
            <a:avLst/>
          </a:prstGeom>
        </p:spPr>
      </p:pic>
      <p:sp>
        <p:nvSpPr>
          <p:cNvPr id="7" name="Text 4"/>
          <p:cNvSpPr txBox="1"/>
          <p:nvPr/>
        </p:nvSpPr>
        <p:spPr>
          <a:xfrm>
            <a:off x="1234440" y="1371600"/>
            <a:ext cx="18745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626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Akshaya V G</a:t>
            </a:r>
            <a:endParaRPr lang="en-US" sz="1500" dirty="0"/>
          </a:p>
          <a:p>
            <a:pPr indent="0" marL="0">
              <a:buNone/>
            </a:pPr>
            <a:r>
              <a:rPr lang="en-US" sz="1100" b="1" dirty="0">
                <a:solidFill>
                  <a:srgbClr val="0E5A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Team Lead &amp; Software/Dashboard</a:t>
            </a:r>
            <a:endParaRPr lang="en-US" sz="1500" dirty="0"/>
          </a:p>
        </p:txBody>
      </p:sp>
      <p:sp>
        <p:nvSpPr>
          <p:cNvPr id="8" name="Text 5"/>
          <p:cNvSpPr txBox="1"/>
          <p:nvPr/>
        </p:nvSpPr>
        <p:spPr>
          <a:xfrm>
            <a:off x="685800" y="2011680"/>
            <a:ext cx="237744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55655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Data pipeline and the PumpRupee web dashboard</a:t>
            </a:r>
            <a:endParaRPr lang="en-US" sz="1150" dirty="0"/>
          </a:p>
        </p:txBody>
      </p:sp>
      <p:sp>
        <p:nvSpPr>
          <p:cNvPr id="9" name="Shape 6"/>
          <p:cNvSpPr/>
          <p:nvPr/>
        </p:nvSpPr>
        <p:spPr>
          <a:xfrm>
            <a:off x="3362249" y="1280160"/>
            <a:ext cx="2651760" cy="1783080"/>
          </a:xfrm>
          <a:prstGeom prst="roundRect">
            <a:avLst>
              <a:gd name="adj" fmla="val 4103"/>
            </a:avLst>
          </a:prstGeom>
          <a:solidFill>
            <a:srgbClr val="FFFFFF"/>
          </a:solidFill>
          <a:ln w="12700">
            <a:solidFill>
              <a:srgbClr val="D3DFD7"/>
            </a:solidFill>
            <a:prstDash val="solid"/>
          </a:ln>
        </p:spPr>
      </p:sp>
      <p:sp>
        <p:nvSpPr>
          <p:cNvPr id="10" name="Shape 7"/>
          <p:cNvSpPr/>
          <p:nvPr/>
        </p:nvSpPr>
        <p:spPr>
          <a:xfrm>
            <a:off x="3499409" y="1389888"/>
            <a:ext cx="457200" cy="457200"/>
          </a:xfrm>
          <a:prstGeom prst="ellipse">
            <a:avLst/>
          </a:prstGeom>
          <a:solidFill>
            <a:srgbClr val="0E5A32"/>
          </a:solidFill>
          <a:ln w="12700">
            <a:solidFill>
              <a:srgbClr val="0E5A32"/>
            </a:solidFill>
            <a:prstDash val="solid"/>
          </a:ln>
        </p:spPr>
      </p:sp>
      <p:pic>
        <p:nvPicPr>
          <p:cNvPr id="11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609137" y="1499616"/>
            <a:ext cx="237744" cy="237744"/>
          </a:xfrm>
          <a:prstGeom prst="rect">
            <a:avLst/>
          </a:prstGeom>
        </p:spPr>
      </p:pic>
      <p:sp>
        <p:nvSpPr>
          <p:cNvPr id="12" name="Text 8"/>
          <p:cNvSpPr txBox="1"/>
          <p:nvPr/>
        </p:nvSpPr>
        <p:spPr>
          <a:xfrm>
            <a:off x="4048049" y="1371600"/>
            <a:ext cx="18745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626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Adithyaa J</a:t>
            </a:r>
            <a:endParaRPr lang="en-US" sz="1500" dirty="0"/>
          </a:p>
          <a:p>
            <a:pPr indent="0" marL="0">
              <a:buNone/>
            </a:pPr>
            <a:r>
              <a:rPr lang="en-US" sz="1100" b="1" dirty="0">
                <a:solidFill>
                  <a:srgbClr val="0E5A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Embedded Hardware</a:t>
            </a:r>
            <a:endParaRPr lang="en-US" sz="1500" dirty="0"/>
          </a:p>
        </p:txBody>
      </p:sp>
      <p:sp>
        <p:nvSpPr>
          <p:cNvPr id="13" name="Text 9"/>
          <p:cNvSpPr txBox="1"/>
          <p:nvPr/>
        </p:nvSpPr>
        <p:spPr>
          <a:xfrm>
            <a:off x="3499409" y="2011680"/>
            <a:ext cx="237744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55655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ESP32 logger, power clamp and pressure-sensor integration</a:t>
            </a:r>
            <a:endParaRPr lang="en-US" sz="1150" dirty="0"/>
          </a:p>
        </p:txBody>
      </p:sp>
      <p:sp>
        <p:nvSpPr>
          <p:cNvPr id="14" name="Shape 10"/>
          <p:cNvSpPr/>
          <p:nvPr/>
        </p:nvSpPr>
        <p:spPr>
          <a:xfrm>
            <a:off x="6175858" y="1280160"/>
            <a:ext cx="2651760" cy="1783080"/>
          </a:xfrm>
          <a:prstGeom prst="roundRect">
            <a:avLst>
              <a:gd name="adj" fmla="val 4103"/>
            </a:avLst>
          </a:prstGeom>
          <a:solidFill>
            <a:srgbClr val="FFFFFF"/>
          </a:solidFill>
          <a:ln w="12700">
            <a:solidFill>
              <a:srgbClr val="D3DFD7"/>
            </a:solidFill>
            <a:prstDash val="solid"/>
          </a:ln>
        </p:spPr>
      </p:sp>
      <p:sp>
        <p:nvSpPr>
          <p:cNvPr id="15" name="Shape 11"/>
          <p:cNvSpPr/>
          <p:nvPr/>
        </p:nvSpPr>
        <p:spPr>
          <a:xfrm>
            <a:off x="6313018" y="1389888"/>
            <a:ext cx="457200" cy="457200"/>
          </a:xfrm>
          <a:prstGeom prst="ellipse">
            <a:avLst/>
          </a:prstGeom>
          <a:solidFill>
            <a:srgbClr val="0E5A32"/>
          </a:solidFill>
          <a:ln w="12700">
            <a:solidFill>
              <a:srgbClr val="0E5A32"/>
            </a:solidFill>
            <a:prstDash val="solid"/>
          </a:ln>
        </p:spPr>
      </p:sp>
      <p:pic>
        <p:nvPicPr>
          <p:cNvPr id="16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422746" y="1499616"/>
            <a:ext cx="237744" cy="237744"/>
          </a:xfrm>
          <a:prstGeom prst="rect">
            <a:avLst/>
          </a:prstGeom>
        </p:spPr>
      </p:pic>
      <p:sp>
        <p:nvSpPr>
          <p:cNvPr id="17" name="Text 12"/>
          <p:cNvSpPr txBox="1"/>
          <p:nvPr/>
        </p:nvSpPr>
        <p:spPr>
          <a:xfrm>
            <a:off x="6861658" y="1371600"/>
            <a:ext cx="18745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626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Nikilaesh B</a:t>
            </a:r>
            <a:endParaRPr lang="en-US" sz="1500" dirty="0"/>
          </a:p>
          <a:p>
            <a:pPr indent="0" marL="0">
              <a:buNone/>
            </a:pPr>
            <a:r>
              <a:rPr lang="en-US" sz="1100" b="1" dirty="0">
                <a:solidFill>
                  <a:srgbClr val="0E5A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Energy Analytics</a:t>
            </a:r>
            <a:endParaRPr lang="en-US" sz="1500" dirty="0"/>
          </a:p>
        </p:txBody>
      </p:sp>
      <p:sp>
        <p:nvSpPr>
          <p:cNvPr id="18" name="Text 13"/>
          <p:cNvSpPr txBox="1"/>
          <p:nvPr/>
        </p:nvSpPr>
        <p:spPr>
          <a:xfrm>
            <a:off x="6313018" y="2011680"/>
            <a:ext cx="237744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55655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Pump hydraulics model, Shapley waste split and VFD payback logic</a:t>
            </a:r>
            <a:endParaRPr lang="en-US" sz="1150" dirty="0"/>
          </a:p>
        </p:txBody>
      </p:sp>
      <p:sp>
        <p:nvSpPr>
          <p:cNvPr id="19" name="Shape 14"/>
          <p:cNvSpPr/>
          <p:nvPr/>
        </p:nvSpPr>
        <p:spPr>
          <a:xfrm>
            <a:off x="8989466" y="1280160"/>
            <a:ext cx="2651760" cy="1783080"/>
          </a:xfrm>
          <a:prstGeom prst="roundRect">
            <a:avLst>
              <a:gd name="adj" fmla="val 4103"/>
            </a:avLst>
          </a:prstGeom>
          <a:solidFill>
            <a:srgbClr val="FFFFFF"/>
          </a:solidFill>
          <a:ln w="12700">
            <a:solidFill>
              <a:srgbClr val="D3DFD7"/>
            </a:solidFill>
            <a:prstDash val="solid"/>
          </a:ln>
        </p:spPr>
      </p:sp>
      <p:sp>
        <p:nvSpPr>
          <p:cNvPr id="20" name="Shape 15"/>
          <p:cNvSpPr/>
          <p:nvPr/>
        </p:nvSpPr>
        <p:spPr>
          <a:xfrm>
            <a:off x="9126626" y="1389888"/>
            <a:ext cx="457200" cy="457200"/>
          </a:xfrm>
          <a:prstGeom prst="ellipse">
            <a:avLst/>
          </a:prstGeom>
          <a:solidFill>
            <a:srgbClr val="0E5A32"/>
          </a:solidFill>
          <a:ln w="12700">
            <a:solidFill>
              <a:srgbClr val="0E5A32"/>
            </a:solidFill>
            <a:prstDash val="solid"/>
          </a:ln>
        </p:spPr>
      </p:sp>
      <p:pic>
        <p:nvPicPr>
          <p:cNvPr id="21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236354" y="1499616"/>
            <a:ext cx="237744" cy="237744"/>
          </a:xfrm>
          <a:prstGeom prst="rect">
            <a:avLst/>
          </a:prstGeom>
        </p:spPr>
      </p:pic>
      <p:sp>
        <p:nvSpPr>
          <p:cNvPr id="22" name="Text 16"/>
          <p:cNvSpPr txBox="1"/>
          <p:nvPr/>
        </p:nvSpPr>
        <p:spPr>
          <a:xfrm>
            <a:off x="9675266" y="1371600"/>
            <a:ext cx="18745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626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Siva Subramaniam S</a:t>
            </a:r>
            <a:endParaRPr lang="en-US" sz="1500" dirty="0"/>
          </a:p>
          <a:p>
            <a:pPr indent="0" marL="0">
              <a:buNone/>
            </a:pPr>
            <a:r>
              <a:rPr lang="en-US" sz="1100" b="1" dirty="0">
                <a:solidFill>
                  <a:srgbClr val="0E5A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Simulation &amp; Validation</a:t>
            </a:r>
            <a:endParaRPr lang="en-US" sz="1500" dirty="0"/>
          </a:p>
        </p:txBody>
      </p:sp>
      <p:sp>
        <p:nvSpPr>
          <p:cNvPr id="23" name="Text 17"/>
          <p:cNvSpPr txBox="1"/>
          <p:nvPr/>
        </p:nvSpPr>
        <p:spPr>
          <a:xfrm>
            <a:off x="9126626" y="2011680"/>
            <a:ext cx="237744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55655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Pump-curve simulation, CUSUM wear-drift testing, pilot and roadmap planning</a:t>
            </a:r>
            <a:endParaRPr lang="en-US" sz="1150" dirty="0"/>
          </a:p>
        </p:txBody>
      </p:sp>
      <p:sp>
        <p:nvSpPr>
          <p:cNvPr id="24" name="Shape 18"/>
          <p:cNvSpPr/>
          <p:nvPr/>
        </p:nvSpPr>
        <p:spPr>
          <a:xfrm>
            <a:off x="548640" y="3200400"/>
            <a:ext cx="11109960" cy="2331720"/>
          </a:xfrm>
          <a:prstGeom prst="roundRect">
            <a:avLst>
              <a:gd name="adj" fmla="val 3137"/>
            </a:avLst>
          </a:prstGeom>
          <a:solidFill>
            <a:srgbClr val="FFFFFF"/>
          </a:solidFill>
          <a:ln w="12700">
            <a:solidFill>
              <a:srgbClr val="D3DFD7"/>
            </a:solidFill>
            <a:prstDash val="solid"/>
          </a:ln>
        </p:spPr>
      </p:sp>
      <p:sp>
        <p:nvSpPr>
          <p:cNvPr id="25" name="Text 19"/>
          <p:cNvSpPr txBox="1"/>
          <p:nvPr/>
        </p:nvSpPr>
        <p:spPr>
          <a:xfrm>
            <a:off x="685800" y="3246120"/>
            <a:ext cx="54864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0E5A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References &amp; data sources</a:t>
            </a:r>
            <a:endParaRPr lang="en-US" sz="1400" dirty="0"/>
          </a:p>
        </p:txBody>
      </p:sp>
      <p:sp>
        <p:nvSpPr>
          <p:cNvPr id="26" name="Text 20"/>
          <p:cNvSpPr txBox="1"/>
          <p:nvPr/>
        </p:nvSpPr>
        <p:spPr>
          <a:xfrm>
            <a:off x="685800" y="3566160"/>
            <a:ext cx="5349240" cy="1920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sz="950" dirty="0">
                <a:solidFill>
                  <a:srgbClr val="1626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Pump data: Grundfos Product Center duty-point readouts for NB 65-160/157 (product no. 97839240), retrieved 2026-10-02. Curve tolerance ISO 9906:2012 Grade 3B. Curves in this deck are cubic fits to those 14 points.</a:t>
            </a:r>
            <a:endParaRPr lang="en-US" sz="950" dirty="0"/>
          </a:p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sz="950" dirty="0">
                <a:solidFill>
                  <a:srgbClr val="1626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Emission factor: CEA CO₂ Baseline Database for the Indian Power Sector, v21.0 (FY2024-25): 0.710 kg CO₂/kWh.</a:t>
            </a:r>
            <a:endParaRPr lang="en-US" sz="950" dirty="0"/>
          </a:p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sz="950" dirty="0">
                <a:solidFill>
                  <a:srgbClr val="1626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Energy-audit practitioner input (paraphrased, not named): wrong sizing is the most common cause of throttling; 30–40% of ultrasonic flow readings go wrong.</a:t>
            </a:r>
            <a:endParaRPr lang="en-US" sz="950" dirty="0"/>
          </a:p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sz="950" dirty="0">
                <a:solidFill>
                  <a:srgbClr val="1626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Method: affinity laws; Shapley value attribution; CUSUM change detection; IPMVP-style measurement and verification.</a:t>
            </a:r>
            <a:endParaRPr lang="en-US" sz="950" dirty="0"/>
          </a:p>
        </p:txBody>
      </p:sp>
      <p:sp>
        <p:nvSpPr>
          <p:cNvPr id="27" name="Text 21"/>
          <p:cNvSpPr txBox="1"/>
          <p:nvPr/>
        </p:nvSpPr>
        <p:spPr>
          <a:xfrm>
            <a:off x="6217920" y="3566160"/>
            <a:ext cx="5349240" cy="1920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sz="950" dirty="0">
                <a:solidFill>
                  <a:srgbClr val="1626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Component prices (indicative online listings, 2026-10-02, not quotes): ESP32 (Robu); SCT-013 clamp (ElectronicsComp, Robodo, Robocraze); ZMPT101B voltage sensor; 4–20 mA pressure transmitters (Nishka, Utopia, Shri Instruments); VFDs (Delta MS300 listing, Industrybuying). Install cost ₹15,000 is an assumption.</a:t>
            </a:r>
            <a:endParaRPr lang="en-US" sz="950" dirty="0"/>
          </a:p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sz="950" dirty="0">
                <a:solidFill>
                  <a:srgbClr val="1626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Prior art: KSB PumpMeter, US DOE PSAT, Samotics, Schneider Altivar Process and EcoStruxure, Indian IoT vendors and ESCOs.</a:t>
            </a:r>
            <a:endParaRPr lang="en-US" sz="950" dirty="0"/>
          </a:p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sz="950" dirty="0">
                <a:solidFill>
                  <a:srgbClr val="1626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Simulation: our open Python scripts (fixed seeds) in the project repository, folder yuva_yodha/; dashboard source in yuva_yodha/dashboard/.</a:t>
            </a:r>
            <a:endParaRPr lang="en-US" sz="950" dirty="0"/>
          </a:p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sz="950" dirty="0">
                <a:solidFill>
                  <a:srgbClr val="1626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All results are simulated. No lab or field data.</a:t>
            </a:r>
            <a:endParaRPr lang="en-US" sz="950" dirty="0"/>
          </a:p>
        </p:txBody>
      </p:sp>
      <p:pic>
        <p:nvPicPr>
          <p:cNvPr id="28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48640" y="5623560"/>
            <a:ext cx="777240" cy="777240"/>
          </a:xfrm>
          <a:prstGeom prst="rect">
            <a:avLst/>
          </a:prstGeom>
        </p:spPr>
      </p:pic>
      <p:sp>
        <p:nvSpPr>
          <p:cNvPr id="29" name="Text 22"/>
          <p:cNvSpPr txBox="1"/>
          <p:nvPr/>
        </p:nvSpPr>
        <p:spPr>
          <a:xfrm>
            <a:off x="1463040" y="5696712"/>
            <a:ext cx="38404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0E5A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Live prototype dashboard</a:t>
            </a:r>
            <a:endParaRPr lang="en-US" sz="1300" dirty="0"/>
          </a:p>
          <a:p>
            <a:pPr indent="0" marL="0">
              <a:buNone/>
            </a:pPr>
            <a:r>
              <a:rPr lang="en-US" sz="1200" u="sng" dirty="0">
                <a:solidFill>
                  <a:srgbClr val="0E5A32"/>
                </a:solidFill>
                <a:latin typeface="Calibri" pitchFamily="34" charset="0"/>
                <a:ea typeface="Calibri" pitchFamily="34" charset="-122"/>
                <a:cs typeface="Calibri" pitchFamily="34" charset="-120"/>
                <a:hlinkClick r:id="rId6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https://pumprupee-dashboard.vercel.app/</a:t>
            </a:r>
            <a:endParaRPr lang="en-US" sz="1300" dirty="0"/>
          </a:p>
          <a:p>
            <a:pPr indent="0" marL="0">
              <a:buNone/>
            </a:pPr>
            <a:r>
              <a:rPr lang="en-US" sz="1000" dirty="0">
                <a:solidFill>
                  <a:srgbClr val="55655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Simulated data · scan the QR code</a:t>
            </a:r>
            <a:endParaRPr lang="en-US" sz="1300" dirty="0"/>
          </a:p>
        </p:txBody>
      </p:sp>
      <p:sp>
        <p:nvSpPr>
          <p:cNvPr id="30" name="Text 23"/>
          <p:cNvSpPr txBox="1"/>
          <p:nvPr/>
        </p:nvSpPr>
        <p:spPr>
          <a:xfrm>
            <a:off x="5852160" y="5669280"/>
            <a:ext cx="58064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0E5A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Cheap kit. Clever inference. Answers in rupees.</a:t>
            </a:r>
            <a:endParaRPr lang="en-US" sz="2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47120" y="6473952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5655D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l"/>
            <a:fld id="{F7021451-1387-4CA6-816F-3879F97B5CBC}" type="slidenum">
              <a:rPr b="0" lang="en-US"/>
              <a:t>12</a:t>
            </a:fld>
            <a:endParaRPr lang="en-US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12</Slides>
  <Notes>12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12</vt:i4>
      </vt:variant>
    </vt:vector>
  </HeadingPairs>
  <TitlesOfParts>
    <vt:vector size="15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PumpRupee - Schneider Electric Yuva Yodha 2026 - Team ANS_4X</dc:title>
  <dc:subject>PptxGenJS Presentation</dc:subject>
  <dc:creator>ANS_4X</dc:creator>
  <cp:lastModifiedBy>ANS_4X</cp:lastModifiedBy>
  <cp:revision>1</cp:revision>
  <dcterms:created xsi:type="dcterms:W3CDTF">2026-10-03T16:53:01Z</dcterms:created>
  <dcterms:modified xsi:type="dcterms:W3CDTF">2026-10-03T16:53:01Z</dcterms:modified>
</cp:coreProperties>
</file>