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Friendly test (1% noise)</c:v>
                </c:pt>
              </c:strCache>
            </c:strRef>
          </c:tx>
          <c:spPr>
            <a:solidFill>
              <a:srgbClr val="9AA5A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Datasheet</c:v>
                  </c:pt>
                  <c:pt idx="1">
                    <c:v>Learned (logs)</c:v>
                  </c:pt>
                  <c:pt idx="2">
                    <c:v>+ process sensor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7.2</c:v>
                </c:pt>
                <c:pt idx="1">
                  <c:v>1.6</c:v>
                </c:pt>
                <c:pt idx="2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Stress test (3% noise, curve errors)</c:v>
                </c:pt>
              </c:strCache>
            </c:strRef>
          </c:tx>
          <c:spPr>
            <a:solidFill>
              <a:srgbClr val="E07B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Datasheet</c:v>
                  </c:pt>
                  <c:pt idx="1">
                    <c:v>Learned (logs)</c:v>
                  </c:pt>
                  <c:pt idx="2">
                    <c:v>+ process sensor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8.4</c:v>
                </c:pt>
                <c:pt idx="1">
                  <c:v>10.5</c:v>
                </c:pt>
                <c:pt idx="2">
                  <c:v>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5655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5655D"/>
                </a:solidFill>
                <a:latin typeface="Calibri"/>
              </a:rPr>
              <a:t>Energy saving, % (simulated)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case (peak 90%, 10 m lift)</c:v>
                </c:pt>
              </c:strCache>
            </c:strRef>
          </c:tx>
          <c:spPr>
            <a:solidFill>
              <a:srgbClr val="0E5A3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Constant pressure</c:v>
                  </c:pt>
                  <c:pt idx="1">
                    <c:v>Proportional pressure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19.3</c:v>
                </c:pt>
                <c:pt idx="1">
                  <c:v>35.5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Right-sized pump, 20 m lift</c:v>
                </c:pt>
              </c:strCache>
            </c:strRef>
          </c:tx>
          <c:spPr>
            <a:solidFill>
              <a:srgbClr val="9AA5A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Constant pressure</c:v>
                  </c:pt>
                  <c:pt idx="1">
                    <c:v>Proportional pressure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15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30-second pitch: oversized pumps run throttled and burn energy across a valve. Owners can't see it because flow is hard to measure. PumpRupee is a clamp-on kit (power + pressure) that prices the waste in rupees, splits it by cause, and tells you if a VFD pays back for YOUR pump. Audits and recommends; does not control the pump.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fair to alternatives: flow meters, ESCO audits and vendor platforms each have a place. PumpRupee's gap: continuous, low-cost, vendor-neutral, and prices waste by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Hardware: ESP32 logger, power clamp on the motor cable, pressure transmitter on the discharge, optional second transmitter at the strainer / process side. No pipe cutting for the clamp.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 goals are our reading of 'Smart Manufacturing': visibility, maintenance, measurable savings, accessible to MSMEs.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 is the product. Values shown are the simulated base case (peak demand 90% of rated flow), not field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explain: Shapley split = average each cause's contribution over all orders in which causes could be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is simulation. Friendly = 1% noise, curves a scaled copy of the datasheet, exact system curve. Stress = 3% noise, curve-shape errors, wrong static lift/friction. We report the stress numbers because they are the honest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say 'no such solution exists'. Say what we searched and what we did not find.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Per-pump savings are from the simulated model with the stated assumptions. The N = 10 line is arithmetic (10 x 69,292 and 10 x 6.1), not a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limits as the validation plan. Judges trust a team that states what it has not yet proven.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  |  Yuva Yodha, Challenge 04 Smart Manufacturing  |  All results simulated; prices indicative, not quotes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pump energy waste in rupees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low-cost, clamp-on audit kit. No flow meter.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flow meter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3840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3840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Clamp-on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38404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3840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waste by cause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754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04 – Smart Manufacturing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120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 | Schneider Electric Energy Tech Hackathon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486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|  [Institution]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21324" y="5552694"/>
            <a:ext cx="5733288" cy="260604"/>
          </a:xfrm>
          <a:prstGeom prst="rect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1928" y="4206240"/>
            <a:ext cx="2084832" cy="1346454"/>
          </a:xfrm>
          <a:prstGeom prst="roundRect">
            <a:avLst>
              <a:gd name="adj" fmla="val 6791"/>
            </a:avLst>
          </a:prstGeom>
          <a:solidFill>
            <a:srgbClr val="3A4A45"/>
          </a:solidFill>
          <a:ln w="12700">
            <a:solidFill>
              <a:srgbClr val="3A4A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9098" y="429310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85762" y="429310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72427" y="429310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59091" y="429310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45756" y="429310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32420" y="429310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66760" y="4727448"/>
            <a:ext cx="390906" cy="347472"/>
          </a:xfrm>
          <a:prstGeom prst="rect">
            <a:avLst/>
          </a:prstGeom>
          <a:solidFill>
            <a:srgbClr val="7C8A84"/>
          </a:solidFill>
          <a:ln w="12700">
            <a:solidFill>
              <a:srgbClr val="7C8A8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14232" y="4119372"/>
            <a:ext cx="1389888" cy="138988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78874" y="2903220"/>
            <a:ext cx="260604" cy="130302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78874" y="2903220"/>
            <a:ext cx="2475738" cy="26060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30384" y="4857750"/>
            <a:ext cx="1824228" cy="26060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12196" y="4727448"/>
            <a:ext cx="434340" cy="5212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08158" y="2772918"/>
            <a:ext cx="521208" cy="521208"/>
          </a:xfrm>
          <a:prstGeom prst="diamond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42702" y="2573122"/>
            <a:ext cx="52121" cy="21717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38460" y="2521001"/>
            <a:ext cx="260604" cy="6949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7456" y="2729484"/>
            <a:ext cx="86868" cy="19111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13214" y="2468880"/>
            <a:ext cx="304038" cy="260604"/>
          </a:xfrm>
          <a:prstGeom prst="roundRect">
            <a:avLst>
              <a:gd name="adj" fmla="val 17544"/>
            </a:avLst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81690" y="4466844"/>
            <a:ext cx="260604" cy="260604"/>
          </a:xfrm>
          <a:prstGeom prst="roundRect">
            <a:avLst>
              <a:gd name="adj" fmla="val 17544"/>
            </a:avLst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9492" y="3163824"/>
            <a:ext cx="52121" cy="104241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0" y="2468880"/>
            <a:ext cx="1389888" cy="694944"/>
          </a:xfrm>
          <a:prstGeom prst="roundRect">
            <a:avLst>
              <a:gd name="adj" fmla="val 10526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31606" y="2538374"/>
            <a:ext cx="86868" cy="86868"/>
          </a:xfrm>
          <a:prstGeom prst="ellipse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71816" y="3511296"/>
            <a:ext cx="347472" cy="347472"/>
          </a:xfrm>
          <a:prstGeom prst="donu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87968" y="2599182"/>
            <a:ext cx="825246" cy="0"/>
          </a:xfrm>
          <a:prstGeom prst="line">
            <a:avLst/>
          </a:prstGeom>
          <a:noFill/>
          <a:ln w="19050">
            <a:solidFill>
              <a:srgbClr val="3DCD58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10911992" y="4597146"/>
            <a:ext cx="0" cy="0"/>
          </a:xfrm>
          <a:prstGeom prst="line">
            <a:avLst/>
          </a:prstGeom>
          <a:noFill/>
          <a:ln w="19050">
            <a:solidFill>
              <a:srgbClr val="3DCD5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98080" y="2538374"/>
            <a:ext cx="12161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498080" y="2816352"/>
            <a:ext cx="12161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281928" y="468401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8714232" y="464058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500116" y="3337560"/>
            <a:ext cx="204139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clamp (on motor cable)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496044" y="2138782"/>
            <a:ext cx="191109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transmitter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190988" y="3337560"/>
            <a:ext cx="147675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valve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017252" y="5292090"/>
            <a:ext cx="18242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Strainer + optional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transmitter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760720" y="59893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in this deck are simulated (Grundfos NB 65-160/157, 11 kW). Prices are indicative, not quotes.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 are oversized and run throttled, so energy is burnt across a valve every hour.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566928" cy="56692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164482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148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pump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above the real duty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71800" y="2011680"/>
            <a:ext cx="411480" cy="29260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65576" y="137160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02736" y="1508760"/>
            <a:ext cx="566928" cy="56692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799" y="164482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02736" y="2148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half shut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Throttled to hold flow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888736" y="2011680"/>
            <a:ext cx="411480" cy="29260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82512" y="137160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19672" y="1508760"/>
            <a:ext cx="566928" cy="56692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735" y="164482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19672" y="2148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lost as heat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burnt in the valve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805672" y="2011680"/>
            <a:ext cx="411480" cy="29260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99448" y="137160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436608" y="1508760"/>
            <a:ext cx="566928" cy="56692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71" y="164482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36608" y="2148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meter spinning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on every bill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3063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for the pump AND for fighting the valve.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3429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can't see it because flow is hard to measure: an energy-audit practitioner reports that 30–40% of ultrasonic flow readings go wrong.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approaches, and where each fits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48640" y="42062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8580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Flow-meter retrofit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685800" y="470916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Fits: a direct flow reading.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short: meter cost and installation; ultrasonic readings misread 30–40% (practitioner report).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3362249" y="42062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3499409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ESCO audit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3499409" y="470916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Fits: expert judgement and a trusted baseline.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short: a point-in-time exercise and costly, not continuous.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175858" y="42062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313018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platforms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6313018" y="470916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Fits: deep integration with the vendor's own equipment.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short: often vendor-locked or subscription-based.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8989466" y="42062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E3F6E8"/>
          </a:solidFill>
          <a:ln w="31750">
            <a:solidFill>
              <a:srgbClr val="3DCD58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9126626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9126626" y="470916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Fits: ₹ waste by cause at ₹6,100–13,300 per kit; no flow meter.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audits only, and results are simulated so far.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clamp-on kit turns power + pressure readings into “₹ wasted per year, and why”.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00684" y="5004054"/>
            <a:ext cx="5733288" cy="260604"/>
          </a:xfrm>
          <a:prstGeom prst="rect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" y="3657600"/>
            <a:ext cx="2084832" cy="1346454"/>
          </a:xfrm>
          <a:prstGeom prst="roundRect">
            <a:avLst>
              <a:gd name="adj" fmla="val 6791"/>
            </a:avLst>
          </a:prstGeom>
          <a:solidFill>
            <a:srgbClr val="3A4A45"/>
          </a:solidFill>
          <a:ln w="12700">
            <a:solidFill>
              <a:srgbClr val="3A4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8458" y="374446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65122" y="374446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51787" y="374446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38451" y="374446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25116" y="374446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1780" y="374446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4178808"/>
            <a:ext cx="390906" cy="347472"/>
          </a:xfrm>
          <a:prstGeom prst="rect">
            <a:avLst/>
          </a:prstGeom>
          <a:solidFill>
            <a:srgbClr val="7C8A84"/>
          </a:solidFill>
          <a:ln w="12700">
            <a:solidFill>
              <a:srgbClr val="7C8A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3570732"/>
            <a:ext cx="1389888" cy="138988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58234" y="2354580"/>
            <a:ext cx="260604" cy="130302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58234" y="2354580"/>
            <a:ext cx="2475738" cy="26060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9744" y="4309110"/>
            <a:ext cx="1824228" cy="26060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91556" y="4178808"/>
            <a:ext cx="434340" cy="5212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87518" y="2224278"/>
            <a:ext cx="521208" cy="521208"/>
          </a:xfrm>
          <a:prstGeom prst="diamond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22062" y="2024482"/>
            <a:ext cx="52121" cy="21717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7820" y="1972361"/>
            <a:ext cx="260604" cy="6949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96816" y="2180844"/>
            <a:ext cx="86868" cy="19111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2574" y="1920240"/>
            <a:ext cx="304038" cy="260604"/>
          </a:xfrm>
          <a:prstGeom prst="roundRect">
            <a:avLst>
              <a:gd name="adj" fmla="val 17544"/>
            </a:avLst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1050" y="3918204"/>
            <a:ext cx="260604" cy="260604"/>
          </a:xfrm>
          <a:prstGeom prst="roundRect">
            <a:avLst>
              <a:gd name="adj" fmla="val 17544"/>
            </a:avLst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8852" y="2615184"/>
            <a:ext cx="52121" cy="104241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1920240"/>
            <a:ext cx="1389888" cy="694944"/>
          </a:xfrm>
          <a:prstGeom prst="roundRect">
            <a:avLst>
              <a:gd name="adj" fmla="val 10526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10966" y="1989734"/>
            <a:ext cx="86868" cy="86868"/>
          </a:xfrm>
          <a:prstGeom prst="ellipse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1176" y="2962656"/>
            <a:ext cx="347472" cy="347472"/>
          </a:xfrm>
          <a:prstGeom prst="donu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67328" y="2050542"/>
            <a:ext cx="825246" cy="0"/>
          </a:xfrm>
          <a:prstGeom prst="line">
            <a:avLst/>
          </a:prstGeom>
          <a:noFill/>
          <a:ln w="19050">
            <a:solidFill>
              <a:srgbClr val="3DCD5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791352" y="4048506"/>
            <a:ext cx="0" cy="0"/>
          </a:xfrm>
          <a:prstGeom prst="line">
            <a:avLst/>
          </a:prstGeom>
          <a:noFill/>
          <a:ln w="19050">
            <a:solidFill>
              <a:srgbClr val="3DCD5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377440" y="1989734"/>
            <a:ext cx="12161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377440" y="2267712"/>
            <a:ext cx="12161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" y="413537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593592" y="40919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79476" y="2788920"/>
            <a:ext cx="204139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clamp (on motor cable)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375404" y="1590142"/>
            <a:ext cx="191109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transmitter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070348" y="2788920"/>
            <a:ext cx="147675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valve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896612" y="4743450"/>
            <a:ext cx="18242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Strainer + optional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transmitter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223760" y="1463040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60920" y="1618488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594" y="1750162"/>
            <a:ext cx="285293" cy="285293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8092440" y="158191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waste per year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pump's energy waste priced in rupees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7223760" y="2468880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360920" y="2624328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594" y="2756002"/>
            <a:ext cx="285293" cy="285293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8092440" y="258775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by cause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Valve, impeller wear, clogged strainer</a:t>
            </a:r>
            <a:endParaRPr lang="en-US" sz="1800" dirty="0"/>
          </a:p>
        </p:txBody>
      </p:sp>
      <p:sp>
        <p:nvSpPr>
          <p:cNvPr id="46" name="Shape 42"/>
          <p:cNvSpPr/>
          <p:nvPr/>
        </p:nvSpPr>
        <p:spPr>
          <a:xfrm>
            <a:off x="7223760" y="3474720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7360920" y="3630168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594" y="3761842"/>
            <a:ext cx="285293" cy="285293"/>
          </a:xfrm>
          <a:prstGeom prst="rect">
            <a:avLst/>
          </a:prstGeom>
        </p:spPr>
      </p:pic>
      <p:sp>
        <p:nvSpPr>
          <p:cNvPr id="49" name="Text 44"/>
          <p:cNvSpPr txBox="1"/>
          <p:nvPr/>
        </p:nvSpPr>
        <p:spPr>
          <a:xfrm>
            <a:off x="8092440" y="35935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fixes + setpoint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fix first; lowest safe VFD setpoint</a:t>
            </a:r>
            <a:endParaRPr lang="en-US" sz="1800" dirty="0"/>
          </a:p>
        </p:txBody>
      </p:sp>
      <p:sp>
        <p:nvSpPr>
          <p:cNvPr id="50" name="Shape 45"/>
          <p:cNvSpPr/>
          <p:nvPr/>
        </p:nvSpPr>
        <p:spPr>
          <a:xfrm>
            <a:off x="7223760" y="4480560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7360920" y="4636008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594" y="4767682"/>
            <a:ext cx="285293" cy="285293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8092440" y="459943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saving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 after the fix</a:t>
            </a:r>
            <a:endParaRPr lang="en-US" sz="1800" dirty="0"/>
          </a:p>
        </p:txBody>
      </p:sp>
      <p:sp>
        <p:nvSpPr>
          <p:cNvPr id="54" name="Shape 48"/>
          <p:cNvSpPr/>
          <p:nvPr/>
        </p:nvSpPr>
        <p:spPr>
          <a:xfrm>
            <a:off x="548640" y="5669280"/>
            <a:ext cx="11109960" cy="594360"/>
          </a:xfrm>
          <a:prstGeom prst="roundRect">
            <a:avLst>
              <a:gd name="adj" fmla="val 15385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548640" y="566928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and recommends. Does not control the pump.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to Challenge 04 – Smart Manufacturing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Asset-level energy visibility, priced in rupees, at MSME entry cost.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goal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 feature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11680"/>
            <a:ext cx="594360" cy="59436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2154326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visibility at the asset level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120640" y="2157984"/>
            <a:ext cx="640080" cy="310896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0" y="1828800"/>
            <a:ext cx="5806440" cy="960120"/>
          </a:xfrm>
          <a:prstGeom prst="roundRect">
            <a:avLst>
              <a:gd name="adj" fmla="val 7619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35040" y="190195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(kWh/m³) and ₹/m³ for each pump, plus the waste split by cause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944368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3127248"/>
            <a:ext cx="594360" cy="59436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" y="3269894"/>
            <a:ext cx="309067" cy="30906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17320" y="303580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maintenance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120640" y="3273552"/>
            <a:ext cx="640080" cy="310896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852160" y="2944368"/>
            <a:ext cx="5806440" cy="960120"/>
          </a:xfrm>
          <a:prstGeom prst="roundRect">
            <a:avLst>
              <a:gd name="adj" fmla="val 7619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035040" y="3017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CUSUM wear-drift alarm (wear caught at about 2–4%); strainer clog made visible with one extra pressure sensor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48640" y="4059936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85800" y="4242816"/>
            <a:ext cx="594360" cy="59436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4385462"/>
            <a:ext cx="309067" cy="30906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17320" y="415137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kWh and CO₂ reduction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5120640" y="4389120"/>
            <a:ext cx="640080" cy="310896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852160" y="4059936"/>
            <a:ext cx="5806440" cy="960120"/>
          </a:xfrm>
          <a:prstGeom prst="roundRect">
            <a:avLst>
              <a:gd name="adj" fmla="val 7619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035040" y="413308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re-measurement; CO₂ at 0.710 kg/kWh (CEA); simulated 6.1–11.3 t CO₂/yr per 11 kW pump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548640" y="5175504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85800" y="5358384"/>
            <a:ext cx="594360" cy="59436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" y="5501030"/>
            <a:ext cx="309067" cy="309067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417320" y="526694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entry for MSMEs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5120640" y="5504688"/>
            <a:ext cx="640080" cy="310896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852160" y="5175504"/>
            <a:ext cx="5806440" cy="960120"/>
          </a:xfrm>
          <a:prstGeom prst="roundRect">
            <a:avLst>
              <a:gd name="adj" fmla="val 7619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035040" y="524865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Clamp-on kit from readily available parts, about ₹6,100–13,300; no flow meter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User Journey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clamp-on to a verified saving, in seven steps.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 cutting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1920240"/>
            <a:ext cx="137160" cy="20116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13716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463040"/>
            <a:ext cx="384048" cy="38404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02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7–14 days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+ pressure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11880" y="1920240"/>
            <a:ext cx="137160" cy="20116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3716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0" y="1463040"/>
            <a:ext cx="384048" cy="38404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₹/yr report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cause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12080" y="1920240"/>
            <a:ext cx="137160" cy="20116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3716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0680" y="1463040"/>
            <a:ext cx="384048" cy="38404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fix first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Valve, setpoint, strainer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12280" y="1920240"/>
            <a:ext cx="137160" cy="20116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13716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1463040"/>
            <a:ext cx="384048" cy="38404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408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VFD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estimate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412480" y="1920240"/>
            <a:ext cx="137160" cy="20116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9640" y="13716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41080" y="1463040"/>
            <a:ext cx="384048" cy="38404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41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641080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saving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012680" y="1920240"/>
            <a:ext cx="137160" cy="20116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49840" y="13716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41280" y="1463040"/>
            <a:ext cx="384048" cy="38404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2412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0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monitoring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Wear-drift alarm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3017520"/>
            <a:ext cx="66751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25400">
            <a:solidFill>
              <a:srgbClr val="0E5A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3017520"/>
            <a:ext cx="6675120" cy="457200"/>
          </a:xfrm>
          <a:prstGeom prst="rect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3017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report: Pump P-01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C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LAYOUT | SIMULATED VALUES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3152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by cause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2697480" y="35661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83–93% of the waste; wear and clog share the rest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31520" y="4091940"/>
            <a:ext cx="6309360" cy="0"/>
          </a:xfrm>
          <a:prstGeom prst="line">
            <a:avLst/>
          </a:prstGeom>
          <a:noFill/>
          <a:ln w="9525">
            <a:solidFill>
              <a:srgbClr val="D3DFD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31520" y="4114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fixes, in order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2697480" y="41148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Strainer, grease, alignment (cheap)  2. Speed control or impeller trim (largest saving)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31520" y="4640580"/>
            <a:ext cx="6309360" cy="0"/>
          </a:xfrm>
          <a:prstGeom prst="line">
            <a:avLst/>
          </a:prstGeom>
          <a:noFill/>
          <a:ln w="9525">
            <a:solidFill>
              <a:srgbClr val="D3DFD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1520" y="4663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setpoint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2697480" y="46634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 m (2.37 bar), constant pressure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31520" y="5189220"/>
            <a:ext cx="6309360" cy="0"/>
          </a:xfrm>
          <a:prstGeom prst="line">
            <a:avLst/>
          </a:prstGeom>
          <a:noFill/>
          <a:ln w="9525">
            <a:solidFill>
              <a:srgbClr val="D3DFD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1520" y="5212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saving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2697480" y="52120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19.3% = ₹69,292/yr, 6.1 t CO₂/yr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31520" y="5737860"/>
            <a:ext cx="6309360" cy="0"/>
          </a:xfrm>
          <a:prstGeom prst="line">
            <a:avLst/>
          </a:prstGeom>
          <a:noFill/>
          <a:ln w="9525">
            <a:solidFill>
              <a:srgbClr val="D3DFD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31520" y="5760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payback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2697480" y="5760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8.7–18.9 months. Example verdict: worth buying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498080" y="3063240"/>
            <a:ext cx="475488" cy="47548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5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2197" y="3177357"/>
            <a:ext cx="247254" cy="247254"/>
          </a:xfrm>
          <a:prstGeom prst="rect">
            <a:avLst/>
          </a:prstGeom>
        </p:spPr>
      </p:pic>
      <p:sp>
        <p:nvSpPr>
          <p:cNvPr id="58" name="Text 55"/>
          <p:cNvSpPr txBox="1"/>
          <p:nvPr/>
        </p:nvSpPr>
        <p:spPr>
          <a:xfrm>
            <a:off x="8092440" y="30175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flow meter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inferred from pump curve, power and head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7498080" y="3739896"/>
            <a:ext cx="475488" cy="47548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6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197" y="3854013"/>
            <a:ext cx="247254" cy="247254"/>
          </a:xfrm>
          <a:prstGeom prst="rect">
            <a:avLst/>
          </a:prstGeom>
        </p:spPr>
      </p:pic>
      <p:sp>
        <p:nvSpPr>
          <p:cNvPr id="61" name="Text 57"/>
          <p:cNvSpPr txBox="1"/>
          <p:nvPr/>
        </p:nvSpPr>
        <p:spPr>
          <a:xfrm>
            <a:off x="8092440" y="369417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Clamp-on install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parts, no pipe cutting</a:t>
            </a:r>
            <a:endParaRPr lang="en-US" sz="1500" dirty="0"/>
          </a:p>
        </p:txBody>
      </p:sp>
      <p:sp>
        <p:nvSpPr>
          <p:cNvPr id="62" name="Shape 58"/>
          <p:cNvSpPr/>
          <p:nvPr/>
        </p:nvSpPr>
        <p:spPr>
          <a:xfrm>
            <a:off x="7498080" y="4416552"/>
            <a:ext cx="475488" cy="47548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6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197" y="4530669"/>
            <a:ext cx="247254" cy="247254"/>
          </a:xfrm>
          <a:prstGeom prst="rect">
            <a:avLst/>
          </a:prstGeom>
        </p:spPr>
      </p:pic>
      <p:sp>
        <p:nvSpPr>
          <p:cNvPr id="64" name="Text 59"/>
          <p:cNvSpPr txBox="1"/>
          <p:nvPr/>
        </p:nvSpPr>
        <p:spPr>
          <a:xfrm>
            <a:off x="8092440" y="437083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verdict before you buy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for YOUR pump</a:t>
            </a:r>
            <a:endParaRPr lang="en-US" sz="1500" dirty="0"/>
          </a:p>
        </p:txBody>
      </p:sp>
      <p:sp>
        <p:nvSpPr>
          <p:cNvPr id="65" name="Shape 60"/>
          <p:cNvSpPr/>
          <p:nvPr/>
        </p:nvSpPr>
        <p:spPr>
          <a:xfrm>
            <a:off x="7498080" y="5093208"/>
            <a:ext cx="475488" cy="47548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6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197" y="5207325"/>
            <a:ext cx="247254" cy="247254"/>
          </a:xfrm>
          <a:prstGeom prst="rect">
            <a:avLst/>
          </a:prstGeom>
        </p:spPr>
      </p:pic>
      <p:sp>
        <p:nvSpPr>
          <p:cNvPr id="67" name="Text 61"/>
          <p:cNvSpPr txBox="1"/>
          <p:nvPr/>
        </p:nvSpPr>
        <p:spPr>
          <a:xfrm>
            <a:off x="8092440" y="504748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verification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 after the fix</a:t>
            </a:r>
            <a:endParaRPr lang="en-US" sz="1500" dirty="0"/>
          </a:p>
        </p:txBody>
      </p:sp>
      <p:sp>
        <p:nvSpPr>
          <p:cNvPr id="68" name="Shape 62"/>
          <p:cNvSpPr/>
          <p:nvPr/>
        </p:nvSpPr>
        <p:spPr>
          <a:xfrm>
            <a:off x="7498080" y="5769864"/>
            <a:ext cx="475488" cy="47548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6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197" y="5883981"/>
            <a:ext cx="247254" cy="247254"/>
          </a:xfrm>
          <a:prstGeom prst="rect">
            <a:avLst/>
          </a:prstGeom>
        </p:spPr>
      </p:pic>
      <p:sp>
        <p:nvSpPr>
          <p:cNvPr id="70" name="Text 63"/>
          <p:cNvSpPr txBox="1"/>
          <p:nvPr/>
        </p:nvSpPr>
        <p:spPr>
          <a:xfrm>
            <a:off x="8092440" y="5724144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Wear-drift alarm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slow impeller wear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Approach: Architecture &amp; Method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→ ESP32 logger → calibration &amp; analysis → owner report.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331720" cy="25146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81328"/>
            <a:ext cx="502920" cy="50292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602029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4813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Sensors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0312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clamp (+ voltage sensor)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pressure transmitter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strainer / process-side transmitter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971800" y="2468880"/>
            <a:ext cx="411480" cy="29260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65576" y="1371600"/>
            <a:ext cx="2331720" cy="25146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02736" y="1481328"/>
            <a:ext cx="502920" cy="50292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437" y="1602029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97096" y="14813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ESP32 logger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602736" y="210312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power + pressure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7–14 days of records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Clamp-on, no pipe cutting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888736" y="2468880"/>
            <a:ext cx="411480" cy="29260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82512" y="1371600"/>
            <a:ext cx="2331720" cy="25146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19672" y="1481328"/>
            <a:ext cx="502920" cy="50292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1602029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14032" y="14813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Calibration &amp; analysis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519672" y="210312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from pump curve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from logs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split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CUSUM wear drift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805672" y="2468880"/>
            <a:ext cx="411480" cy="29260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299448" y="1371600"/>
            <a:ext cx="2331720" cy="25146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436608" y="1481328"/>
            <a:ext cx="502920" cy="50292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309" y="1602029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030968" y="14813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Owner report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436608" y="210312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₹/yr waste, SEC kWh/m³, ₹/m³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fixes + setpoint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 to verify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in plain words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548640" y="443484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E3F6E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40080" y="449884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without a meter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curve + logged power + head give an estimate of flow.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2798064" y="443484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E3F6E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2889504" y="449884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7–14 days of logs. Optional anchors: shut-off head, closed-valve power.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5047488" y="443484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E3F6E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5138928" y="449884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split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way to share the blame among valve, wear and clog.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7296912" y="443484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E3F6E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388352" y="449884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CUSUM drift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alarm that notices slow drift, such as impeller wear.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9546336" y="443484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E3F6E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9637776" y="449884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of electricity per m³ pumped (kWh/m³).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is inferred, never measured. A bad flow reading (±30%) is worse than no calibration, so PumpRupee does not depend on 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Approach: Simulated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4937760" cy="310896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961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– Grundfos NB 65-160/157, 11 kW, IE3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Assumed: 10 m static lift | 5% head margin | 16 h/day | 300 days/yr | ₹8/kWh | VFD efficiency 0.97 | 0.710 kg CO₂/kWh (CEA)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46177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waste goes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11396" y="1737360"/>
            <a:ext cx="3566160" cy="46177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48556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74152" y="1737360"/>
            <a:ext cx="3566160" cy="46177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11312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Wear-drift detection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(throttling) share of waste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2656332" cy="4572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7852" y="2743200"/>
            <a:ext cx="320040" cy="457200"/>
          </a:xfrm>
          <a:prstGeom prst="rect">
            <a:avLst/>
          </a:prstGeom>
          <a:solidFill>
            <a:srgbClr val="F8D9B0"/>
          </a:solidFill>
          <a:ln w="12700">
            <a:solidFill>
              <a:srgbClr val="F8D9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7892" y="2743200"/>
            <a:ext cx="224028" cy="457200"/>
          </a:xfrm>
          <a:prstGeom prst="rect">
            <a:avLst/>
          </a:prstGeom>
          <a:solidFill>
            <a:srgbClr val="D3DFD7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743200"/>
            <a:ext cx="26563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83–93%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291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Rest: wear, clog, other.  Under stress tests the valve share is 72–87%. Measured against a speed-matched, healthy, clean ideal.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FFF4E5"/>
          </a:solidFill>
          <a:ln w="19050">
            <a:solidFill>
              <a:srgbClr val="E07B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4279392"/>
            <a:ext cx="2980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Clog blind spot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clogged strainer is invisible with power + pressure alone. One extra pressure sensor recovers about ₹6,000–6,600/yr of misattributed waste.</a:t>
            </a:r>
            <a:endParaRPr lang="en-US" sz="1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402836" y="2240280"/>
          <a:ext cx="33832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4494276" y="461772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error, percentage points.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curve, not the pump curve, is the main error source. A ±30% flow reading is worse than none (16.8 vs 8.3).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±3 points only with a measured system curve; else about ±10.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348472" y="2651760"/>
            <a:ext cx="3017520" cy="0"/>
          </a:xfrm>
          <a:prstGeom prst="line">
            <a:avLst/>
          </a:prstGeom>
          <a:noFill/>
          <a:ln w="25400">
            <a:solidFill>
              <a:srgbClr val="16261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48472" y="2596896"/>
            <a:ext cx="0" cy="109728"/>
          </a:xfrm>
          <a:prstGeom prst="line">
            <a:avLst/>
          </a:prstGeom>
          <a:noFill/>
          <a:ln w="12700">
            <a:solidFill>
              <a:srgbClr val="16261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65592" y="27249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354312" y="2596896"/>
            <a:ext cx="0" cy="109728"/>
          </a:xfrm>
          <a:prstGeom prst="line">
            <a:avLst/>
          </a:prstGeom>
          <a:noFill/>
          <a:ln w="12700">
            <a:solidFill>
              <a:srgbClr val="16261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71432" y="27249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0360152" y="2596896"/>
            <a:ext cx="0" cy="109728"/>
          </a:xfrm>
          <a:prstGeom prst="line">
            <a:avLst/>
          </a:prstGeom>
          <a:noFill/>
          <a:ln w="12700">
            <a:solidFill>
              <a:srgbClr val="16261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177272" y="27249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1365992" y="2596896"/>
            <a:ext cx="0" cy="109728"/>
          </a:xfrm>
          <a:prstGeom prst="line">
            <a:avLst/>
          </a:prstGeom>
          <a:noFill/>
          <a:ln w="12700">
            <a:solidFill>
              <a:srgbClr val="16261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1183112" y="27249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348472" y="2286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(simulated)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333232" y="2569464"/>
            <a:ext cx="164592" cy="164592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57032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step in wear: caught the next day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9741408" y="2569464"/>
            <a:ext cx="164592" cy="164592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57032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wear: alarm ~day 22 at ≈3.7% wear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0948416" y="2569464"/>
            <a:ext cx="164592" cy="164592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57032" y="4343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wear (0→10% in 180 days): alarm ~day 40 at ≈2.2% wear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257032" y="534924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366760" y="5394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caught at about 2–4%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false alarm in 3 × 365 simulated days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System-Level Packaging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claim pump monitoring, sensorless flow or VFD savings are new.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technology (we build on it)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182880" cy="182880"/>
          </a:xfrm>
          <a:prstGeom prst="ellipse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0116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PumpMeter</a:t>
            </a:r>
            <a:pPr indent="0" marL="0">
              <a:buNone/>
            </a:pPr>
            <a:r>
              <a:rPr lang="en-US" sz="14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pump monitoring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761488"/>
            <a:ext cx="182880" cy="182880"/>
          </a:xfrm>
          <a:prstGeom prst="ellipse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6517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DOE PSAT</a:t>
            </a:r>
            <a:pPr indent="0" marL="0">
              <a:buNone/>
            </a:pPr>
            <a:r>
              <a:rPr lang="en-US" sz="14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pump energy assessment tool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401568"/>
            <a:ext cx="182880" cy="182880"/>
          </a:xfrm>
          <a:prstGeom prst="ellipse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291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Samotics</a:t>
            </a:r>
            <a:pPr indent="0" marL="0">
              <a:buNone/>
            </a:pPr>
            <a:r>
              <a:rPr lang="en-US" sz="14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motor-current pump efficiency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4041648"/>
            <a:ext cx="182880" cy="182880"/>
          </a:xfrm>
          <a:prstGeom prst="ellipse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9319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Altivar Process</a:t>
            </a:r>
            <a:pPr indent="0" marL="0">
              <a:buNone/>
            </a:pPr>
            <a:r>
              <a:rPr lang="en-US" sz="14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sensorless flow in the drive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4681728"/>
            <a:ext cx="182880" cy="182880"/>
          </a:xfrm>
          <a:prstGeom prst="ellipse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45720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IoT vendors, ESCOs</a:t>
            </a:r>
            <a:pPr indent="0" marL="0">
              <a:buNone/>
            </a:pPr>
            <a:r>
              <a:rPr lang="en-US" sz="14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monitoring and audits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0" y="3017520"/>
            <a:ext cx="502920" cy="502920"/>
          </a:xfrm>
          <a:prstGeom prst="mathPlus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141732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E3F6E8"/>
          </a:solidFill>
          <a:ln w="31750">
            <a:solidFill>
              <a:srgbClr val="3DCD5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1228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integration</a:t>
            </a:r>
            <a:endParaRPr lang="en-US" sz="18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084832"/>
            <a:ext cx="292608" cy="29260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269480" y="201168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₹/year waste split by cause, not just an efficiency number</a:t>
            </a:r>
            <a:endParaRPr lang="en-US" sz="15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724912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69480" y="265176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the extra sensor that would reveal what the basic kit cannot see</a:t>
            </a:r>
            <a:endParaRPr lang="en-US" sz="15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364992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269480" y="32918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shared audit kit with no flow meter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005072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269480" y="393192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verification built in</a:t>
            </a:r>
            <a:endParaRPr lang="en-US" sz="15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4645152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269480" y="457200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VFD payback verdict for the owner's own pump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548640" y="5577840"/>
            <a:ext cx="11109960" cy="685800"/>
          </a:xfrm>
          <a:prstGeom prst="roundRect">
            <a:avLst>
              <a:gd name="adj" fmla="val 13333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548640" y="557784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no low-cost shared kit that combines all four. (A search result, not proof that none exists.)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Savings &amp; Cost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5760720" cy="310896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9611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– per 11 kW pump, peak demand 90% of rated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17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VFD, constant pressure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19.3% saved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286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₹69,292/yr  |  6.1 t CO₂/yr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37160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448" y="1417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VFD, proportional pressure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35.5% saved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286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₹1,27,178/yr  |  11.3 t CO₂/yr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57200" y="2834640"/>
          <a:ext cx="59436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48640" y="51206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across cases: 8–33% (constant), 15–45% (proportional). </a:t>
            </a:r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oversized pumps reach 54–60% in the model: an upper bound only. An energy-audit practitioner reports 5–40% in practice.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29400" y="1371600"/>
            <a:ext cx="50292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66560" y="1435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payback (indicative prices)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1828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single-phase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823960" y="1892808"/>
            <a:ext cx="278197" cy="274320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7877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₹6,100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+ 2nd transmitter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823960" y="2350008"/>
            <a:ext cx="465181" cy="274320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34861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₹10,200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76656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+ process-side transmitter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823960" y="2807208"/>
            <a:ext cx="606560" cy="274320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476240" y="2743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₹13,300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766560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₹12,000 industrial transmitters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823960" y="3264408"/>
            <a:ext cx="1828800" cy="274320"/>
          </a:xfrm>
          <a:prstGeom prst="rect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698480" y="3200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₹40,100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76656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for 11 kW: </a:t>
            </a:r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₹29,000–94,000 + ₹15,000 install (assumed)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payback (simulated)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766560" y="438912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0" y="4434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pump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4–19 months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144000" y="438912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FF4E5"/>
          </a:solidFill>
          <a:ln w="19050">
            <a:solidFill>
              <a:srgbClr val="E07B0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235440" y="4434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Right-sized, high lift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years+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766560" y="5349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tells you which case you are in BEFORE you spend on a VFD.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5897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kit cost is shared across pumps and is not included in the payback.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85216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benefits: </a:t>
            </a:r>
            <a:pPr indent="0" marL="0">
              <a:buNone/>
            </a:pPr>
            <a:r>
              <a:rPr lang="en-US" sz="1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plant owners, maintenance teams, energy auditors.   </a:t>
            </a:r>
            <a:pPr indent="0" marL="0">
              <a:buNone/>
            </a:pPr>
            <a:r>
              <a:rPr lang="en-US" sz="11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(illustration, not a projection): </a:t>
            </a:r>
            <a:pPr indent="0" marL="0">
              <a:buNone/>
            </a:pPr>
            <a:r>
              <a:rPr lang="en-US" sz="1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pumps × per-pump saving. For N = 10 on the base case: ₹6,92,920/yr and 61 t CO₂/yr (constant pressure).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simulated result to a field-validated audit kit.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97280" y="1965960"/>
            <a:ext cx="9966960" cy="0"/>
          </a:xfrm>
          <a:prstGeom prst="line">
            <a:avLst/>
          </a:prstGeom>
          <a:noFill/>
          <a:ln w="38100">
            <a:solidFill>
              <a:srgbClr val="9AA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737360"/>
            <a:ext cx="457200" cy="457200"/>
          </a:xfrm>
          <a:prstGeom prst="ellipse">
            <a:avLst/>
          </a:prstGeom>
          <a:solidFill>
            <a:srgbClr val="3DCD58"/>
          </a:solidFill>
          <a:ln w="25400">
            <a:solidFill>
              <a:srgbClr val="0E5A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231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Grundfos NB 65-160/157 curves; stress-tested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611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75304" y="1737360"/>
            <a:ext cx="457200" cy="457200"/>
          </a:xfrm>
          <a:prstGeom prst="ellipse">
            <a:avLst/>
          </a:prstGeom>
          <a:solidFill>
            <a:srgbClr val="F8D9B0"/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7530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98064" y="237744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89504" y="24231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test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pump and sensors; check inferred flow and calibration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89504" y="361188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8D9B0"/>
          </a:solidFill>
          <a:ln w="12700">
            <a:solidFill>
              <a:srgbClr val="F8D9B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89504" y="3611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24728" y="1737360"/>
            <a:ext cx="457200" cy="457200"/>
          </a:xfrm>
          <a:prstGeom prst="ellipse">
            <a:avLst/>
          </a:prstGeom>
          <a:solidFill>
            <a:srgbClr val="D3DFD7"/>
          </a:solidFill>
          <a:ln w="25400">
            <a:solidFill>
              <a:srgbClr val="5565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47488" y="237744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38928" y="24231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Pilot, 1–2 plants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system curve; log 7–14 days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38928" y="361188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3DFD7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38928" y="3611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74152" y="1737360"/>
            <a:ext cx="457200" cy="457200"/>
          </a:xfrm>
          <a:prstGeom prst="ellipse">
            <a:avLst/>
          </a:prstGeom>
          <a:solidFill>
            <a:srgbClr val="D3DFD7"/>
          </a:solidFill>
          <a:ln w="25400">
            <a:solidFill>
              <a:srgbClr val="55655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7415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96912" y="237744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88352" y="24231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error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forecast error with the ±3-point claim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88352" y="361188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3DFD7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88352" y="3611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323576" y="1737360"/>
            <a:ext cx="457200" cy="457200"/>
          </a:xfrm>
          <a:prstGeom prst="ellipse">
            <a:avLst/>
          </a:prstGeom>
          <a:solidFill>
            <a:srgbClr val="D3DFD7"/>
          </a:solidFill>
          <a:ln w="25400">
            <a:solidFill>
              <a:srgbClr val="55655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2357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546336" y="237744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37776" y="24231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Multi-pump, multi-plant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637776" y="361188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3DFD7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37776" y="3611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206240"/>
            <a:ext cx="11109960" cy="2103120"/>
          </a:xfrm>
          <a:prstGeom prst="roundRect">
            <a:avLst>
              <a:gd name="adj" fmla="val 3478"/>
            </a:avLst>
          </a:prstGeom>
          <a:solidFill>
            <a:srgbClr val="FFF4E5"/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42793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validate next (honest limits)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47091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only: no lab or field data yet, and no real quotes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±3 points only with a measured system curve; otherwise about ±10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system-curve fit uses the same form as the simulated plant, so it is optimistic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pump, steady state, hourly. Next: parallel pumps, closed loops, pumps already on drives, minimum-flow and NPSH checks, control dynamics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|  [Institution]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783080"/>
            <a:ext cx="1371600" cy="1371600"/>
          </a:xfrm>
          <a:prstGeom prst="ellipse">
            <a:avLst/>
          </a:prstGeom>
          <a:solidFill>
            <a:srgbClr val="E3F6E8"/>
          </a:solidFill>
          <a:ln w="25400">
            <a:solidFill>
              <a:srgbClr val="3DCD5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103120"/>
            <a:ext cx="731520" cy="731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3832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20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[Skill: one line relevant to pumps, sensors, data or energy]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62249" y="155448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02329" y="1783080"/>
            <a:ext cx="1371600" cy="1371600"/>
          </a:xfrm>
          <a:prstGeom prst="ellipse">
            <a:avLst/>
          </a:prstGeom>
          <a:solidFill>
            <a:srgbClr val="E3F6E8"/>
          </a:solidFill>
          <a:ln w="25400">
            <a:solidFill>
              <a:srgbClr val="3DCD5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369" y="210312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99409" y="33832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20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[Skill: one line relevant to pumps, sensors, data or energy]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175858" y="155448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15938" y="1783080"/>
            <a:ext cx="1371600" cy="1371600"/>
          </a:xfrm>
          <a:prstGeom prst="ellipse">
            <a:avLst/>
          </a:prstGeom>
          <a:solidFill>
            <a:srgbClr val="E3F6E8"/>
          </a:solidFill>
          <a:ln w="25400">
            <a:solidFill>
              <a:srgbClr val="3DCD5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978" y="210312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13018" y="33832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20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[Skill: one line relevant to pumps, sensors, data or energy]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8989466" y="155448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629546" y="1783080"/>
            <a:ext cx="1371600" cy="1371600"/>
          </a:xfrm>
          <a:prstGeom prst="ellipse">
            <a:avLst/>
          </a:prstGeom>
          <a:solidFill>
            <a:srgbClr val="E3F6E8"/>
          </a:solidFill>
          <a:ln w="25400">
            <a:solidFill>
              <a:srgbClr val="3DCD5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9586" y="2103120"/>
            <a:ext cx="731520" cy="7315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26626" y="33832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20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[Skill: one line relevant to pumps, sensors, data or energy]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photo circles and [placeholders]; delete unused cards (1–4 members).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PumpRupee - Yuva Yodha Idea Submission</dc:title>
  <dc:subject>PptxGenJS Presentation</dc:subject>
  <dc:creator>[Team name]</dc:creator>
  <cp:lastModifiedBy>[Team name]</cp:lastModifiedBy>
  <cp:revision>1</cp:revision>
  <dcterms:created xsi:type="dcterms:W3CDTF">2026-10-02T16:19:28Z</dcterms:created>
  <dcterms:modified xsi:type="dcterms:W3CDTF">2026-10-02T16:19:28Z</dcterms:modified>
</cp:coreProperties>
</file>