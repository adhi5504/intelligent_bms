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Pump, full speed (fit to maker data)</c:v>
                </c:pt>
              </c:strCache>
            </c:strRef>
          </c:tx>
          <c:spPr>
            <a:solidFill>
              <a:srgbClr val="0E5A32"/>
            </a:solidFill>
            <a:ln w="38100" cap="flat">
              <a:solidFill>
                <a:srgbClr val="0E5A32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5A32"/>
              </a:solidFill>
              <a:ln w="9525" cap="flat">
                <a:solidFill>
                  <a:srgbClr val="0E5A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33.1</c:v>
                </c:pt>
                <c:pt idx="1">
                  <c:v>33</c:v>
                </c:pt>
                <c:pt idx="2">
                  <c:v>32.8</c:v>
                </c:pt>
                <c:pt idx="3">
                  <c:v>32.6</c:v>
                </c:pt>
                <c:pt idx="4">
                  <c:v>32.3</c:v>
                </c:pt>
                <c:pt idx="5">
                  <c:v>31.8</c:v>
                </c:pt>
                <c:pt idx="6">
                  <c:v>31.2</c:v>
                </c:pt>
                <c:pt idx="7">
                  <c:v>30.4</c:v>
                </c:pt>
                <c:pt idx="8">
                  <c:v>29.4</c:v>
                </c:pt>
                <c:pt idx="9">
                  <c:v>28.2</c:v>
                </c:pt>
                <c:pt idx="10">
                  <c:v>26.7</c:v>
                </c:pt>
                <c:pt idx="11">
                  <c:v>25</c:v>
                </c:pt>
                <c:pt idx="12">
                  <c:v>22.9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System, valve open (assumed 10 m lift)</c:v>
                </c:pt>
              </c:strCache>
            </c:strRef>
          </c:tx>
          <c:spPr>
            <a:solidFill>
              <a:srgbClr val="9AA5A0"/>
            </a:solidFill>
            <a:ln w="38100" cap="flat">
              <a:solidFill>
                <a:srgbClr val="9AA5A0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5A0"/>
              </a:solidFill>
              <a:ln w="9525" cap="flat">
                <a:solidFill>
                  <a:srgbClr val="9AA5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10.1</c:v>
                </c:pt>
                <c:pt idx="1">
                  <c:v>10.5</c:v>
                </c:pt>
                <c:pt idx="2">
                  <c:v>11.1</c:v>
                </c:pt>
                <c:pt idx="3">
                  <c:v>12</c:v>
                </c:pt>
                <c:pt idx="4">
                  <c:v>13.1</c:v>
                </c:pt>
                <c:pt idx="5">
                  <c:v>14.5</c:v>
                </c:pt>
                <c:pt idx="6">
                  <c:v>16.1</c:v>
                </c:pt>
                <c:pt idx="7">
                  <c:v>17.9</c:v>
                </c:pt>
                <c:pt idx="8">
                  <c:v>20</c:v>
                </c:pt>
                <c:pt idx="9">
                  <c:v>22.4</c:v>
                </c:pt>
                <c:pt idx="10">
                  <c:v>25</c:v>
                </c:pt>
                <c:pt idx="11">
                  <c:v>27.8</c:v>
                </c:pt>
                <c:pt idx="12">
                  <c:v>30.9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System, throttled</c:v>
                </c:pt>
              </c:strCache>
            </c:strRef>
          </c:tx>
          <c:spPr>
            <a:solidFill>
              <a:srgbClr val="E07B00"/>
            </a:solidFill>
            <a:ln w="38100" cap="flat">
              <a:solidFill>
                <a:srgbClr val="E07B00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7B00"/>
              </a:solidFill>
              <a:ln w="9525" cap="flat">
                <a:solidFill>
                  <a:srgbClr val="E07B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10.6</c:v>
                </c:pt>
                <c:pt idx="1">
                  <c:v>12.3</c:v>
                </c:pt>
                <c:pt idx="2">
                  <c:v>15.2</c:v>
                </c:pt>
                <c:pt idx="3">
                  <c:v>19.2</c:v>
                </c:pt>
                <c:pt idx="4">
                  <c:v>24.3</c:v>
                </c:pt>
                <c:pt idx="5">
                  <c:v>30.7</c:v>
                </c:pt>
                <c:pt idx="6">
                  <c:v>38.1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Pump slowed by VFD (72% speed)</c:v>
                </c:pt>
              </c:strCache>
            </c:strRef>
          </c:tx>
          <c:spPr>
            <a:solidFill>
              <a:srgbClr val="3DCD58"/>
            </a:solidFill>
            <a:ln w="38100" cap="flat">
              <a:solidFill>
                <a:srgbClr val="3DCD58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CD58"/>
              </a:solidFill>
              <a:ln w="9525" cap="flat">
                <a:solidFill>
                  <a:srgbClr val="3DCD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17.1</c:v>
                </c:pt>
                <c:pt idx="1">
                  <c:v>17</c:v>
                </c:pt>
                <c:pt idx="2">
                  <c:v>16.8</c:v>
                </c:pt>
                <c:pt idx="3">
                  <c:v>16.5</c:v>
                </c:pt>
                <c:pt idx="4">
                  <c:v>16.1</c:v>
                </c:pt>
                <c:pt idx="5">
                  <c:v>15.5</c:v>
                </c:pt>
                <c:pt idx="6">
                  <c:v>14.7</c:v>
                </c:pt>
                <c:pt idx="7">
                  <c:v>13.7</c:v>
                </c:pt>
                <c:pt idx="8">
                  <c:v>12.3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Flow, m³/h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6EC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Head, 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Friendly test (1% noise)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Datasheet</c:v>
                  </c:pt>
                  <c:pt idx="1">
                    <c:v>Logs</c:v>
                  </c:pt>
                  <c:pt idx="2">
                    <c:v>Logs + P3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7.2</c:v>
                </c:pt>
                <c:pt idx="1">
                  <c:v>1.6</c:v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Stress test (3% noise, curve errors)</c:v>
                </c:pt>
              </c:strCache>
            </c:strRef>
          </c:tx>
          <c:spPr>
            <a:solidFill>
              <a:srgbClr val="E07B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Datasheet</c:v>
                  </c:pt>
                  <c:pt idx="1">
                    <c:v>Logs</c:v>
                  </c:pt>
                  <c:pt idx="2">
                    <c:v>Logs + P3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8.4</c:v>
                </c:pt>
                <c:pt idx="1">
                  <c:v>10.5</c:v>
                </c:pt>
                <c:pt idx="2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5655D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5655D"/>
                </a:solidFill>
                <a:latin typeface="Arial"/>
              </a:rPr>
              <a:t>Energy saving,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(peak 90%, 10 m lift)</c:v>
                </c:pt>
              </c:strCache>
            </c:strRef>
          </c:tx>
          <c:spPr>
            <a:solidFill>
              <a:srgbClr val="0E5A3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Constant pressure</c:v>
                  </c:pt>
                  <c:pt idx="1">
                    <c:v>Proportional pressure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19.3</c:v>
                </c:pt>
                <c:pt idx="1">
                  <c:v>35.5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Right-sized pump, 20 m lift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Constant pressure</c:v>
                  </c:pt>
                  <c:pt idx="1">
                    <c:v>Proportional pressure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Waste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7B0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3DFD7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Valve (throttling)</c:v>
                </c:pt>
                <c:pt idx="1">
                  <c:v>Wear, clog, other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83</c:v>
                </c:pt>
                <c:pt idx="1">
                  <c:v>17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seconds: pumps are oversized and run throttled; the energy is burnt across the valve. Owners cannot see it because flow is hard to measure. PumpRupee is a clamp-on kit that prices the waste in rupees and says whether a VFD will pay back for that pump. It audits and recommends; it never controls the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5-40% is the practitioner's reported range; 8-45% is our simulated range across oversizing and lift cases. Keep the two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 comparison. Say clearly that platforms such as EcoStruxure are what an MSME graduates to once the audit has shown where the money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 is read-only: clamp on the motor cable, sensors on existing gauge ports, installed by a plant electrician. Workflow: clamp, fit, log 7-14 days, read the rupee report, fix, verify, move the kit to the next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Pump curve = cubic fit to the 14 manufacturer points (Q 10-130 m3/h). System curve is an ASSUMPTION: 10 m static lift plus friction through the rated point. Throttled and VFD curves are computed from those with affinity laws. Simulated, not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Friendly = 1% noise and exact system curve. Stress = 3% noise, curve-shape errors, wrong static lift/friction. The stress numbers are the honest ones. The learned-from-logs number gets WORSE under stress unless the system curve is measured; that is exactly why P3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Per-pump numbers are simulated. kWh derived as rupees divided by 8; CO2 as kWh times 0.710: 69,292/8 = 8,661 kWh -&gt; 6.1 t; 1,27,178/8 = 15,897 kWh -&gt; 11.3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Arithmetic: 6,100/10 = 610 and 13,300/10 = 1,330. 365/14 = 26 and 365/7 = 52. 10,200/69,292 = 0.147 yr = 1.8 months. The kit payback is illustrative because it assumes the audit leads to the base-case VFD.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Altivar Process: it does sensorless flow inside the drive, which is great once the drive is bought. We help decide which pumps deserve one, and verify the saving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Schneider products are named only as examples of where an audited MSME goes next. No integration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ACTUALLY TESTED: nothing yet. Simulated/designed: savings, waste split, calibration, drift detection, cost estimates. To be tested: flow inference vs a reference meter, throttled-valve and blocked-strainer cases, wear drift, pilots, before/after VFD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key message, then the ask: a pilot plant and a reference flow meter for the bench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 |  Team ANS_4X  |  Yuva Yodha 2026, Smart Manufacturing  |  All results simulated; prices indicative, not quotes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pump energy waste in rupees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audit kit that tells you if a VFD will pay back for THAT pump.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840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38404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38404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3840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3840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348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Energy Tech Hackathon 2026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0292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Smart Manufacturing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 · Automate · Digitalise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715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021324" y="5369814"/>
            <a:ext cx="5733288" cy="260604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81928" y="4023360"/>
            <a:ext cx="2084832" cy="1346454"/>
          </a:xfrm>
          <a:prstGeom prst="roundRect">
            <a:avLst>
              <a:gd name="adj" fmla="val 679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9098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85762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72427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59091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45756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32420" y="41102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66760" y="4544568"/>
            <a:ext cx="390906" cy="347472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14232" y="3936492"/>
            <a:ext cx="1389888" cy="138988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78874" y="2720340"/>
            <a:ext cx="260604" cy="130302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78874" y="2720340"/>
            <a:ext cx="2475738" cy="260604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30384" y="4674870"/>
            <a:ext cx="1824228" cy="260604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12196" y="4544568"/>
            <a:ext cx="434340" cy="52120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08158" y="2590038"/>
            <a:ext cx="521208" cy="521208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42702" y="2390242"/>
            <a:ext cx="52121" cy="21717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38460" y="2338121"/>
            <a:ext cx="260604" cy="6949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7456" y="2546604"/>
            <a:ext cx="86868" cy="19111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13214" y="2286000"/>
            <a:ext cx="304038" cy="260604"/>
          </a:xfrm>
          <a:prstGeom prst="roundRect">
            <a:avLst>
              <a:gd name="adj" fmla="val 17544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781690" y="4283964"/>
            <a:ext cx="260604" cy="260604"/>
          </a:xfrm>
          <a:prstGeom prst="roundRect">
            <a:avLst>
              <a:gd name="adj" fmla="val 17544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19492" y="2980944"/>
            <a:ext cx="52121" cy="104241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98080" y="2286000"/>
            <a:ext cx="1389888" cy="694944"/>
          </a:xfrm>
          <a:prstGeom prst="roundRect">
            <a:avLst>
              <a:gd name="adj" fmla="val 10526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31606" y="2355494"/>
            <a:ext cx="86868" cy="86868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71816" y="3328416"/>
            <a:ext cx="347472" cy="347472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87968" y="2416302"/>
            <a:ext cx="825246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7498080" y="2355494"/>
            <a:ext cx="121615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0" y="2633472"/>
            <a:ext cx="121615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281928" y="450113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714232" y="4457700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500116" y="3154680"/>
            <a:ext cx="204139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496044" y="1955902"/>
            <a:ext cx="1911096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90988" y="3154680"/>
            <a:ext cx="1476756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17252" y="5109210"/>
            <a:ext cx="18242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760720" y="5852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 (Grundfos NB 65-160/157, 11 kW). Prices are indicative online prices, not quotes.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Invisible Waste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pumps run throttled. The extra energy is burnt across a valve, every hour.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6130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above the real duty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971800" y="196596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65576" y="137160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2736" y="148132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10" y="161300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02736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half shut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to hold flow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888736" y="196596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2" y="137160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19672" y="148132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346" y="161300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19672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lost as heat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burnt in the valve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805672" y="196596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99448" y="137160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36608" y="1481328"/>
            <a:ext cx="548640" cy="54864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8282" y="1613002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436608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leaking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bill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48640" y="310896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1520" y="3337560"/>
            <a:ext cx="594360" cy="59436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3480206"/>
            <a:ext cx="309067" cy="309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172968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is blind to it.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is hard and costly to measure. An energy-audit practitioner reports that 30–40% of ultrasonic flow readings go wrong. Head (pressure) and electrical power are easy to measure.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548640" y="43891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31520" y="4480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cause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731520" y="5074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sizing leads to throttling (practitioner report)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4297680" y="43891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480560" y="4480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83–93%</a:t>
            </a:r>
            <a:endParaRPr lang="en-US" sz="3200" dirty="0"/>
          </a:p>
        </p:txBody>
      </p:sp>
      <p:sp>
        <p:nvSpPr>
          <p:cNvPr id="32" name="Text 25"/>
          <p:cNvSpPr txBox="1"/>
          <p:nvPr/>
        </p:nvSpPr>
        <p:spPr>
          <a:xfrm>
            <a:off x="4480560" y="5074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simulated waste is the valve (72–87% under stress)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8046720" y="43891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29600" y="4480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8–45%</a:t>
            </a:r>
            <a:endParaRPr lang="en-US" sz="3200" dirty="0"/>
          </a:p>
        </p:txBody>
      </p:sp>
      <p:sp>
        <p:nvSpPr>
          <p:cNvPr id="35" name="Text 28"/>
          <p:cNvSpPr txBox="1"/>
          <p:nvPr/>
        </p:nvSpPr>
        <p:spPr>
          <a:xfrm>
            <a:off x="8229600" y="5074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saving across simulated cases; 5–40% reported in practice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figures: Grundfos NB 65-160/157, 11 kW. The 83–93% valve share is measured against a speed-matched, healthy, clean ideal.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Today's Options Rarely Reach MSMEs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is valuable. None is a low-cost entry point that ends in a ₹ decision.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337560" y="13716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33756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Flow-meter retrofit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13248" y="13716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13248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manual audit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88936" y="13716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88936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monitoring platform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564624" y="13716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64624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11091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10312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cost, small plant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21031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+ install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21031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per visit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88936" y="21031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higher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1031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615184"/>
            <a:ext cx="11091672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2615184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plant shutdown</a:t>
            </a:r>
            <a:endParaRPr lang="en-US" sz="14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7952" y="2697480"/>
            <a:ext cx="310896" cy="310896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697480"/>
            <a:ext cx="310896" cy="310896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697480"/>
            <a:ext cx="310896" cy="310896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5016" y="2697480"/>
            <a:ext cx="310896" cy="310896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48640" y="3127248"/>
            <a:ext cx="11091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12724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₹</a:t>
            </a:r>
            <a:endParaRPr lang="en-US" sz="14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7952" y="3209544"/>
            <a:ext cx="310896" cy="310896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209544"/>
            <a:ext cx="310896" cy="310896"/>
          </a:xfrm>
          <a:prstGeom prst="rect">
            <a:avLst/>
          </a:prstGeom>
        </p:spPr>
      </p:pic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9328" y="3209544"/>
            <a:ext cx="310896" cy="310896"/>
          </a:xfrm>
          <a:prstGeom prst="rect">
            <a:avLst/>
          </a:prstGeom>
        </p:spPr>
      </p:pic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5016" y="3209544"/>
            <a:ext cx="310896" cy="310896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548640" y="3639312"/>
            <a:ext cx="11091672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685800" y="363931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split by cause</a:t>
            </a:r>
            <a:endParaRPr lang="en-US" sz="1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7952" y="3721608"/>
            <a:ext cx="310896" cy="310896"/>
          </a:xfrm>
          <a:prstGeom prst="rect">
            <a:avLst/>
          </a:prstGeom>
        </p:spPr>
      </p:pic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3640" y="3721608"/>
            <a:ext cx="310896" cy="310896"/>
          </a:xfrm>
          <a:prstGeom prst="rect">
            <a:avLst/>
          </a:prstGeom>
        </p:spPr>
      </p:pic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9328" y="3721608"/>
            <a:ext cx="310896" cy="310896"/>
          </a:xfrm>
          <a:prstGeom prst="rect">
            <a:avLst/>
          </a:prstGeom>
        </p:spPr>
      </p:pic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15016" y="3721608"/>
            <a:ext cx="310896" cy="310896"/>
          </a:xfrm>
          <a:prstGeom prst="rect">
            <a:avLst/>
          </a:prstGeom>
        </p:spPr>
      </p:pic>
      <p:sp>
        <p:nvSpPr>
          <p:cNvPr id="36" name="Shape 22"/>
          <p:cNvSpPr/>
          <p:nvPr/>
        </p:nvSpPr>
        <p:spPr>
          <a:xfrm>
            <a:off x="548640" y="4151376"/>
            <a:ext cx="11091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7" name="Text 23"/>
          <p:cNvSpPr txBox="1"/>
          <p:nvPr/>
        </p:nvSpPr>
        <p:spPr>
          <a:xfrm>
            <a:off x="685800" y="415137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Pump-specific VFD verdict</a:t>
            </a:r>
            <a:endParaRPr lang="en-US" sz="1400" dirty="0"/>
          </a:p>
        </p:txBody>
      </p:sp>
      <p:pic>
        <p:nvPicPr>
          <p:cNvPr id="3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7952" y="4233672"/>
            <a:ext cx="310896" cy="310896"/>
          </a:xfrm>
          <a:prstGeom prst="rect">
            <a:avLst/>
          </a:prstGeom>
        </p:spPr>
      </p:pic>
      <p:pic>
        <p:nvPicPr>
          <p:cNvPr id="3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3640" y="4233672"/>
            <a:ext cx="310896" cy="310896"/>
          </a:xfrm>
          <a:prstGeom prst="rect">
            <a:avLst/>
          </a:prstGeom>
        </p:spPr>
      </p:pic>
      <p:pic>
        <p:nvPicPr>
          <p:cNvPr id="4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39328" y="4233672"/>
            <a:ext cx="310896" cy="310896"/>
          </a:xfrm>
          <a:prstGeom prst="rect">
            <a:avLst/>
          </a:prstGeom>
        </p:spPr>
      </p:pic>
      <p:pic>
        <p:nvPicPr>
          <p:cNvPr id="4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15016" y="4233672"/>
            <a:ext cx="310896" cy="310896"/>
          </a:xfrm>
          <a:prstGeom prst="rect">
            <a:avLst/>
          </a:prstGeom>
        </p:spPr>
      </p:pic>
      <p:sp>
        <p:nvSpPr>
          <p:cNvPr id="42" name="Shape 24"/>
          <p:cNvSpPr/>
          <p:nvPr/>
        </p:nvSpPr>
        <p:spPr>
          <a:xfrm>
            <a:off x="548640" y="4663440"/>
            <a:ext cx="11091672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3" name="Text 25"/>
          <p:cNvSpPr txBox="1"/>
          <p:nvPr/>
        </p:nvSpPr>
        <p:spPr>
          <a:xfrm>
            <a:off x="68580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saving afterwards</a:t>
            </a:r>
            <a:endParaRPr lang="en-US" sz="1400" dirty="0"/>
          </a:p>
        </p:txBody>
      </p:sp>
      <p:pic>
        <p:nvPicPr>
          <p:cNvPr id="4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87952" y="4745736"/>
            <a:ext cx="310896" cy="310896"/>
          </a:xfrm>
          <a:prstGeom prst="rect">
            <a:avLst/>
          </a:prstGeom>
        </p:spPr>
      </p:pic>
      <p:pic>
        <p:nvPicPr>
          <p:cNvPr id="4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3640" y="4745736"/>
            <a:ext cx="310896" cy="310896"/>
          </a:xfrm>
          <a:prstGeom prst="rect">
            <a:avLst/>
          </a:prstGeom>
        </p:spPr>
      </p:pic>
      <p:pic>
        <p:nvPicPr>
          <p:cNvPr id="4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39328" y="4745736"/>
            <a:ext cx="310896" cy="310896"/>
          </a:xfrm>
          <a:prstGeom prst="rect">
            <a:avLst/>
          </a:prstGeom>
        </p:spPr>
      </p:pic>
      <p:pic>
        <p:nvPicPr>
          <p:cNvPr id="4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415016" y="4745736"/>
            <a:ext cx="310896" cy="310896"/>
          </a:xfrm>
          <a:prstGeom prst="rect">
            <a:avLst/>
          </a:prstGeom>
        </p:spPr>
      </p:pic>
      <p:sp>
        <p:nvSpPr>
          <p:cNvPr id="48" name="Shape 26"/>
          <p:cNvSpPr/>
          <p:nvPr/>
        </p:nvSpPr>
        <p:spPr>
          <a:xfrm>
            <a:off x="548640" y="5175504"/>
            <a:ext cx="11091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9" name="Text 27"/>
          <p:cNvSpPr txBox="1"/>
          <p:nvPr/>
        </p:nvSpPr>
        <p:spPr>
          <a:xfrm>
            <a:off x="685800" y="5175504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small MSMEs</a:t>
            </a:r>
            <a:endParaRPr lang="en-US" sz="1400" dirty="0"/>
          </a:p>
        </p:txBody>
      </p:sp>
      <p:pic>
        <p:nvPicPr>
          <p:cNvPr id="50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87952" y="5257800"/>
            <a:ext cx="310896" cy="310896"/>
          </a:xfrm>
          <a:prstGeom prst="rect">
            <a:avLst/>
          </a:prstGeom>
        </p:spPr>
      </p:pic>
      <p:pic>
        <p:nvPicPr>
          <p:cNvPr id="51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63640" y="5257800"/>
            <a:ext cx="310896" cy="310896"/>
          </a:xfrm>
          <a:prstGeom prst="rect">
            <a:avLst/>
          </a:prstGeom>
        </p:spPr>
      </p:pic>
      <p:pic>
        <p:nvPicPr>
          <p:cNvPr id="5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39328" y="5257800"/>
            <a:ext cx="310896" cy="310896"/>
          </a:xfrm>
          <a:prstGeom prst="rect">
            <a:avLst/>
          </a:prstGeom>
        </p:spPr>
      </p:pic>
      <p:pic>
        <p:nvPicPr>
          <p:cNvPr id="53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415016" y="5257800"/>
            <a:ext cx="310896" cy="310896"/>
          </a:xfrm>
          <a:prstGeom prst="rect">
            <a:avLst/>
          </a:prstGeom>
        </p:spPr>
      </p:pic>
      <p:sp>
        <p:nvSpPr>
          <p:cNvPr id="54" name="Text 28"/>
          <p:cNvSpPr txBox="1"/>
          <p:nvPr/>
        </p:nvSpPr>
        <p:spPr>
          <a:xfrm>
            <a:off x="548640" y="5742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    ~ partly / varies by product    ✘ no.  Our general assessment, not a product test. PumpRupee's ticks are design targets (simulated, not field-proven).</a:t>
            </a:r>
            <a:endParaRPr lang="en-US" sz="1100" dirty="0"/>
          </a:p>
        </p:txBody>
      </p:sp>
      <p:sp>
        <p:nvSpPr>
          <p:cNvPr id="55" name="Shape 29"/>
          <p:cNvSpPr/>
          <p:nvPr/>
        </p:nvSpPr>
        <p:spPr>
          <a:xfrm>
            <a:off x="548640" y="6053328"/>
            <a:ext cx="11109960" cy="365760"/>
          </a:xfrm>
          <a:prstGeom prst="roundRect">
            <a:avLst>
              <a:gd name="adj" fmla="val 25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6" name="Text 30"/>
          <p:cNvSpPr txBox="1"/>
          <p:nvPr/>
        </p:nvSpPr>
        <p:spPr>
          <a:xfrm>
            <a:off x="548640" y="6053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platforms are the natural NEXT step after PumpRupee, not a rival.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Solution: A ₹ Audit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kit turns power + pressure readings into “₹ wasted per year, and why”.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00684" y="4912614"/>
            <a:ext cx="5733288" cy="260604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1288" y="3566160"/>
            <a:ext cx="2084832" cy="1346454"/>
          </a:xfrm>
          <a:prstGeom prst="roundRect">
            <a:avLst>
              <a:gd name="adj" fmla="val 679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8458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65122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51787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38451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5116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11780" y="3653028"/>
            <a:ext cx="104242" cy="1172718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4087368"/>
            <a:ext cx="390906" cy="347472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3479292"/>
            <a:ext cx="1389888" cy="138988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8234" y="2263140"/>
            <a:ext cx="260604" cy="130302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8234" y="2263140"/>
            <a:ext cx="2475738" cy="260604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9744" y="4217670"/>
            <a:ext cx="1824228" cy="260604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91556" y="4087368"/>
            <a:ext cx="434340" cy="52120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87518" y="2132838"/>
            <a:ext cx="521208" cy="521208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22062" y="1933042"/>
            <a:ext cx="52121" cy="21717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7820" y="1880921"/>
            <a:ext cx="260604" cy="6949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96816" y="2089404"/>
            <a:ext cx="86868" cy="19111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2574" y="1828800"/>
            <a:ext cx="304038" cy="260604"/>
          </a:xfrm>
          <a:prstGeom prst="roundRect">
            <a:avLst>
              <a:gd name="adj" fmla="val 17544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1050" y="3826764"/>
            <a:ext cx="260604" cy="260604"/>
          </a:xfrm>
          <a:prstGeom prst="roundRect">
            <a:avLst>
              <a:gd name="adj" fmla="val 17544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8852" y="2523744"/>
            <a:ext cx="52121" cy="104241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77440" y="1828800"/>
            <a:ext cx="1389888" cy="694944"/>
          </a:xfrm>
          <a:prstGeom prst="roundRect">
            <a:avLst>
              <a:gd name="adj" fmla="val 10526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10966" y="1898294"/>
            <a:ext cx="86868" cy="86868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1176" y="2871216"/>
            <a:ext cx="347472" cy="347472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67328" y="1959102"/>
            <a:ext cx="825246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377440" y="1898294"/>
            <a:ext cx="121615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176272"/>
            <a:ext cx="121615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04393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93592" y="4000500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79476" y="2697480"/>
            <a:ext cx="204139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75404" y="1498702"/>
            <a:ext cx="1911096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70348" y="2697480"/>
            <a:ext cx="1476756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896612" y="4652010"/>
            <a:ext cx="18242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257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= control speed instead of strangling the pipe.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223760" y="1371600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472184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594" y="1603858"/>
            <a:ext cx="285293" cy="285293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8092440" y="14356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per year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energy waste priced in rupees</a:t>
            </a:r>
            <a:endParaRPr lang="en-US" sz="1700" dirty="0"/>
          </a:p>
        </p:txBody>
      </p:sp>
      <p:sp>
        <p:nvSpPr>
          <p:cNvPr id="42" name="Shape 39"/>
          <p:cNvSpPr/>
          <p:nvPr/>
        </p:nvSpPr>
        <p:spPr>
          <a:xfrm>
            <a:off x="7223760" y="2240280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60920" y="2340864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594" y="2472538"/>
            <a:ext cx="285293" cy="285293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8092440" y="23042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Valve, impeller wear, clogged strainer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223760" y="3108960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360920" y="3209544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594" y="3341218"/>
            <a:ext cx="285293" cy="285293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8092440" y="317296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 + setpoint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safe VFD setpoint</a:t>
            </a:r>
            <a:endParaRPr lang="en-US" sz="1700" dirty="0"/>
          </a:p>
        </p:txBody>
      </p:sp>
      <p:sp>
        <p:nvSpPr>
          <p:cNvPr id="50" name="Shape 45"/>
          <p:cNvSpPr/>
          <p:nvPr/>
        </p:nvSpPr>
        <p:spPr>
          <a:xfrm>
            <a:off x="7223760" y="3977640"/>
            <a:ext cx="44348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7360920" y="4078224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594" y="4209898"/>
            <a:ext cx="285293" cy="285293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8092440" y="404164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verdict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pump, before capex</a:t>
            </a:r>
            <a:endParaRPr lang="en-US" sz="1700" dirty="0"/>
          </a:p>
        </p:txBody>
      </p:sp>
      <p:sp>
        <p:nvSpPr>
          <p:cNvPr id="54" name="Shape 48"/>
          <p:cNvSpPr/>
          <p:nvPr/>
        </p:nvSpPr>
        <p:spPr>
          <a:xfrm>
            <a:off x="7223760" y="4846320"/>
            <a:ext cx="4434840" cy="804672"/>
          </a:xfrm>
          <a:prstGeom prst="roundRect">
            <a:avLst>
              <a:gd name="adj" fmla="val 9091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7315200" y="4873752"/>
            <a:ext cx="4297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 · no pipe cutting · no shutdown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on existing gauge ports; owner keeps the data.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548640" y="5760720"/>
            <a:ext cx="11109960" cy="594360"/>
          </a:xfrm>
          <a:prstGeom prst="roundRect">
            <a:avLst>
              <a:gd name="adj" fmla="val 15385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548640" y="5760720"/>
            <a:ext cx="11109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recommends. Does not control the pump.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Install &amp; Pump Curve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on, log for a week or two, and let the maths find the waste. Curves below are the real pump.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(CT on cable)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56232" y="1737360"/>
            <a:ext cx="219456" cy="27432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14630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03120" y="14630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3774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suction (optional)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discharge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10712" y="1737360"/>
            <a:ext cx="219456" cy="27432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0" y="14630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14630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3774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process-side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65192" y="1737360"/>
            <a:ext cx="219456" cy="27432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14630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14630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20040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24612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kit: power clamp + discharge pressure (P2).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P3 (process-side) when a VFD purchase is on the table: it measures the system curve and reveals a clogged strainer.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43484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+ power  </a:t>
            </a:r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priced in ₹ (basic)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47640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P3 (about ₹3,068)  </a:t>
            </a:r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10.5 → 1.4 pts (stress, simulated)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09320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P1 / strainer ΔP  </a:t>
            </a:r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Clog made visible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curve = what the pipe network demands.  Pump curve = what the pump can deliver at a given speed.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20840" y="137160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Grundfos NB 65-160/157: head vs flow</a:t>
            </a:r>
            <a:endParaRPr lang="en-US" sz="15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6812280" y="1783080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858000" y="484632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hour (60% of peak demand, 61.6 m³/h)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Throttled: the pump delivers 31.7 m, the pipe needs 15.4 m (incl. 5% margin). The valve burns the gap. VFD: slow to 72% speed. That gap is what PumpRupee prices in 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Honest Accuracy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plain steps from raw logs to a ₹ report, with the uncertainty stated.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17320"/>
            <a:ext cx="411480" cy="41148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1516075"/>
            <a:ext cx="213970" cy="2139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logs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+ pressure, 7–14 days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86000" y="1965960"/>
            <a:ext cx="128016" cy="18288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19502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29230" y="1417320"/>
            <a:ext cx="411480" cy="41148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986" y="1516075"/>
            <a:ext cx="213970" cy="21397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86430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510942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real pump from its logs; optional anchors: shut-off head, closed-valve power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156862" y="1965960"/>
            <a:ext cx="128016" cy="18288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0365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400093" y="1417320"/>
            <a:ext cx="411480" cy="41148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516075"/>
            <a:ext cx="213970" cy="21397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57293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inference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381805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curve + power + head give flow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027725" y="1965960"/>
            <a:ext cx="128016" cy="18288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161227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70955" y="1417320"/>
            <a:ext cx="411480" cy="41148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0" y="1516075"/>
            <a:ext cx="213970" cy="21397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728155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252667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split of blame between causes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898587" y="1965960"/>
            <a:ext cx="128016" cy="18288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032090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141818" y="1417320"/>
            <a:ext cx="411480" cy="41148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0573" y="1516075"/>
            <a:ext cx="213970" cy="2139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99018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check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123530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alarm when the pump slowly wears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9769450" y="1965960"/>
            <a:ext cx="128016" cy="182880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9902952" y="13258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012680" y="1417320"/>
            <a:ext cx="411480" cy="4114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1435" y="1516075"/>
            <a:ext cx="213970" cy="21397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469880" y="1417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9994392" y="192024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₹/yr, SEC, fixes, setpoint. SEC = units of electricity per m³ pumped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548640" y="3108960"/>
            <a:ext cx="57607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685800" y="3172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error, percentage points (simulated)</a:t>
            </a:r>
            <a:endParaRPr lang="en-US" sz="140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640080" y="3474720"/>
          <a:ext cx="557784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42" name="Text 33"/>
          <p:cNvSpPr txBox="1"/>
          <p:nvPr/>
        </p:nvSpPr>
        <p:spPr>
          <a:xfrm>
            <a:off x="685800" y="54864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curve, not the pump curve, is the main error source. A ±30% flow reading is worse than none (16.8 vs 8.3). </a:t>
            </a:r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±10.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6492240" y="3108960"/>
            <a:ext cx="5166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629400" y="31729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Wear-drift check (CUSUM), simulated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6858000" y="3977640"/>
            <a:ext cx="4434840" cy="0"/>
          </a:xfrm>
          <a:prstGeom prst="line">
            <a:avLst/>
          </a:prstGeom>
          <a:noFill/>
          <a:ln w="25400">
            <a:solidFill>
              <a:srgbClr val="16261F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6858000" y="3922776"/>
            <a:ext cx="0" cy="109728"/>
          </a:xfrm>
          <a:prstGeom prst="line">
            <a:avLst/>
          </a:prstGeom>
          <a:noFill/>
          <a:ln w="12700">
            <a:solidFill>
              <a:srgbClr val="16261F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6675120" y="40507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8336280" y="3922776"/>
            <a:ext cx="0" cy="109728"/>
          </a:xfrm>
          <a:prstGeom prst="line">
            <a:avLst/>
          </a:prstGeom>
          <a:noFill/>
          <a:ln w="12700">
            <a:solidFill>
              <a:srgbClr val="16261F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8153400" y="40507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9814560" y="3922776"/>
            <a:ext cx="0" cy="109728"/>
          </a:xfrm>
          <a:prstGeom prst="line">
            <a:avLst/>
          </a:prstGeom>
          <a:noFill/>
          <a:ln w="12700">
            <a:solidFill>
              <a:srgbClr val="16261F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9631680" y="40507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11292840" y="3922776"/>
            <a:ext cx="0" cy="109728"/>
          </a:xfrm>
          <a:prstGeom prst="line">
            <a:avLst/>
          </a:prstGeom>
          <a:noFill/>
          <a:ln w="12700">
            <a:solidFill>
              <a:srgbClr val="16261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11109960" y="40507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54" name="Text 45"/>
          <p:cNvSpPr txBox="1"/>
          <p:nvPr/>
        </p:nvSpPr>
        <p:spPr>
          <a:xfrm>
            <a:off x="6858000" y="3611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100" dirty="0"/>
          </a:p>
        </p:txBody>
      </p:sp>
      <p:sp>
        <p:nvSpPr>
          <p:cNvPr id="55" name="Shape 46"/>
          <p:cNvSpPr/>
          <p:nvPr/>
        </p:nvSpPr>
        <p:spPr>
          <a:xfrm>
            <a:off x="6874256" y="3895344"/>
            <a:ext cx="164592" cy="164592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6766560" y="43434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step: caught next day</a:t>
            </a:r>
            <a:endParaRPr lang="en-US" sz="1200" dirty="0"/>
          </a:p>
        </p:txBody>
      </p:sp>
      <p:sp>
        <p:nvSpPr>
          <p:cNvPr id="57" name="Shape 48"/>
          <p:cNvSpPr/>
          <p:nvPr/>
        </p:nvSpPr>
        <p:spPr>
          <a:xfrm>
            <a:off x="8943848" y="3895344"/>
            <a:ext cx="164592" cy="16459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6766560" y="46634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wear: alarm ~day 22 at ≈3.7%</a:t>
            </a:r>
            <a:endParaRPr lang="en-US" sz="1200" dirty="0"/>
          </a:p>
        </p:txBody>
      </p:sp>
      <p:sp>
        <p:nvSpPr>
          <p:cNvPr id="59" name="Shape 50"/>
          <p:cNvSpPr/>
          <p:nvPr/>
        </p:nvSpPr>
        <p:spPr>
          <a:xfrm>
            <a:off x="10717784" y="3895344"/>
            <a:ext cx="164592" cy="16459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6766560" y="498348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wear (0→10% in 180 d): alarm ~day 40 at ≈2.2%</a:t>
            </a:r>
            <a:endParaRPr lang="en-US" sz="1200" dirty="0"/>
          </a:p>
        </p:txBody>
      </p:sp>
      <p:sp>
        <p:nvSpPr>
          <p:cNvPr id="61" name="Shape 52"/>
          <p:cNvSpPr/>
          <p:nvPr/>
        </p:nvSpPr>
        <p:spPr>
          <a:xfrm>
            <a:off x="6629400" y="5486400"/>
            <a:ext cx="4892040" cy="731520"/>
          </a:xfrm>
          <a:prstGeom prst="roundRect">
            <a:avLst>
              <a:gd name="adj" fmla="val 10000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6720840" y="54864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caught at about 2–4%.  1 false alarm in 3 × 365 simulated days.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(Simulated)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Grundfos NB 65-160/157, 11 kW, IE3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Assumed: 10 m static lift | 5% head margin | 16 h/day | 300 days/yr | ₹8/kWh | VFD efficiency 0.97 | 0.710 kg CO₂/kWh. Peak demand 90% of rated flow.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603504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82880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6537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VFD, constant pressure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19.3% saved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₹69,292/yr | 6.1 t CO₂ | ≈8,660 kWh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182880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3320" y="186537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VFD, proportional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103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35.5% saved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606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₹1,27,178/yr | 11.3 t CO₂ | ≈15,900 kWh</a:t>
            </a:r>
            <a:endParaRPr lang="en-US" sz="11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40080" y="3154680"/>
          <a:ext cx="58521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31520" y="53492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8–33% (constant), 15–45% (proportional). 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54–60% for heavily oversized pumps is an upper bound only. ₹, kWh and CO₂ are consistent: kWh = ₹ ÷ 8; CO₂ = kWh × 0.710 (arithmetic).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6560" y="1737360"/>
            <a:ext cx="489204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1810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waste goes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812280" y="2103120"/>
          <a:ext cx="2377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≥83%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235440" y="228600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83–93%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(72–87% under stress). Donut shows the low end. Measured against a speed-matched, healthy, clean ideal.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4526280"/>
            <a:ext cx="4617720" cy="1691640"/>
          </a:xfrm>
          <a:prstGeom prst="roundRect">
            <a:avLst>
              <a:gd name="adj" fmla="val 4324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40880" y="457200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Clog blind spot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clogged strainer is invisible with power + pressure alone. One extra pressure sensor recovers about ₹6,000–6,600/yr of misattributed waste.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VFD Verdict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ONLINE PRICES, NOT QUOTES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931920" cy="43891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35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(preliminary)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dev board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783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₹399–449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176272"/>
            <a:ext cx="3657600" cy="0"/>
          </a:xfrm>
          <a:prstGeom prst="line">
            <a:avLst/>
          </a:prstGeom>
          <a:noFill/>
          <a:ln w="6350">
            <a:solidFill>
              <a:srgbClr val="D3DF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18541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clamp, SCT-013 100 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1854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₹349 + GST to ₹729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3657600" cy="0"/>
          </a:xfrm>
          <a:prstGeom prst="line">
            <a:avLst/>
          </a:prstGeom>
          <a:noFill/>
          <a:ln w="635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58775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sensor ZMPT101B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5877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₹92–289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2980944"/>
            <a:ext cx="3657600" cy="0"/>
          </a:xfrm>
          <a:prstGeom prst="line">
            <a:avLst/>
          </a:prstGeom>
          <a:noFill/>
          <a:ln w="6350">
            <a:solidFill>
              <a:srgbClr val="D3DFD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99008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transmitter, basic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9900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₹2,100–3,068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83280"/>
            <a:ext cx="3657600" cy="0"/>
          </a:xfrm>
          <a:prstGeom prst="line">
            <a:avLst/>
          </a:prstGeom>
          <a:noFill/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392424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Enclosure, supply, 4–20 mA, wiring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3924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₹2,000 (assumed)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3785616"/>
            <a:ext cx="3657600" cy="0"/>
          </a:xfrm>
          <a:prstGeom prst="line">
            <a:avLst/>
          </a:prstGeom>
          <a:noFill/>
          <a:ln w="6350">
            <a:solidFill>
              <a:srgbClr val="D3D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8862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single-phase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38862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₹6,100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153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3-phase + 2nd transmitter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421538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₹10,200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5445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3-phase + process-side (P3)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5445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₹13,300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873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₹12,000 transmitters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8737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₹40,100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2852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Hobby-grade clamps; not a certified meter. Volume cost: not estimated (no quotes).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371600"/>
            <a:ext cx="3429000" cy="43891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00600" y="14356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per pump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1828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pump audited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÷ N pumps. N = 10: ₹610–1,330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80720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time per pump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(assumed ½ day) + 7–14 days logging + report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378561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throughput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25–50 pumps/yr per kit at 7–14 days each (arithmetic, excludes travel)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476402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payback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₹10,200 ≈ 1.8 months of the base-case saving of ₹69,292/yr, if the audit leads to that VFD (illustrative)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75320" y="1371600"/>
            <a:ext cx="3383280" cy="43891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412480" y="14356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 (simulated)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412480" y="18288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503920" y="1874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GO: buy the VFD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0" y="34290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503920" y="34747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Right-sized, high lift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2–4+ years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fix cheaper things first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412480" y="4983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₹29,000–94,000 + about ₹15,000 install (assumed): ₹50,200–1,09,400 in total.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585216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8521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~₹10k kit can stop a wrong ₹50k–1.1 lakh VFD buy, or unlock ₹69,292–1,27,178/yr (simulated)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Innovation: What's New, and What Isn't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 proven tools. The new part is the integration for MSMEs.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exists (we build on it)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" y="199339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8745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KSB PumpMeter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pump monitoring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249631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3774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DOE PSAT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pump-system assessment tool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299923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8803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Samotics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motor-current pump efficiency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9808" y="350215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3832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Altivar Process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sensorless flow in the drive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9808" y="400507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8862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EcoStruxure, Indian IoT vendors, ESCOs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energy monitoring and audits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9808" y="4507992"/>
            <a:ext cx="164592" cy="16459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3891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split, CUSUM, calibration</a:t>
            </a:r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known methods, applied here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788152" y="2971800"/>
            <a:ext cx="457200" cy="457200"/>
          </a:xfrm>
          <a:prstGeom prst="mathPlus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371600"/>
            <a:ext cx="5303520" cy="3611880"/>
          </a:xfrm>
          <a:prstGeom prst="roundRect">
            <a:avLst>
              <a:gd name="adj" fmla="val 2025"/>
            </a:avLst>
          </a:prstGeom>
          <a:solidFill>
            <a:srgbClr val="E3F6E8"/>
          </a:solidFill>
          <a:ln w="31750">
            <a:solidFill>
              <a:srgbClr val="3DCD5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37960" y="14447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PumpRupee adds: five answers</a:t>
            </a:r>
            <a:endParaRPr lang="en-US" sz="17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96596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949440" y="187452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₹ is this pump wasting, and why?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priced by cause</a:t>
            </a:r>
            <a:endParaRPr lang="en-US" sz="13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56946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949440" y="2478024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 extra sensor worth buying?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value priced in ₹</a:t>
            </a:r>
            <a:endParaRPr lang="en-US" sz="13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3172968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949440" y="308152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a VFD pay back for THIS pump?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before capex</a:t>
            </a:r>
            <a:endParaRPr lang="en-US" sz="13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377647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949440" y="3685032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fix work?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before/after check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379976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49440" y="4288536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MSME afford it?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₹6,100–13,300, no flow meter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548640" y="512064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77240" y="5166360"/>
            <a:ext cx="10652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“What's new?”  Most tools tell you how a pump is running. PumpRupee tells an MSME owner what to buy, in rupees, before spending, and proves it afterwards.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low-cost shared kit that combines these. That is a search result, not proof that none exists.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Fit: Audit → Drive → Verify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is the low-cost front door to VFD and energy-management adoption.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602029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81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motor electrical energy visible with a clamp-on power measurement and points owners to efficient drives.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481328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541" y="1602029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74920" y="1481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434840" y="21031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which pumps justify a drive and the lowest safe setpoint. The drive does the controlling; PumpRupee never does.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83880" y="1481328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581" y="160202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23960" y="1481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21031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become a ₹ business case and a before/after proof. The owner keeps the data and can use any drive.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2044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8368" y="3611880"/>
            <a:ext cx="347472" cy="34747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58368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658368" y="402336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audit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Clamp-on, 7–14 days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2578608" y="402336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798064" y="352044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907792" y="3611880"/>
            <a:ext cx="347472" cy="34747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2907792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2907792" y="402336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business case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 + VFD verdict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4828032" y="402336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047488" y="352044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157216" y="3611880"/>
            <a:ext cx="347472" cy="34747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157216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5157216" y="402336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installed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Altivar Process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077456" y="402336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296912" y="352044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406640" y="3611880"/>
            <a:ext cx="347472" cy="34747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406640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7406640" y="402336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re-measures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kit, after the fix</a:t>
            </a:r>
            <a:endParaRPr lang="en-US" sz="1400" dirty="0"/>
          </a:p>
        </p:txBody>
      </p:sp>
      <p:sp>
        <p:nvSpPr>
          <p:cNvPr id="38" name="Shape 33"/>
          <p:cNvSpPr/>
          <p:nvPr/>
        </p:nvSpPr>
        <p:spPr>
          <a:xfrm>
            <a:off x="9326880" y="402336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546336" y="352044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656064" y="3611880"/>
            <a:ext cx="347472" cy="347472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656064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37"/>
          <p:cNvSpPr txBox="1"/>
          <p:nvPr/>
        </p:nvSpPr>
        <p:spPr>
          <a:xfrm>
            <a:off x="9656064" y="402336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energy management, e.g. EcoStruxure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48640" y="5029200"/>
            <a:ext cx="6766560" cy="1280160"/>
          </a:xfrm>
          <a:prstGeom prst="roundRect">
            <a:avLst>
              <a:gd name="adj" fmla="val 5714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31520" y="50749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helps drive and EMS adoption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MSMEs that skip audits today get a ₹ case they understand, a pump-specific verdict before capex, and proof after.</a:t>
            </a:r>
            <a:endParaRPr lang="en-US" sz="1500" dirty="0"/>
          </a:p>
        </p:txBody>
      </p:sp>
      <p:sp>
        <p:nvSpPr>
          <p:cNvPr id="45" name="Shape 40"/>
          <p:cNvSpPr/>
          <p:nvPr/>
        </p:nvSpPr>
        <p:spPr>
          <a:xfrm>
            <a:off x="7498080" y="502920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7635240" y="507492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Manufacturing fit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efficiency · productivity · digitalisation · sustainability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only: no drive or platform integration built.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Impact, Scalability &amp; 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65760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= SIMULATED, per 11 kW pump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57784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481328"/>
            <a:ext cx="1719072" cy="1097280"/>
          </a:xfrm>
          <a:prstGeom prst="roundRect">
            <a:avLst>
              <a:gd name="adj" fmla="val 666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₹69k–1.27 lakh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96312" y="1481328"/>
            <a:ext cx="1719072" cy="1097280"/>
          </a:xfrm>
          <a:prstGeom prst="roundRect">
            <a:avLst>
              <a:gd name="adj" fmla="val 666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508760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≈8,660–15,900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 per year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06824" y="1481328"/>
            <a:ext cx="1719072" cy="1097280"/>
          </a:xfrm>
          <a:prstGeom prst="roundRect">
            <a:avLst>
              <a:gd name="adj" fmla="val 666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52544" y="1508760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6.1–11.3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CO₂ per year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97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illustration, not a projection: </a:t>
            </a:r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pumps × per-pump saving. N = 10: ₹6,92,920–12,71,780/yr and 61–113 t CO₂/yr.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760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3DCD58"/>
          </a:solidFill>
          <a:ln w="6350">
            <a:solidFill>
              <a:srgbClr val="3DCD5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947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" y="4206240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8ADB9B"/>
          </a:solidFill>
          <a:ln w="6350">
            <a:solidFill>
              <a:srgbClr val="3DCD5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06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(shared kit)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88720" y="4617720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B8E8C2"/>
          </a:solidFill>
          <a:ln w="635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46177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/ ESCO / channel partner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417320" y="5029200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E3F6E8"/>
          </a:solidFill>
          <a:ln w="6350">
            <a:solidFill>
              <a:srgbClr val="3DCD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08760" y="50292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with VFD &amp; EMS offers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532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MSME factories, water utilities, textile, food processing, HVAC chilled water.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1371600"/>
            <a:ext cx="534924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1435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17830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Simulation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515600" y="1819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515600" y="18196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221284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Bench test, real pump + sensors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515600" y="22494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8D9B0"/>
          </a:solidFill>
          <a:ln w="12700">
            <a:solidFill>
              <a:srgbClr val="F8D9B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0" y="22494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264261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Pilot, 1–2 plants, measured system curve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515600" y="267919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515600" y="26791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3072384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Validate forecast error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310896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515600" y="31089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50215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Multi-pump / multi-plant rollout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515600" y="35387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515600" y="35387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46520" y="4023360"/>
            <a:ext cx="5074920" cy="2194560"/>
          </a:xfrm>
          <a:prstGeom prst="roundRect">
            <a:avLst>
              <a:gd name="adj" fmla="val 3333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limits. Actually tested: nothing yet.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4389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only: no lab/field data, no real quotes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System-curve fit is optimistic (same form as the simulated plant)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pump, steady state; no parallel pumps, closed loops, drives, NPSH or control dynamics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partly by construction; 54–60% is an upper bound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2026  |  Smart Manufacturing  |  [Institution]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60020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1901952"/>
            <a:ext cx="676656" cy="676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0632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[Skill: one line relevant to pumps, sensors, data or energy]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62249" y="14173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48049" y="160020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801" y="1901952"/>
            <a:ext cx="676656" cy="676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99409" y="30632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[Skill: one line relevant to pumps, sensors, data or energy]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175858" y="14173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61658" y="160020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410" y="1901952"/>
            <a:ext cx="676656" cy="6766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13018" y="30632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[Skill: one line relevant to pumps, sensors, data or energy]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8989466" y="14173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675266" y="160020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7018" y="1901952"/>
            <a:ext cx="676656" cy="6766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6626" y="30632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[Skill: one line relevant to pumps, sensors, data or energy]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48640" y="5349240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kit. Clever inference. Answers in rupees. Honest about limits.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photo circles and [placeholders]; delete unused cards (1–4 members).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PumpRupee - Schneider Electric Yuva Yodha 2026 - Team ANS_4X</dc:title>
  <dc:subject>PptxGenJS Presentation</dc:subject>
  <dc:creator>ANS_4X</dc:creator>
  <cp:lastModifiedBy>ANS_4X</cp:lastModifiedBy>
  <cp:revision>1</cp:revision>
  <dcterms:created xsi:type="dcterms:W3CDTF">2026-10-03T07:56:15Z</dcterms:created>
  <dcterms:modified xsi:type="dcterms:W3CDTF">2026-10-03T07:56:15Z</dcterms:modified>
</cp:coreProperties>
</file>