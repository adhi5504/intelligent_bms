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Pump curve, full speed</c:v>
                </c:pt>
              </c:strCache>
            </c:strRef>
          </c:tx>
          <c:spPr>
            <a:solidFill>
              <a:srgbClr val="0E5A32"/>
            </a:solidFill>
            <a:ln w="38100" cap="flat">
              <a:solidFill>
                <a:srgbClr val="0E5A32"/>
              </a:solidFill>
              <a:prstDash val="solid,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E5A32"/>
              </a:solidFill>
              <a:ln w="9525" cap="flat">
                <a:solidFill>
                  <a:srgbClr val="0E5A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40</c:v>
                </c:pt>
                <c:pt idx="1">
                  <c:v>39.7</c:v>
                </c:pt>
                <c:pt idx="2">
                  <c:v>38.6</c:v>
                </c:pt>
                <c:pt idx="3">
                  <c:v>36.9</c:v>
                </c:pt>
                <c:pt idx="4">
                  <c:v>34.4</c:v>
                </c:pt>
                <c:pt idx="5">
                  <c:v>31.3</c:v>
                </c:pt>
                <c:pt idx="6">
                  <c:v>27.4</c:v>
                </c:pt>
                <c:pt idx="7">
                  <c:v>22.9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System, valve open</c:v>
                </c:pt>
              </c:strCache>
            </c:strRef>
          </c:tx>
          <c:spPr>
            <a:solidFill>
              <a:srgbClr val="9AA5A0"/>
            </a:solidFill>
            <a:ln w="38100" cap="flat">
              <a:solidFill>
                <a:srgbClr val="9AA5A0"/>
              </a:solidFill>
              <a:prstDash val="solid,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5A0"/>
              </a:solidFill>
              <a:ln w="9525" cap="flat">
                <a:solidFill>
                  <a:srgbClr val="9AA5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12</c:v>
                </c:pt>
                <c:pt idx="1">
                  <c:v>12.1</c:v>
                </c:pt>
                <c:pt idx="2">
                  <c:v>12.5</c:v>
                </c:pt>
                <c:pt idx="3">
                  <c:v>13.1</c:v>
                </c:pt>
                <c:pt idx="4">
                  <c:v>13.9</c:v>
                </c:pt>
                <c:pt idx="5">
                  <c:v>15</c:v>
                </c:pt>
                <c:pt idx="6">
                  <c:v>16.3</c:v>
                </c:pt>
                <c:pt idx="7">
                  <c:v>17.9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System, throttled</c:v>
                </c:pt>
              </c:strCache>
            </c:strRef>
          </c:tx>
          <c:spPr>
            <a:solidFill>
              <a:srgbClr val="E07B00"/>
            </a:solidFill>
            <a:ln w="38100" cap="flat">
              <a:solidFill>
                <a:srgbClr val="E07B00"/>
              </a:solidFill>
              <a:prstDash val="solid,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7B00"/>
              </a:solidFill>
              <a:ln w="9525" cap="flat">
                <a:solidFill>
                  <a:srgbClr val="E07B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12</c:v>
                </c:pt>
                <c:pt idx="1">
                  <c:v>12.4</c:v>
                </c:pt>
                <c:pt idx="2">
                  <c:v>13.7</c:v>
                </c:pt>
                <c:pt idx="3">
                  <c:v>15.9</c:v>
                </c:pt>
                <c:pt idx="4">
                  <c:v>18.8</c:v>
                </c:pt>
                <c:pt idx="5">
                  <c:v>22.7</c:v>
                </c:pt>
                <c:pt idx="6">
                  <c:v>27.4</c:v>
                </c:pt>
                <c:pt idx="7">
                  <c:v>33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Pump curve, slowed by VFD</c:v>
                </c:pt>
              </c:strCache>
            </c:strRef>
          </c:tx>
          <c:spPr>
            <a:solidFill>
              <a:srgbClr val="3DCD58"/>
            </a:solidFill>
            <a:ln w="38100" cap="flat">
              <a:solidFill>
                <a:srgbClr val="3DCD58"/>
              </a:solidFill>
              <a:prstDash val="solid,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DCD58"/>
              </a:solidFill>
              <a:ln w="9525" cap="flat">
                <a:solidFill>
                  <a:srgbClr val="3DCD5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</c:lvl>
              </c:multiLvlStrCache>
            </c:multiLvl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28.9</c:v>
                </c:pt>
                <c:pt idx="1">
                  <c:v>28.6</c:v>
                </c:pt>
                <c:pt idx="2">
                  <c:v>27.5</c:v>
                </c:pt>
                <c:pt idx="3">
                  <c:v>25.8</c:v>
                </c:pt>
                <c:pt idx="4">
                  <c:v>23.3</c:v>
                </c:pt>
                <c:pt idx="5">
                  <c:v>20.2</c:v>
                </c:pt>
                <c:pt idx="6">
                  <c:v>16.3</c:v>
                </c:pt>
                <c:pt idx="7">
                  <c:v>11.8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Flow →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majorGridlines>
          <c:spPr>
            <a:ln w="6350" cap="flat">
              <a:solidFill>
                <a:srgbClr val="E6EC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Head →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Friendly test (1% noise)</c:v>
                </c:pt>
              </c:strCache>
            </c:strRef>
          </c:tx>
          <c:spPr>
            <a:solidFill>
              <a:srgbClr val="9AA5A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Datasheet</c:v>
                  </c:pt>
                  <c:pt idx="1">
                    <c:v>Logs</c:v>
                  </c:pt>
                  <c:pt idx="2">
                    <c:v>Logs + P3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7.2</c:v>
                </c:pt>
                <c:pt idx="1">
                  <c:v>1.6</c:v>
                </c:pt>
                <c:pt idx="2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Stress test (3% noise, curve errors)</c:v>
                </c:pt>
              </c:strCache>
            </c:strRef>
          </c:tx>
          <c:spPr>
            <a:solidFill>
              <a:srgbClr val="E07B0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Datasheet</c:v>
                  </c:pt>
                  <c:pt idx="1">
                    <c:v>Logs</c:v>
                  </c:pt>
                  <c:pt idx="2">
                    <c:v>Logs + P3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8.4</c:v>
                </c:pt>
                <c:pt idx="1">
                  <c:v>10.5</c:v>
                </c:pt>
                <c:pt idx="2">
                  <c:v>1.4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5655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55655D"/>
                </a:solidFill>
                <a:latin typeface="Arial"/>
              </a:rPr>
              <a:t>Energy saving,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 case (peak 90%, 10 m lift)</c:v>
                </c:pt>
              </c:strCache>
            </c:strRef>
          </c:tx>
          <c:spPr>
            <a:solidFill>
              <a:srgbClr val="0E5A3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Constant pressure</c:v>
                  </c:pt>
                  <c:pt idx="1">
                    <c:v>Proportional pressure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19.3</c:v>
                </c:pt>
                <c:pt idx="1">
                  <c:v>35.5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Right-sized pump, 20 m lift</c:v>
                </c:pt>
              </c:strCache>
            </c:strRef>
          </c:tx>
          <c:spPr>
            <a:solidFill>
              <a:srgbClr val="9AA5A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Constant pressure</c:v>
                  </c:pt>
                  <c:pt idx="1">
                    <c:v>Proportional pressure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</c:v>
                </c:pt>
                <c:pt idx="1">
                  <c:v>15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Waste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07B00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D3DFD7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Valve (throttling)</c:v>
                </c:pt>
                <c:pt idx="1">
                  <c:v>Wear, clog, other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83</c:v>
                </c:pt>
                <c:pt idx="1">
                  <c:v>17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seconds: pumps are oversized and run throttled; the energy is burnt across the valve. Owners cannot see it because flow is hard to measure. PumpRupee is a clamp-on kit that prices the waste in rupees and says whether a VFD will pay back for that pump. It audits and recommends; it never controls the pump.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5-40% is the practitioner's reported range; 8-45% is our simulated range across oversizing and lift cases. Keep the two separate.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 comparison. Say clearly that platforms such as EcoStruxure are what an MSME graduates to once the audit has shown where the money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kit is read-only: clamp on the motor cable, sensors on existing gauge ports. The owner keeps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Curves are schematic and illustrative shapes, not the Grundfos data. Real fits are in the simulation scripts.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Friendly = 1% noise and exact system curve. Stress = 3% noise, curve-shape errors, wrong static lift/friction. The stress numbers are the honest ones. The learned-from-logs number gets WORSE under stress unless the system curve is measured; that is exactly why P3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Per-pump numbers are simulated. kWh derived as rupees divided by 8; CO2 as kWh times 0.710: 69,292/8 = 8,661 kWh -&gt; 6.1 t; 1,27,178/8 = 15,897 kWh -&gt; 11.3 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Arithmetic: 6,100/10 = 610 and 13,300/10 = 1,330. 365/14 = 26 and 365/7 = 52. 10,200/69,292 = 0.147 yr = 1.8 months. The kit payback is illustrative because it assumes the audit leads to the base-case VFD.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Schneider products are named only as examples of where an audited MSME goes next. No integration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workflow is a design intent. No hardware has been field-tested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ACTUALLY TESTED: nothing yet, no hardware or field data. Say this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with: cheap kit, clever inference, answers in rupees, honest about limits, brings VFD savings to MSMEs that never get audited.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6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PumpRupee  |  Team ANS_4X  |  Yuva Yodha 2026, Smart Manufacturing  |  All results simulated; prices indicative, not quotes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5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6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5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slideLayout" Target="../slideLayouts/slideLayout2.xml"/><Relationship Id="rId2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chart" Target="/ppt/charts/chart2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PumpRupee</a:t>
            </a:r>
            <a:endParaRPr lang="en-US" sz="5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202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pump energy waste in rupees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clamp-on audit kit that tells you if a VFD will pay back for THAT pump.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8404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flow meter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38404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38404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shutdown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49040" y="384048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49040" y="38404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waste by cause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4348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Electric Yuva Yodha Energy Tech Hackathon 2026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0292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Smart Manufacturing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Electrify · Automate · Digitalise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7150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ANS_4X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021324" y="5369814"/>
            <a:ext cx="5733288" cy="260604"/>
          </a:xfrm>
          <a:prstGeom prst="rect">
            <a:avLst/>
          </a:prstGeom>
          <a:solidFill>
            <a:srgbClr val="9AA5A0"/>
          </a:solidFill>
          <a:ln w="12700">
            <a:solidFill>
              <a:srgbClr val="9AA5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81928" y="4023360"/>
            <a:ext cx="2084832" cy="1346454"/>
          </a:xfrm>
          <a:prstGeom prst="roundRect">
            <a:avLst>
              <a:gd name="adj" fmla="val 6791"/>
            </a:avLst>
          </a:prstGeom>
          <a:solidFill>
            <a:srgbClr val="3A4A45"/>
          </a:solidFill>
          <a:ln w="12700">
            <a:solidFill>
              <a:srgbClr val="3A4A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9098" y="4110228"/>
            <a:ext cx="104242" cy="1172718"/>
          </a:xfrm>
          <a:prstGeom prst="rect">
            <a:avLst/>
          </a:prstGeom>
          <a:solidFill>
            <a:srgbClr val="55675F"/>
          </a:solidFill>
          <a:ln w="12700">
            <a:solidFill>
              <a:srgbClr val="5567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85762" y="4110228"/>
            <a:ext cx="104242" cy="1172718"/>
          </a:xfrm>
          <a:prstGeom prst="rect">
            <a:avLst/>
          </a:prstGeom>
          <a:solidFill>
            <a:srgbClr val="55675F"/>
          </a:solidFill>
          <a:ln w="12700">
            <a:solidFill>
              <a:srgbClr val="5567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72427" y="4110228"/>
            <a:ext cx="104242" cy="1172718"/>
          </a:xfrm>
          <a:prstGeom prst="rect">
            <a:avLst/>
          </a:prstGeom>
          <a:solidFill>
            <a:srgbClr val="55675F"/>
          </a:solidFill>
          <a:ln w="12700">
            <a:solidFill>
              <a:srgbClr val="5567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59091" y="4110228"/>
            <a:ext cx="104242" cy="1172718"/>
          </a:xfrm>
          <a:prstGeom prst="rect">
            <a:avLst/>
          </a:prstGeom>
          <a:solidFill>
            <a:srgbClr val="55675F"/>
          </a:solidFill>
          <a:ln w="12700">
            <a:solidFill>
              <a:srgbClr val="5567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45756" y="4110228"/>
            <a:ext cx="104242" cy="1172718"/>
          </a:xfrm>
          <a:prstGeom prst="rect">
            <a:avLst/>
          </a:prstGeom>
          <a:solidFill>
            <a:srgbClr val="55675F"/>
          </a:solidFill>
          <a:ln w="12700">
            <a:solidFill>
              <a:srgbClr val="5567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32420" y="4110228"/>
            <a:ext cx="104242" cy="1172718"/>
          </a:xfrm>
          <a:prstGeom prst="rect">
            <a:avLst/>
          </a:prstGeom>
          <a:solidFill>
            <a:srgbClr val="55675F"/>
          </a:solidFill>
          <a:ln w="12700">
            <a:solidFill>
              <a:srgbClr val="5567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66760" y="4544568"/>
            <a:ext cx="390906" cy="347472"/>
          </a:xfrm>
          <a:prstGeom prst="rect">
            <a:avLst/>
          </a:prstGeom>
          <a:solidFill>
            <a:srgbClr val="7C8A84"/>
          </a:solidFill>
          <a:ln w="12700">
            <a:solidFill>
              <a:srgbClr val="7C8A8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14232" y="3936492"/>
            <a:ext cx="1389888" cy="1389888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78874" y="2720340"/>
            <a:ext cx="260604" cy="1303020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78874" y="2720340"/>
            <a:ext cx="2475738" cy="260604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30384" y="4674870"/>
            <a:ext cx="1824228" cy="260604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712196" y="4544568"/>
            <a:ext cx="434340" cy="5212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08158" y="2590038"/>
            <a:ext cx="521208" cy="521208"/>
          </a:xfrm>
          <a:prstGeom prst="diamond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642702" y="2390242"/>
            <a:ext cx="52121" cy="21717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538460" y="2338121"/>
            <a:ext cx="260604" cy="69494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17456" y="2546604"/>
            <a:ext cx="86868" cy="19111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13214" y="2286000"/>
            <a:ext cx="304038" cy="260604"/>
          </a:xfrm>
          <a:prstGeom prst="roundRect">
            <a:avLst>
              <a:gd name="adj" fmla="val 17544"/>
            </a:avLst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781690" y="4283964"/>
            <a:ext cx="260604" cy="260604"/>
          </a:xfrm>
          <a:prstGeom prst="roundRect">
            <a:avLst>
              <a:gd name="adj" fmla="val 17544"/>
            </a:avLst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19492" y="2980944"/>
            <a:ext cx="52121" cy="104241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98080" y="2286000"/>
            <a:ext cx="1389888" cy="694944"/>
          </a:xfrm>
          <a:prstGeom prst="roundRect">
            <a:avLst>
              <a:gd name="adj" fmla="val 10526"/>
            </a:avLst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31606" y="2355494"/>
            <a:ext cx="86868" cy="86868"/>
          </a:xfrm>
          <a:prstGeom prst="ellipse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71816" y="3328416"/>
            <a:ext cx="347472" cy="347472"/>
          </a:xfrm>
          <a:prstGeom prst="donut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887968" y="2416302"/>
            <a:ext cx="825246" cy="0"/>
          </a:xfrm>
          <a:prstGeom prst="line">
            <a:avLst/>
          </a:prstGeom>
          <a:noFill/>
          <a:ln w="19050">
            <a:solidFill>
              <a:srgbClr val="3DCD58"/>
            </a:solidFill>
            <a:prstDash val="dash"/>
          </a:ln>
        </p:spPr>
      </p:sp>
      <p:sp>
        <p:nvSpPr>
          <p:cNvPr id="39" name="Text 37"/>
          <p:cNvSpPr txBox="1"/>
          <p:nvPr/>
        </p:nvSpPr>
        <p:spPr>
          <a:xfrm>
            <a:off x="7498080" y="2355494"/>
            <a:ext cx="121615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7498080" y="2633472"/>
            <a:ext cx="121615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281928" y="4501134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8714232" y="445770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5500116" y="3154680"/>
            <a:ext cx="204139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clamp (on motor cable)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9496044" y="1955902"/>
            <a:ext cx="191109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transmitter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10190988" y="3154680"/>
            <a:ext cx="147675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 valve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10017252" y="5109210"/>
            <a:ext cx="18242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Strainer + optional</a:t>
            </a:r>
            <a:endParaRPr lang="en-US" sz="120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transmitter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5760720" y="58521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results are simulated (Grundfos NB 65-160/157, 11 kW). Prices are indicative online prices, not quotes.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Invisible Waste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Oversized pumps run throttled. The extra energy is burnt across a valve, every hour.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81328"/>
            <a:ext cx="548640" cy="548640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474" y="1613002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12140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Oversized pump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Sized above the real duty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971800" y="1965960"/>
            <a:ext cx="411480" cy="292608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65576" y="137160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02736" y="1481328"/>
            <a:ext cx="548640" cy="548640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4410" y="1613002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02736" y="212140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Valve half shut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Throttled to hold flow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888736" y="1965960"/>
            <a:ext cx="411480" cy="292608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82512" y="137160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19672" y="1481328"/>
            <a:ext cx="548640" cy="548640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346" y="1613002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519672" y="212140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lost as heat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burnt in the valve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8805672" y="1965960"/>
            <a:ext cx="411480" cy="292608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299448" y="137160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436608" y="1481328"/>
            <a:ext cx="548640" cy="54864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8282" y="1613002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436608" y="212140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leaking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bill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548640" y="310896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FFF4E5"/>
          </a:solidFill>
          <a:ln w="19050">
            <a:solidFill>
              <a:srgbClr val="E07B0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31520" y="3337560"/>
            <a:ext cx="594360" cy="59436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166" y="3480206"/>
            <a:ext cx="309067" cy="30906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508760" y="3172968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 is blind to it.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is hard and costly to measure. An energy-audit practitioner reports that 30–40% of ultrasonic flow readings go wrong. Head (pressure) and electrical power are easy to measure.</a:t>
            </a:r>
            <a:endParaRPr lang="en-US" sz="2000" dirty="0"/>
          </a:p>
        </p:txBody>
      </p:sp>
      <p:sp>
        <p:nvSpPr>
          <p:cNvPr id="27" name="Shape 20"/>
          <p:cNvSpPr/>
          <p:nvPr/>
        </p:nvSpPr>
        <p:spPr>
          <a:xfrm>
            <a:off x="548640" y="43891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31520" y="44805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cause</a:t>
            </a:r>
            <a:endParaRPr lang="en-US" sz="2000" dirty="0"/>
          </a:p>
        </p:txBody>
      </p:sp>
      <p:sp>
        <p:nvSpPr>
          <p:cNvPr id="29" name="Text 22"/>
          <p:cNvSpPr txBox="1"/>
          <p:nvPr/>
        </p:nvSpPr>
        <p:spPr>
          <a:xfrm>
            <a:off x="731520" y="50749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sizing leads to throttling (practitioner report)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4297680" y="43891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4480560" y="44805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83–93%</a:t>
            </a:r>
            <a:endParaRPr lang="en-US" sz="3200" dirty="0"/>
          </a:p>
        </p:txBody>
      </p:sp>
      <p:sp>
        <p:nvSpPr>
          <p:cNvPr id="32" name="Text 25"/>
          <p:cNvSpPr txBox="1"/>
          <p:nvPr/>
        </p:nvSpPr>
        <p:spPr>
          <a:xfrm>
            <a:off x="4480560" y="50749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simulated waste is the valve (72–87% under stress)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8046720" y="43891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8229600" y="44805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8–45%</a:t>
            </a:r>
            <a:endParaRPr lang="en-US" sz="3200" dirty="0"/>
          </a:p>
        </p:txBody>
      </p:sp>
      <p:sp>
        <p:nvSpPr>
          <p:cNvPr id="35" name="Text 28"/>
          <p:cNvSpPr txBox="1"/>
          <p:nvPr/>
        </p:nvSpPr>
        <p:spPr>
          <a:xfrm>
            <a:off x="8229600" y="50749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VFD saving across simulated cases; 5–40% reported in practice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figures: Grundfos NB 65-160/157, 11 kW. The 83–93% valve share is measured against a speed-matched, healthy, clean ideal.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5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Today's Options Rarely Reach MSMEs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option is valuable. None is a low-cost entry point that ends in a ₹ decision.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37560" y="137160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E8EEEA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337560" y="1371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Flow-meter retrofit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13248" y="137160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E8EEEA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13248" y="1371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manual audit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88936" y="137160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E8EEEA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88936" y="1371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monitoring platform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564624" y="137160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64624" y="1371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PumpRupee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103120"/>
            <a:ext cx="11091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FD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10312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 cost, small plant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337560" y="21031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+ install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13248" y="21031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per visit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488936" y="21031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higher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564624" y="21031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₹6,100–13,300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615184"/>
            <a:ext cx="11091672" cy="457200"/>
          </a:xfrm>
          <a:prstGeom prst="rect">
            <a:avLst/>
          </a:prstGeom>
          <a:solidFill>
            <a:srgbClr val="EEF4F0"/>
          </a:solidFill>
          <a:ln w="6350">
            <a:solidFill>
              <a:srgbClr val="D3DFD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2615184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plant shutdown</a:t>
            </a:r>
            <a:endParaRPr lang="en-US" sz="14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7952" y="2697480"/>
            <a:ext cx="310896" cy="310896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697480"/>
            <a:ext cx="310896" cy="310896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2697480"/>
            <a:ext cx="310896" cy="310896"/>
          </a:xfrm>
          <a:prstGeom prst="rect">
            <a:avLst/>
          </a:prstGeom>
        </p:spPr>
      </p:pic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5016" y="2697480"/>
            <a:ext cx="310896" cy="310896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548640" y="3127248"/>
            <a:ext cx="11091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FD7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85800" y="312724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₹</a:t>
            </a:r>
            <a:endParaRPr lang="en-US" sz="14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7952" y="3209544"/>
            <a:ext cx="310896" cy="310896"/>
          </a:xfrm>
          <a:prstGeom prst="rect">
            <a:avLst/>
          </a:prstGeom>
        </p:spPr>
      </p:pic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209544"/>
            <a:ext cx="310896" cy="310896"/>
          </a:xfrm>
          <a:prstGeom prst="rect">
            <a:avLst/>
          </a:prstGeom>
        </p:spPr>
      </p:pic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9328" y="3209544"/>
            <a:ext cx="310896" cy="310896"/>
          </a:xfrm>
          <a:prstGeom prst="rect">
            <a:avLst/>
          </a:prstGeom>
        </p:spPr>
      </p:pic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15016" y="3209544"/>
            <a:ext cx="310896" cy="310896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548640" y="3639312"/>
            <a:ext cx="11091672" cy="457200"/>
          </a:xfrm>
          <a:prstGeom prst="rect">
            <a:avLst/>
          </a:prstGeom>
          <a:solidFill>
            <a:srgbClr val="EEF4F0"/>
          </a:solidFill>
          <a:ln w="6350">
            <a:solidFill>
              <a:srgbClr val="D3DFD7"/>
            </a:solidFill>
            <a:prstDash val="solid"/>
          </a:ln>
        </p:spPr>
      </p:sp>
      <p:sp>
        <p:nvSpPr>
          <p:cNvPr id="31" name="Text 21"/>
          <p:cNvSpPr txBox="1"/>
          <p:nvPr/>
        </p:nvSpPr>
        <p:spPr>
          <a:xfrm>
            <a:off x="685800" y="363931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split by cause</a:t>
            </a:r>
            <a:endParaRPr lang="en-US" sz="14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87952" y="3721608"/>
            <a:ext cx="310896" cy="310896"/>
          </a:xfrm>
          <a:prstGeom prst="rect">
            <a:avLst/>
          </a:prstGeom>
        </p:spPr>
      </p:pic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3640" y="3721608"/>
            <a:ext cx="310896" cy="310896"/>
          </a:xfrm>
          <a:prstGeom prst="rect">
            <a:avLst/>
          </a:prstGeom>
        </p:spPr>
      </p:pic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39328" y="3721608"/>
            <a:ext cx="310896" cy="310896"/>
          </a:xfrm>
          <a:prstGeom prst="rect">
            <a:avLst/>
          </a:prstGeom>
        </p:spPr>
      </p:pic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15016" y="3721608"/>
            <a:ext cx="310896" cy="310896"/>
          </a:xfrm>
          <a:prstGeom prst="rect">
            <a:avLst/>
          </a:prstGeom>
        </p:spPr>
      </p:pic>
      <p:sp>
        <p:nvSpPr>
          <p:cNvPr id="36" name="Shape 22"/>
          <p:cNvSpPr/>
          <p:nvPr/>
        </p:nvSpPr>
        <p:spPr>
          <a:xfrm>
            <a:off x="548640" y="4151376"/>
            <a:ext cx="11091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FD7"/>
            </a:solidFill>
            <a:prstDash val="solid"/>
          </a:ln>
        </p:spPr>
      </p:sp>
      <p:sp>
        <p:nvSpPr>
          <p:cNvPr id="37" name="Text 23"/>
          <p:cNvSpPr txBox="1"/>
          <p:nvPr/>
        </p:nvSpPr>
        <p:spPr>
          <a:xfrm>
            <a:off x="685800" y="4151376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Pump-specific VFD verdict</a:t>
            </a:r>
            <a:endParaRPr lang="en-US" sz="1400" dirty="0"/>
          </a:p>
        </p:txBody>
      </p:sp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87952" y="4233672"/>
            <a:ext cx="310896" cy="310896"/>
          </a:xfrm>
          <a:prstGeom prst="rect">
            <a:avLst/>
          </a:prstGeom>
        </p:spPr>
      </p:pic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63640" y="4233672"/>
            <a:ext cx="310896" cy="310896"/>
          </a:xfrm>
          <a:prstGeom prst="rect">
            <a:avLst/>
          </a:prstGeom>
        </p:spPr>
      </p:pic>
      <p:pic>
        <p:nvPicPr>
          <p:cNvPr id="4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39328" y="4233672"/>
            <a:ext cx="310896" cy="310896"/>
          </a:xfrm>
          <a:prstGeom prst="rect">
            <a:avLst/>
          </a:prstGeom>
        </p:spPr>
      </p:pic>
      <p:pic>
        <p:nvPicPr>
          <p:cNvPr id="4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15016" y="4233672"/>
            <a:ext cx="310896" cy="310896"/>
          </a:xfrm>
          <a:prstGeom prst="rect">
            <a:avLst/>
          </a:prstGeom>
        </p:spPr>
      </p:pic>
      <p:sp>
        <p:nvSpPr>
          <p:cNvPr id="42" name="Shape 24"/>
          <p:cNvSpPr/>
          <p:nvPr/>
        </p:nvSpPr>
        <p:spPr>
          <a:xfrm>
            <a:off x="548640" y="4663440"/>
            <a:ext cx="11091672" cy="457200"/>
          </a:xfrm>
          <a:prstGeom prst="rect">
            <a:avLst/>
          </a:prstGeom>
          <a:solidFill>
            <a:srgbClr val="EEF4F0"/>
          </a:solidFill>
          <a:ln w="6350">
            <a:solidFill>
              <a:srgbClr val="D3DFD7"/>
            </a:solidFill>
            <a:prstDash val="solid"/>
          </a:ln>
        </p:spPr>
      </p:sp>
      <p:sp>
        <p:nvSpPr>
          <p:cNvPr id="43" name="Text 25"/>
          <p:cNvSpPr txBox="1"/>
          <p:nvPr/>
        </p:nvSpPr>
        <p:spPr>
          <a:xfrm>
            <a:off x="685800" y="466344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saving afterwards</a:t>
            </a:r>
            <a:endParaRPr lang="en-US" sz="1400" dirty="0"/>
          </a:p>
        </p:txBody>
      </p:sp>
      <p:pic>
        <p:nvPicPr>
          <p:cNvPr id="4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87952" y="4745736"/>
            <a:ext cx="310896" cy="310896"/>
          </a:xfrm>
          <a:prstGeom prst="rect">
            <a:avLst/>
          </a:prstGeom>
        </p:spPr>
      </p:pic>
      <p:pic>
        <p:nvPicPr>
          <p:cNvPr id="4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63640" y="4745736"/>
            <a:ext cx="310896" cy="310896"/>
          </a:xfrm>
          <a:prstGeom prst="rect">
            <a:avLst/>
          </a:prstGeom>
        </p:spPr>
      </p:pic>
      <p:pic>
        <p:nvPicPr>
          <p:cNvPr id="46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39328" y="4745736"/>
            <a:ext cx="310896" cy="310896"/>
          </a:xfrm>
          <a:prstGeom prst="rect">
            <a:avLst/>
          </a:prstGeom>
        </p:spPr>
      </p:pic>
      <p:pic>
        <p:nvPicPr>
          <p:cNvPr id="47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415016" y="4745736"/>
            <a:ext cx="310896" cy="310896"/>
          </a:xfrm>
          <a:prstGeom prst="rect">
            <a:avLst/>
          </a:prstGeom>
        </p:spPr>
      </p:pic>
      <p:sp>
        <p:nvSpPr>
          <p:cNvPr id="48" name="Shape 26"/>
          <p:cNvSpPr/>
          <p:nvPr/>
        </p:nvSpPr>
        <p:spPr>
          <a:xfrm>
            <a:off x="548640" y="5175504"/>
            <a:ext cx="11091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FD7"/>
            </a:solidFill>
            <a:prstDash val="solid"/>
          </a:ln>
        </p:spPr>
      </p:sp>
      <p:sp>
        <p:nvSpPr>
          <p:cNvPr id="49" name="Text 27"/>
          <p:cNvSpPr txBox="1"/>
          <p:nvPr/>
        </p:nvSpPr>
        <p:spPr>
          <a:xfrm>
            <a:off x="685800" y="5175504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Suited to small MSMEs</a:t>
            </a:r>
            <a:endParaRPr lang="en-US" sz="1400" dirty="0"/>
          </a:p>
        </p:txBody>
      </p:sp>
      <p:pic>
        <p:nvPicPr>
          <p:cNvPr id="50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87952" y="5257800"/>
            <a:ext cx="310896" cy="310896"/>
          </a:xfrm>
          <a:prstGeom prst="rect">
            <a:avLst/>
          </a:prstGeom>
        </p:spPr>
      </p:pic>
      <p:pic>
        <p:nvPicPr>
          <p:cNvPr id="51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63640" y="5257800"/>
            <a:ext cx="310896" cy="310896"/>
          </a:xfrm>
          <a:prstGeom prst="rect">
            <a:avLst/>
          </a:prstGeom>
        </p:spPr>
      </p:pic>
      <p:pic>
        <p:nvPicPr>
          <p:cNvPr id="52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39328" y="5257800"/>
            <a:ext cx="310896" cy="310896"/>
          </a:xfrm>
          <a:prstGeom prst="rect">
            <a:avLst/>
          </a:prstGeom>
        </p:spPr>
      </p:pic>
      <p:pic>
        <p:nvPicPr>
          <p:cNvPr id="53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415016" y="5257800"/>
            <a:ext cx="310896" cy="310896"/>
          </a:xfrm>
          <a:prstGeom prst="rect">
            <a:avLst/>
          </a:prstGeom>
        </p:spPr>
      </p:pic>
      <p:sp>
        <p:nvSpPr>
          <p:cNvPr id="54" name="Text 28"/>
          <p:cNvSpPr txBox="1"/>
          <p:nvPr/>
        </p:nvSpPr>
        <p:spPr>
          <a:xfrm>
            <a:off x="548640" y="57424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yes    ~ partly / varies by product    ✘ no.  Our general assessment, not a product test. PumpRupee's ticks are design targets (simulated, not field-proven).</a:t>
            </a:r>
            <a:endParaRPr lang="en-US" sz="1100" dirty="0"/>
          </a:p>
        </p:txBody>
      </p:sp>
      <p:sp>
        <p:nvSpPr>
          <p:cNvPr id="55" name="Shape 29"/>
          <p:cNvSpPr/>
          <p:nvPr/>
        </p:nvSpPr>
        <p:spPr>
          <a:xfrm>
            <a:off x="548640" y="6053328"/>
            <a:ext cx="11109960" cy="365760"/>
          </a:xfrm>
          <a:prstGeom prst="roundRect">
            <a:avLst>
              <a:gd name="adj" fmla="val 25000"/>
            </a:avLst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56" name="Text 30"/>
          <p:cNvSpPr txBox="1"/>
          <p:nvPr/>
        </p:nvSpPr>
        <p:spPr>
          <a:xfrm>
            <a:off x="548640" y="6053328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platforms are the natural NEXT step after PumpRupee, not a rival.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5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A ₹ Audit Kit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clamp-on kit turns power + pressure readings into “₹ wasted per year, and why”.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00684" y="5004054"/>
            <a:ext cx="5733288" cy="260604"/>
          </a:xfrm>
          <a:prstGeom prst="rect">
            <a:avLst/>
          </a:prstGeom>
          <a:solidFill>
            <a:srgbClr val="9AA5A0"/>
          </a:solidFill>
          <a:ln w="12700">
            <a:solidFill>
              <a:srgbClr val="9AA5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1288" y="3657600"/>
            <a:ext cx="2084832" cy="1346454"/>
          </a:xfrm>
          <a:prstGeom prst="roundRect">
            <a:avLst>
              <a:gd name="adj" fmla="val 6791"/>
            </a:avLst>
          </a:prstGeom>
          <a:solidFill>
            <a:srgbClr val="3A4A45"/>
          </a:solidFill>
          <a:ln w="12700">
            <a:solidFill>
              <a:srgbClr val="3A4A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8458" y="3744468"/>
            <a:ext cx="104242" cy="1172718"/>
          </a:xfrm>
          <a:prstGeom prst="rect">
            <a:avLst/>
          </a:prstGeom>
          <a:solidFill>
            <a:srgbClr val="55675F"/>
          </a:solidFill>
          <a:ln w="12700">
            <a:solidFill>
              <a:srgbClr val="5567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65122" y="3744468"/>
            <a:ext cx="104242" cy="1172718"/>
          </a:xfrm>
          <a:prstGeom prst="rect">
            <a:avLst/>
          </a:prstGeom>
          <a:solidFill>
            <a:srgbClr val="55675F"/>
          </a:solidFill>
          <a:ln w="12700">
            <a:solidFill>
              <a:srgbClr val="5567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51787" y="3744468"/>
            <a:ext cx="104242" cy="1172718"/>
          </a:xfrm>
          <a:prstGeom prst="rect">
            <a:avLst/>
          </a:prstGeom>
          <a:solidFill>
            <a:srgbClr val="55675F"/>
          </a:solidFill>
          <a:ln w="12700">
            <a:solidFill>
              <a:srgbClr val="5567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38451" y="3744468"/>
            <a:ext cx="104242" cy="1172718"/>
          </a:xfrm>
          <a:prstGeom prst="rect">
            <a:avLst/>
          </a:prstGeom>
          <a:solidFill>
            <a:srgbClr val="55675F"/>
          </a:solidFill>
          <a:ln w="12700">
            <a:solidFill>
              <a:srgbClr val="5567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25116" y="3744468"/>
            <a:ext cx="104242" cy="1172718"/>
          </a:xfrm>
          <a:prstGeom prst="rect">
            <a:avLst/>
          </a:prstGeom>
          <a:solidFill>
            <a:srgbClr val="55675F"/>
          </a:solidFill>
          <a:ln w="12700">
            <a:solidFill>
              <a:srgbClr val="5567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11780" y="3744468"/>
            <a:ext cx="104242" cy="1172718"/>
          </a:xfrm>
          <a:prstGeom prst="rect">
            <a:avLst/>
          </a:prstGeom>
          <a:solidFill>
            <a:srgbClr val="55675F"/>
          </a:solidFill>
          <a:ln w="12700">
            <a:solidFill>
              <a:srgbClr val="5567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4178808"/>
            <a:ext cx="390906" cy="347472"/>
          </a:xfrm>
          <a:prstGeom prst="rect">
            <a:avLst/>
          </a:prstGeom>
          <a:solidFill>
            <a:srgbClr val="7C8A84"/>
          </a:solidFill>
          <a:ln w="12700">
            <a:solidFill>
              <a:srgbClr val="7C8A8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93592" y="3570732"/>
            <a:ext cx="1389888" cy="1389888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58234" y="2354580"/>
            <a:ext cx="260604" cy="1303020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58234" y="2354580"/>
            <a:ext cx="2475738" cy="260604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9744" y="4309110"/>
            <a:ext cx="1824228" cy="260604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91556" y="4178808"/>
            <a:ext cx="434340" cy="5212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87518" y="2224278"/>
            <a:ext cx="521208" cy="521208"/>
          </a:xfrm>
          <a:prstGeom prst="diamond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22062" y="2024482"/>
            <a:ext cx="52121" cy="21717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17820" y="1972361"/>
            <a:ext cx="260604" cy="69494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96816" y="2180844"/>
            <a:ext cx="86868" cy="19111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92574" y="1920240"/>
            <a:ext cx="304038" cy="260604"/>
          </a:xfrm>
          <a:prstGeom prst="roundRect">
            <a:avLst>
              <a:gd name="adj" fmla="val 17544"/>
            </a:avLst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1050" y="3918204"/>
            <a:ext cx="260604" cy="260604"/>
          </a:xfrm>
          <a:prstGeom prst="roundRect">
            <a:avLst>
              <a:gd name="adj" fmla="val 17544"/>
            </a:avLst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98852" y="2615184"/>
            <a:ext cx="52121" cy="104241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77440" y="1920240"/>
            <a:ext cx="1389888" cy="694944"/>
          </a:xfrm>
          <a:prstGeom prst="roundRect">
            <a:avLst>
              <a:gd name="adj" fmla="val 10526"/>
            </a:avLst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10966" y="1989734"/>
            <a:ext cx="86868" cy="86868"/>
          </a:xfrm>
          <a:prstGeom prst="ellipse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51176" y="2962656"/>
            <a:ext cx="347472" cy="347472"/>
          </a:xfrm>
          <a:prstGeom prst="donut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67328" y="2050542"/>
            <a:ext cx="825246" cy="0"/>
          </a:xfrm>
          <a:prstGeom prst="line">
            <a:avLst/>
          </a:prstGeom>
          <a:noFill/>
          <a:ln w="19050">
            <a:solidFill>
              <a:srgbClr val="3DCD58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2377440" y="1989734"/>
            <a:ext cx="121615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2377440" y="2267712"/>
            <a:ext cx="121615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161288" y="4135374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3593592" y="409194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379476" y="2788920"/>
            <a:ext cx="204139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clamp (on motor cable)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375404" y="1590142"/>
            <a:ext cx="191109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transmitter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070348" y="2788920"/>
            <a:ext cx="147675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 valve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896612" y="4743450"/>
            <a:ext cx="1824228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Strainer + optional</a:t>
            </a:r>
            <a:endParaRPr lang="en-US" sz="120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transmitter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223760" y="1417320"/>
            <a:ext cx="443484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60920" y="1554480"/>
            <a:ext cx="548640" cy="548640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2594" y="1686154"/>
            <a:ext cx="285293" cy="285293"/>
          </a:xfrm>
          <a:prstGeom prst="rect">
            <a:avLst/>
          </a:prstGeom>
        </p:spPr>
      </p:pic>
      <p:sp>
        <p:nvSpPr>
          <p:cNvPr id="40" name="Text 37"/>
          <p:cNvSpPr txBox="1"/>
          <p:nvPr/>
        </p:nvSpPr>
        <p:spPr>
          <a:xfrm>
            <a:off x="8092440" y="15087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waste per year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energy waste priced in rupees</a:t>
            </a:r>
            <a:endParaRPr lang="en-US" sz="1700" dirty="0"/>
          </a:p>
        </p:txBody>
      </p:sp>
      <p:sp>
        <p:nvSpPr>
          <p:cNvPr id="41" name="Shape 38"/>
          <p:cNvSpPr/>
          <p:nvPr/>
        </p:nvSpPr>
        <p:spPr>
          <a:xfrm>
            <a:off x="7223760" y="2404872"/>
            <a:ext cx="443484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360920" y="2542032"/>
            <a:ext cx="548640" cy="548640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594" y="2673706"/>
            <a:ext cx="285293" cy="285293"/>
          </a:xfrm>
          <a:prstGeom prst="rect">
            <a:avLst/>
          </a:prstGeom>
        </p:spPr>
      </p:pic>
      <p:sp>
        <p:nvSpPr>
          <p:cNvPr id="44" name="Text 40"/>
          <p:cNvSpPr txBox="1"/>
          <p:nvPr/>
        </p:nvSpPr>
        <p:spPr>
          <a:xfrm>
            <a:off x="8092440" y="249631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by cause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Valve, impeller wear, clogged strainer</a:t>
            </a:r>
            <a:endParaRPr lang="en-US" sz="1700" dirty="0"/>
          </a:p>
        </p:txBody>
      </p:sp>
      <p:sp>
        <p:nvSpPr>
          <p:cNvPr id="45" name="Shape 41"/>
          <p:cNvSpPr/>
          <p:nvPr/>
        </p:nvSpPr>
        <p:spPr>
          <a:xfrm>
            <a:off x="7223760" y="3392424"/>
            <a:ext cx="443484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7360920" y="3529584"/>
            <a:ext cx="548640" cy="548640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4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594" y="3661258"/>
            <a:ext cx="285293" cy="285293"/>
          </a:xfrm>
          <a:prstGeom prst="rect">
            <a:avLst/>
          </a:prstGeom>
        </p:spPr>
      </p:pic>
      <p:sp>
        <p:nvSpPr>
          <p:cNvPr id="48" name="Text 43"/>
          <p:cNvSpPr txBox="1"/>
          <p:nvPr/>
        </p:nvSpPr>
        <p:spPr>
          <a:xfrm>
            <a:off x="8092440" y="3483864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fix first + setpoint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safe VFD setpoint</a:t>
            </a:r>
            <a:endParaRPr lang="en-US" sz="1700" dirty="0"/>
          </a:p>
        </p:txBody>
      </p:sp>
      <p:sp>
        <p:nvSpPr>
          <p:cNvPr id="49" name="Shape 44"/>
          <p:cNvSpPr/>
          <p:nvPr/>
        </p:nvSpPr>
        <p:spPr>
          <a:xfrm>
            <a:off x="7223760" y="4379976"/>
            <a:ext cx="4434840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7360920" y="4517136"/>
            <a:ext cx="548640" cy="548640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2594" y="4648810"/>
            <a:ext cx="285293" cy="285293"/>
          </a:xfrm>
          <a:prstGeom prst="rect">
            <a:avLst/>
          </a:prstGeom>
        </p:spPr>
      </p:pic>
      <p:sp>
        <p:nvSpPr>
          <p:cNvPr id="52" name="Text 46"/>
          <p:cNvSpPr txBox="1"/>
          <p:nvPr/>
        </p:nvSpPr>
        <p:spPr>
          <a:xfrm>
            <a:off x="8092440" y="4471416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VFD payback verdict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pump, before capex</a:t>
            </a:r>
            <a:endParaRPr lang="en-US" sz="1700" dirty="0"/>
          </a:p>
        </p:txBody>
      </p:sp>
      <p:sp>
        <p:nvSpPr>
          <p:cNvPr id="53" name="Text 47"/>
          <p:cNvSpPr txBox="1"/>
          <p:nvPr/>
        </p:nvSpPr>
        <p:spPr>
          <a:xfrm>
            <a:off x="7223760" y="539496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VFD = control speed instead of strangling the pipe.</a:t>
            </a:r>
            <a:endParaRPr lang="en-US" sz="1200" dirty="0"/>
          </a:p>
        </p:txBody>
      </p:sp>
      <p:sp>
        <p:nvSpPr>
          <p:cNvPr id="54" name="Shape 48"/>
          <p:cNvSpPr/>
          <p:nvPr/>
        </p:nvSpPr>
        <p:spPr>
          <a:xfrm>
            <a:off x="548640" y="5715000"/>
            <a:ext cx="11109960" cy="594360"/>
          </a:xfrm>
          <a:prstGeom prst="roundRect">
            <a:avLst>
              <a:gd name="adj" fmla="val 15385"/>
            </a:avLst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55" name="Text 49"/>
          <p:cNvSpPr txBox="1"/>
          <p:nvPr/>
        </p:nvSpPr>
        <p:spPr>
          <a:xfrm>
            <a:off x="548640" y="5715000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and recommends. Does not control the pump.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5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Install &amp; Pump Curve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 on, log for a week or two, and let the maths find the waste.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3A4A45"/>
          </a:solidFill>
          <a:ln w="12700">
            <a:solidFill>
              <a:srgbClr val="3A4A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774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clamp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(CT on cable)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56232" y="1737360"/>
            <a:ext cx="219456" cy="274320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146304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03120" y="14630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011680" y="23774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suction (optional)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discharge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10712" y="1737360"/>
            <a:ext cx="219456" cy="274320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146304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0" y="14630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 valve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3774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process-side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65192" y="1737360"/>
            <a:ext cx="219456" cy="274320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2080" y="146304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9AA5A0"/>
          </a:solidFill>
          <a:ln w="12700">
            <a:solidFill>
              <a:srgbClr val="9AA5A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12080" y="14630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200400"/>
            <a:ext cx="5943600" cy="1143000"/>
          </a:xfrm>
          <a:prstGeom prst="roundRect">
            <a:avLst>
              <a:gd name="adj" fmla="val 6400"/>
            </a:avLst>
          </a:prstGeom>
          <a:solidFill>
            <a:srgbClr val="E3F6E8"/>
          </a:solidFill>
          <a:ln w="19050">
            <a:solidFill>
              <a:srgbClr val="3DCD5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246120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kit: power clamp + discharge pressure (P2).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P3 (process-side) when a VFD purchase is on the table: it measures the system curve and reveals a clogged strainer.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43484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+ power  </a:t>
            </a:r>
            <a:pPr indent="0" marL="0">
              <a:buNone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priced in ₹ (basic)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4764024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P3 (about ₹3,068)  </a:t>
            </a:r>
            <a:pPr indent="0" marL="0">
              <a:buNone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10.5 → 1.4 pts (stress, simulated)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509320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P1 / strainer ΔP  </a:t>
            </a:r>
            <a:pPr indent="0" marL="0">
              <a:buNone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Clog made visible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5778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curve = what the pipe network demands.  Pump curve = what the pump can deliver at a given speed.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20840" y="1371600"/>
            <a:ext cx="493776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0" y="14447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Throttled point vs VFD point (schematic)</a:t>
            </a:r>
            <a:endParaRPr lang="en-US" sz="15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6812280" y="1783080"/>
          <a:ext cx="47548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ext 24"/>
          <p:cNvSpPr txBox="1"/>
          <p:nvPr/>
        </p:nvSpPr>
        <p:spPr>
          <a:xfrm>
            <a:off x="6858000" y="493776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flow, two ways to get it.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Throttled: pump pushes at full head, the valve burns the gap. VFD: the pump slows to just what the pipe needs. The gap is the wasted head, and it is priced in ₹.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5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Honest Accuracy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plain steps from raw logs to a ₹ report, with the uncertainty stated.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737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17320"/>
            <a:ext cx="411480" cy="411480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1516075"/>
            <a:ext cx="213970" cy="21397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" y="14173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logs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920240"/>
            <a:ext cx="1572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+ pressure, 7–14 days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286000" y="1965960"/>
            <a:ext cx="128016" cy="182880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419502" y="1325880"/>
            <a:ext cx="1737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29230" y="1417320"/>
            <a:ext cx="411480" cy="411480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986" y="1516075"/>
            <a:ext cx="213970" cy="21397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86430" y="14173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2510942" y="1920240"/>
            <a:ext cx="1572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the real pump from its logs; optional anchors: shut-off head, closed-valve power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156862" y="1965960"/>
            <a:ext cx="128016" cy="182880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290365" y="1325880"/>
            <a:ext cx="1737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400093" y="1417320"/>
            <a:ext cx="411480" cy="411480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48" y="1516075"/>
            <a:ext cx="213970" cy="21397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857293" y="14173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inference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4381805" y="1920240"/>
            <a:ext cx="1572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curve + power + head give flow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027725" y="1965960"/>
            <a:ext cx="128016" cy="182880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161227" y="1325880"/>
            <a:ext cx="1737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270955" y="1417320"/>
            <a:ext cx="411480" cy="411480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9710" y="1516075"/>
            <a:ext cx="213970" cy="21397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728155" y="14173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split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6252667" y="1920240"/>
            <a:ext cx="1572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 split of blame between causes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7898587" y="1965960"/>
            <a:ext cx="128016" cy="182880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8032090" y="1325880"/>
            <a:ext cx="1737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141818" y="1417320"/>
            <a:ext cx="411480" cy="411480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0573" y="1516075"/>
            <a:ext cx="213970" cy="21397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8599018" y="14173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CUSUM check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8123530" y="1920240"/>
            <a:ext cx="1572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alarm when the pump slowly wears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9769450" y="1965960"/>
            <a:ext cx="128016" cy="182880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9902952" y="1325880"/>
            <a:ext cx="1737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10012680" y="1417320"/>
            <a:ext cx="411480" cy="41148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1435" y="1516075"/>
            <a:ext cx="213970" cy="21397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469880" y="14173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report</a:t>
            </a:r>
            <a:endParaRPr lang="en-US" sz="1300" dirty="0"/>
          </a:p>
        </p:txBody>
      </p:sp>
      <p:sp>
        <p:nvSpPr>
          <p:cNvPr id="38" name="Text 30"/>
          <p:cNvSpPr txBox="1"/>
          <p:nvPr/>
        </p:nvSpPr>
        <p:spPr>
          <a:xfrm>
            <a:off x="9994392" y="1920240"/>
            <a:ext cx="1572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₹/yr, SEC, fixes, setpoint. SEC = units of electricity per m³ pumped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548640" y="3108960"/>
            <a:ext cx="57607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685800" y="31729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error, percentage points (simulated)</a:t>
            </a:r>
            <a:endParaRPr lang="en-US" sz="1400" dirty="0"/>
          </a:p>
        </p:txBody>
      </p:sp>
      <p:graphicFrame>
        <p:nvGraphicFramePr>
          <p:cNvPr id="41" name="Chart 0" descr=""/>
          <p:cNvGraphicFramePr/>
          <p:nvPr/>
        </p:nvGraphicFramePr>
        <p:xfrm>
          <a:off x="640080" y="3474720"/>
          <a:ext cx="557784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42" name="Text 33"/>
          <p:cNvSpPr txBox="1"/>
          <p:nvPr/>
        </p:nvSpPr>
        <p:spPr>
          <a:xfrm>
            <a:off x="685800" y="54864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curve, not the pump curve, is the main error source. A ±30% flow reading is worse than none (16.8 vs 8.3). </a:t>
            </a:r>
            <a:pPr indent="0" marL="0">
              <a:buNone/>
            </a:pPr>
            <a:r>
              <a:rPr lang="en-US" sz="1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±3 points only with a measured system curve; otherwise about ±10.</a:t>
            </a:r>
            <a:endParaRPr lang="en-US" sz="1200" dirty="0"/>
          </a:p>
        </p:txBody>
      </p:sp>
      <p:sp>
        <p:nvSpPr>
          <p:cNvPr id="43" name="Shape 34"/>
          <p:cNvSpPr/>
          <p:nvPr/>
        </p:nvSpPr>
        <p:spPr>
          <a:xfrm>
            <a:off x="6492240" y="3108960"/>
            <a:ext cx="51663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6629400" y="317296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Wear-drift check (CUSUM), simulated</a:t>
            </a:r>
            <a:endParaRPr lang="en-US" sz="1400" dirty="0"/>
          </a:p>
        </p:txBody>
      </p:sp>
      <p:sp>
        <p:nvSpPr>
          <p:cNvPr id="45" name="Shape 36"/>
          <p:cNvSpPr/>
          <p:nvPr/>
        </p:nvSpPr>
        <p:spPr>
          <a:xfrm>
            <a:off x="6858000" y="3977640"/>
            <a:ext cx="4434840" cy="0"/>
          </a:xfrm>
          <a:prstGeom prst="line">
            <a:avLst/>
          </a:prstGeom>
          <a:noFill/>
          <a:ln w="25400">
            <a:solidFill>
              <a:srgbClr val="16261F"/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6858000" y="3922776"/>
            <a:ext cx="0" cy="109728"/>
          </a:xfrm>
          <a:prstGeom prst="line">
            <a:avLst/>
          </a:prstGeom>
          <a:noFill/>
          <a:ln w="12700">
            <a:solidFill>
              <a:srgbClr val="16261F"/>
            </a:solidFill>
            <a:prstDash val="solid"/>
          </a:ln>
        </p:spPr>
      </p:sp>
      <p:sp>
        <p:nvSpPr>
          <p:cNvPr id="47" name="Text 38"/>
          <p:cNvSpPr txBox="1"/>
          <p:nvPr/>
        </p:nvSpPr>
        <p:spPr>
          <a:xfrm>
            <a:off x="6675120" y="40507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48" name="Shape 39"/>
          <p:cNvSpPr/>
          <p:nvPr/>
        </p:nvSpPr>
        <p:spPr>
          <a:xfrm>
            <a:off x="8336280" y="3922776"/>
            <a:ext cx="0" cy="109728"/>
          </a:xfrm>
          <a:prstGeom prst="line">
            <a:avLst/>
          </a:prstGeom>
          <a:noFill/>
          <a:ln w="12700">
            <a:solidFill>
              <a:srgbClr val="16261F"/>
            </a:solidFill>
            <a:prstDash val="solid"/>
          </a:ln>
        </p:spPr>
      </p:sp>
      <p:sp>
        <p:nvSpPr>
          <p:cNvPr id="49" name="Text 40"/>
          <p:cNvSpPr txBox="1"/>
          <p:nvPr/>
        </p:nvSpPr>
        <p:spPr>
          <a:xfrm>
            <a:off x="8153400" y="40507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50" name="Shape 41"/>
          <p:cNvSpPr/>
          <p:nvPr/>
        </p:nvSpPr>
        <p:spPr>
          <a:xfrm>
            <a:off x="9814560" y="3922776"/>
            <a:ext cx="0" cy="109728"/>
          </a:xfrm>
          <a:prstGeom prst="line">
            <a:avLst/>
          </a:prstGeom>
          <a:noFill/>
          <a:ln w="12700">
            <a:solidFill>
              <a:srgbClr val="16261F"/>
            </a:solidFill>
            <a:prstDash val="solid"/>
          </a:ln>
        </p:spPr>
      </p:sp>
      <p:sp>
        <p:nvSpPr>
          <p:cNvPr id="51" name="Text 42"/>
          <p:cNvSpPr txBox="1"/>
          <p:nvPr/>
        </p:nvSpPr>
        <p:spPr>
          <a:xfrm>
            <a:off x="9631680" y="40507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52" name="Shape 43"/>
          <p:cNvSpPr/>
          <p:nvPr/>
        </p:nvSpPr>
        <p:spPr>
          <a:xfrm>
            <a:off x="11292840" y="3922776"/>
            <a:ext cx="0" cy="109728"/>
          </a:xfrm>
          <a:prstGeom prst="line">
            <a:avLst/>
          </a:prstGeom>
          <a:noFill/>
          <a:ln w="12700">
            <a:solidFill>
              <a:srgbClr val="16261F"/>
            </a:solidFill>
            <a:prstDash val="solid"/>
          </a:ln>
        </p:spPr>
      </p:sp>
      <p:sp>
        <p:nvSpPr>
          <p:cNvPr id="53" name="Text 44"/>
          <p:cNvSpPr txBox="1"/>
          <p:nvPr/>
        </p:nvSpPr>
        <p:spPr>
          <a:xfrm>
            <a:off x="11109960" y="40507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  <p:sp>
        <p:nvSpPr>
          <p:cNvPr id="54" name="Text 45"/>
          <p:cNvSpPr txBox="1"/>
          <p:nvPr/>
        </p:nvSpPr>
        <p:spPr>
          <a:xfrm>
            <a:off x="6858000" y="3611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1100" dirty="0"/>
          </a:p>
        </p:txBody>
      </p:sp>
      <p:sp>
        <p:nvSpPr>
          <p:cNvPr id="55" name="Shape 46"/>
          <p:cNvSpPr/>
          <p:nvPr/>
        </p:nvSpPr>
        <p:spPr>
          <a:xfrm>
            <a:off x="6874256" y="3895344"/>
            <a:ext cx="164592" cy="164592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6" name="Text 47"/>
          <p:cNvSpPr txBox="1"/>
          <p:nvPr/>
        </p:nvSpPr>
        <p:spPr>
          <a:xfrm>
            <a:off x="6766560" y="434340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 step: caught next day</a:t>
            </a:r>
            <a:endParaRPr lang="en-US" sz="1200" dirty="0"/>
          </a:p>
        </p:txBody>
      </p:sp>
      <p:sp>
        <p:nvSpPr>
          <p:cNvPr id="57" name="Shape 48"/>
          <p:cNvSpPr/>
          <p:nvPr/>
        </p:nvSpPr>
        <p:spPr>
          <a:xfrm>
            <a:off x="8943848" y="3895344"/>
            <a:ext cx="164592" cy="164592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58" name="Text 49"/>
          <p:cNvSpPr txBox="1"/>
          <p:nvPr/>
        </p:nvSpPr>
        <p:spPr>
          <a:xfrm>
            <a:off x="6766560" y="466344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wear: alarm ~day 22 at ≈3.7%</a:t>
            </a:r>
            <a:endParaRPr lang="en-US" sz="1200" dirty="0"/>
          </a:p>
        </p:txBody>
      </p:sp>
      <p:sp>
        <p:nvSpPr>
          <p:cNvPr id="59" name="Shape 50"/>
          <p:cNvSpPr/>
          <p:nvPr/>
        </p:nvSpPr>
        <p:spPr>
          <a:xfrm>
            <a:off x="10717784" y="3895344"/>
            <a:ext cx="164592" cy="164592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60" name="Text 51"/>
          <p:cNvSpPr txBox="1"/>
          <p:nvPr/>
        </p:nvSpPr>
        <p:spPr>
          <a:xfrm>
            <a:off x="6766560" y="498348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wear (0→10% in 180 d): alarm ~day 40 at ≈2.2%</a:t>
            </a:r>
            <a:endParaRPr lang="en-US" sz="1200" dirty="0"/>
          </a:p>
        </p:txBody>
      </p:sp>
      <p:sp>
        <p:nvSpPr>
          <p:cNvPr id="61" name="Shape 52"/>
          <p:cNvSpPr/>
          <p:nvPr/>
        </p:nvSpPr>
        <p:spPr>
          <a:xfrm>
            <a:off x="6629400" y="5486400"/>
            <a:ext cx="4892040" cy="731520"/>
          </a:xfrm>
          <a:prstGeom prst="roundRect">
            <a:avLst>
              <a:gd name="adj" fmla="val 10000"/>
            </a:avLst>
          </a:prstGeom>
          <a:solidFill>
            <a:srgbClr val="E3F6E8"/>
          </a:solidFill>
          <a:ln w="19050">
            <a:solidFill>
              <a:srgbClr val="3DCD58"/>
            </a:solidFill>
            <a:prstDash val="solid"/>
          </a:ln>
        </p:spPr>
      </p:sp>
      <p:sp>
        <p:nvSpPr>
          <p:cNvPr id="62" name="Text 53"/>
          <p:cNvSpPr txBox="1"/>
          <p:nvPr/>
        </p:nvSpPr>
        <p:spPr>
          <a:xfrm>
            <a:off x="6720840" y="548640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 caught at about 2–4%.  1 false alarm in 3 × 365 simulated days.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5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(Simulated)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4937760" cy="310896"/>
          </a:xfrm>
          <a:prstGeom prst="roundRect">
            <a:avLst>
              <a:gd name="adj" fmla="val 50000"/>
            </a:avLst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89611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– Grundfos NB 65-160/157, 11 kW, IE3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Assumed: 10 m static lift | 5% head margin | 16 h/day | 300 days/yr | ₹8/kWh | VFD efficiency 0.97 | 0.710 kg CO₂/kWh. Peak demand 90% of rated flow.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603504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828800"/>
            <a:ext cx="2788920" cy="1234440"/>
          </a:xfrm>
          <a:prstGeom prst="roundRect">
            <a:avLst>
              <a:gd name="adj" fmla="val 5926"/>
            </a:avLst>
          </a:prstGeom>
          <a:solidFill>
            <a:srgbClr val="E3F6E8"/>
          </a:solidFill>
          <a:ln w="19050">
            <a:solidFill>
              <a:srgbClr val="3DCD5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86537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VFD, constant pressure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19.3% saved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6060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₹69,292/yr | 6.1 t CO₂ | ≈8,660 kWh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11880" y="1828800"/>
            <a:ext cx="2788920" cy="1234440"/>
          </a:xfrm>
          <a:prstGeom prst="roundRect">
            <a:avLst>
              <a:gd name="adj" fmla="val 5926"/>
            </a:avLst>
          </a:prstGeom>
          <a:solidFill>
            <a:srgbClr val="E3F6E8"/>
          </a:solidFill>
          <a:ln w="19050">
            <a:solidFill>
              <a:srgbClr val="3DCD5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03320" y="186537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VFD, proportional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2103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35.5% saved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26060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₹1,27,178/yr | 11.3 t CO₂ | ≈15,900 kWh</a:t>
            </a:r>
            <a:endParaRPr lang="en-US" sz="11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40080" y="3154680"/>
          <a:ext cx="585216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731520" y="5349240"/>
            <a:ext cx="5760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8–33% (constant), 15–45% (proportional). </a:t>
            </a:r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54–60% for heavily oversized pumps is an upper bound only. ₹, kWh and CO₂ are consistent: kWh = ₹ ÷ 8; CO₂ = kWh × 0.710 (arithmetic).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766560" y="1737360"/>
            <a:ext cx="489204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03720" y="1810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waste goes</a:t>
            </a:r>
            <a:endParaRPr lang="en-US" sz="1500" dirty="0"/>
          </a:p>
        </p:txBody>
      </p:sp>
      <p:graphicFrame>
        <p:nvGraphicFramePr>
          <p:cNvPr id="19" name="Chart 1" descr=""/>
          <p:cNvGraphicFramePr/>
          <p:nvPr/>
        </p:nvGraphicFramePr>
        <p:xfrm>
          <a:off x="6812280" y="2103120"/>
          <a:ext cx="23774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Text 16"/>
          <p:cNvSpPr txBox="1"/>
          <p:nvPr/>
        </p:nvSpPr>
        <p:spPr>
          <a:xfrm>
            <a:off x="7315200" y="2971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≥83%</a:t>
            </a:r>
            <a:endParaRPr lang="en-US" sz="2400" dirty="0"/>
          </a:p>
        </p:txBody>
      </p:sp>
      <p:sp>
        <p:nvSpPr>
          <p:cNvPr id="21" name="Text 17"/>
          <p:cNvSpPr txBox="1"/>
          <p:nvPr/>
        </p:nvSpPr>
        <p:spPr>
          <a:xfrm>
            <a:off x="9235440" y="228600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Valve share 83–93%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(72–87% under stress). Donut shows the low end. Measured against a speed-matched, healthy, clean ideal.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6903720" y="4526280"/>
            <a:ext cx="4617720" cy="1691640"/>
          </a:xfrm>
          <a:prstGeom prst="roundRect">
            <a:avLst>
              <a:gd name="adj" fmla="val 4324"/>
            </a:avLst>
          </a:prstGeom>
          <a:solidFill>
            <a:srgbClr val="FFF4E5"/>
          </a:solidFill>
          <a:ln w="19050">
            <a:solidFill>
              <a:srgbClr val="E07B00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040880" y="4572000"/>
            <a:ext cx="4389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Clog blind spot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clogged strainer is invisible with power + pressure alone. One extra pressure sensor recovers about ₹6,000–6,600/yr of misattributed waste.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5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VFD Verdict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3840480" cy="310896"/>
          </a:xfrm>
          <a:prstGeom prst="roundRect">
            <a:avLst>
              <a:gd name="adj" fmla="val 50000"/>
            </a:avLst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89611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ONLINE PRICES, NOT QUOTES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931920" cy="43891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35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of materials (preliminary)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7830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 board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17830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₹399–449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176272"/>
            <a:ext cx="3657600" cy="0"/>
          </a:xfrm>
          <a:prstGeom prst="line">
            <a:avLst/>
          </a:prstGeom>
          <a:noFill/>
          <a:ln w="6350">
            <a:solidFill>
              <a:srgbClr val="D3DFD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18541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clamp, SCT-013 100 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1854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₹349 + GST to ₹729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578608"/>
            <a:ext cx="3657600" cy="0"/>
          </a:xfrm>
          <a:prstGeom prst="line">
            <a:avLst/>
          </a:prstGeom>
          <a:noFill/>
          <a:ln w="6350">
            <a:solidFill>
              <a:srgbClr val="D3DFD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58775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sensor ZMPT101B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25877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₹92–289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2980944"/>
            <a:ext cx="3657600" cy="0"/>
          </a:xfrm>
          <a:prstGeom prst="line">
            <a:avLst/>
          </a:prstGeom>
          <a:noFill/>
          <a:ln w="6350">
            <a:solidFill>
              <a:srgbClr val="D3DFD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299008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transmitter, basic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834640" y="29900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₹2,100–3,068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3383280"/>
            <a:ext cx="3657600" cy="0"/>
          </a:xfrm>
          <a:prstGeom prst="line">
            <a:avLst/>
          </a:prstGeom>
          <a:noFill/>
          <a:ln w="6350">
            <a:solidFill>
              <a:srgbClr val="D3DFD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39242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Enclosure, supply, 4–20 mA, wiring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834640" y="339242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₹2,000 (assumed)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3785616"/>
            <a:ext cx="3657600" cy="0"/>
          </a:xfrm>
          <a:prstGeom prst="line">
            <a:avLst/>
          </a:prstGeom>
          <a:noFill/>
          <a:ln w="6350">
            <a:solidFill>
              <a:srgbClr val="D3DFD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8862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single-phase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108960" y="388620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₹6,100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21538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3-phase + 2nd transmitter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108960" y="421538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₹10,200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45445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3-phase + process-side (P3)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108960" y="454456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₹13,300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48737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₹12,000 transmitters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108960" y="487375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A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₹40,100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52852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Hobby-grade clamps; not a certified meter. Volume cost: not estimated (no quotes).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1371600"/>
            <a:ext cx="3429000" cy="438912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800600" y="14356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per pump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18288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pump audited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÷ N pumps. N = 10: ₹610–1,330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280720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time per pump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(assumed ½ day) + 7–14 days logging + report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3785616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throughput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25–50 pumps/yr per kit at 7–14 days each (arithmetic, excludes travel)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4764024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payback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₹10,200 ≈ 1.8 months of the base-case saving of ₹69,292/yr, if the audit leads to that VFD (illustrative)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275320" y="1371600"/>
            <a:ext cx="3383280" cy="43891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412480" y="14356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VFD verdict (simulated)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8412480" y="182880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E3F6E8"/>
          </a:solidFill>
          <a:ln w="25400">
            <a:solidFill>
              <a:srgbClr val="3DCD5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503920" y="18745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Oversized pump</a:t>
            </a:r>
            <a:endParaRPr lang="en-US" sz="13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4–19 months</a:t>
            </a:r>
            <a:endParaRPr lang="en-US" sz="13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GO: buy the VFD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412480" y="342900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FFF4E5"/>
          </a:solidFill>
          <a:ln w="25400">
            <a:solidFill>
              <a:srgbClr val="E07B0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503920" y="34747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Right-sized, high lift</a:t>
            </a:r>
            <a:endParaRPr lang="en-US" sz="1300" dirty="0"/>
          </a:p>
          <a:p>
            <a:pPr indent="0" marL="0">
              <a:buNone/>
            </a:pPr>
            <a:r>
              <a:rPr lang="en-US" sz="26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2–4+ years</a:t>
            </a:r>
            <a:endParaRPr lang="en-US" sz="13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WAIT: fix cheaper things first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8412480" y="4983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VFD ₹29,000–94,000 + about ₹15,000 install (assumed): ₹50,200–1,09,400 in total.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48640" y="5852160"/>
            <a:ext cx="11109960" cy="502920"/>
          </a:xfrm>
          <a:prstGeom prst="roundRect">
            <a:avLst>
              <a:gd name="adj" fmla="val 18182"/>
            </a:avLst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48640" y="5852160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~₹10k kit can stop a wrong ₹50k–1.1 lakh VFD buy, or unlock ₹69,292–1,27,178/yr (simulated)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5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Fit: Audit → Drive → Verify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PumpRupee is the low-cost front door to VFD and energy-management adoption.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81328"/>
            <a:ext cx="502920" cy="502920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1602029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4813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Electrify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103120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motor electrical energy visible with a clamp-on power measurement and points owners to efficient drives.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3716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34840" y="1481328"/>
            <a:ext cx="502920" cy="502920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541" y="1602029"/>
            <a:ext cx="261518" cy="26151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74920" y="14813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434840" y="2103120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pumps justify a drive and the lowest safe setpoint. The drive does the controlling; PumpRupee never does.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46720" y="137160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83880" y="1481328"/>
            <a:ext cx="502920" cy="502920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4581" y="1602029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823960" y="14813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Digitalise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183880" y="2103120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become a ₹ business case and a before/after proof. The owner keeps the data and can use any drive.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352044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E3F6E8"/>
          </a:solidFill>
          <a:ln w="25400">
            <a:solidFill>
              <a:srgbClr val="3DCD5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8368" y="3611880"/>
            <a:ext cx="347472" cy="347472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58368" y="3611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658368" y="402336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PumpRupee audit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Clamp-on, 7–14 days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2578608" y="4023360"/>
            <a:ext cx="201168" cy="256032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2798064" y="352044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2907792" y="3611880"/>
            <a:ext cx="347472" cy="347472"/>
          </a:xfrm>
          <a:prstGeom prst="ellipse">
            <a:avLst/>
          </a:prstGeom>
          <a:solidFill>
            <a:srgbClr val="9AA5A0"/>
          </a:solidFill>
          <a:ln w="12700">
            <a:solidFill>
              <a:srgbClr val="9AA5A0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2907792" y="3611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2907792" y="402336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business case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by cause + VFD verdict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4828032" y="4023360"/>
            <a:ext cx="201168" cy="256032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047488" y="352044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157216" y="3611880"/>
            <a:ext cx="347472" cy="347472"/>
          </a:xfrm>
          <a:prstGeom prst="ellipse">
            <a:avLst/>
          </a:prstGeom>
          <a:solidFill>
            <a:srgbClr val="9AA5A0"/>
          </a:solidFill>
          <a:ln w="12700">
            <a:solidFill>
              <a:srgbClr val="9AA5A0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5157216" y="3611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5157216" y="402336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VFD installed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Altivar Process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7077456" y="4023360"/>
            <a:ext cx="201168" cy="256032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7296912" y="352044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E3F6E8"/>
          </a:solidFill>
          <a:ln w="25400">
            <a:solidFill>
              <a:srgbClr val="3DCD58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06640" y="3611880"/>
            <a:ext cx="347472" cy="347472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7406640" y="3611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Text 32"/>
          <p:cNvSpPr txBox="1"/>
          <p:nvPr/>
        </p:nvSpPr>
        <p:spPr>
          <a:xfrm>
            <a:off x="7406640" y="402336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PumpRupee re-measures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kit, after the fix</a:t>
            </a:r>
            <a:endParaRPr lang="en-US" sz="1400" dirty="0"/>
          </a:p>
        </p:txBody>
      </p:sp>
      <p:sp>
        <p:nvSpPr>
          <p:cNvPr id="38" name="Shape 33"/>
          <p:cNvSpPr/>
          <p:nvPr/>
        </p:nvSpPr>
        <p:spPr>
          <a:xfrm>
            <a:off x="9326880" y="4023360"/>
            <a:ext cx="201168" cy="256032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9546336" y="352044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9656064" y="3611880"/>
            <a:ext cx="347472" cy="347472"/>
          </a:xfrm>
          <a:prstGeom prst="ellipse">
            <a:avLst/>
          </a:prstGeom>
          <a:solidFill>
            <a:srgbClr val="9AA5A0"/>
          </a:solidFill>
          <a:ln w="12700">
            <a:solidFill>
              <a:srgbClr val="9AA5A0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9656064" y="3611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2" name="Text 37"/>
          <p:cNvSpPr txBox="1"/>
          <p:nvPr/>
        </p:nvSpPr>
        <p:spPr>
          <a:xfrm>
            <a:off x="9656064" y="402336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saving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energy management, e.g. EcoStruxure</a:t>
            </a:r>
            <a:endParaRPr lang="en-US" sz="1400" dirty="0"/>
          </a:p>
        </p:txBody>
      </p:sp>
      <p:sp>
        <p:nvSpPr>
          <p:cNvPr id="43" name="Shape 38"/>
          <p:cNvSpPr/>
          <p:nvPr/>
        </p:nvSpPr>
        <p:spPr>
          <a:xfrm>
            <a:off x="548640" y="5029200"/>
            <a:ext cx="6766560" cy="1280160"/>
          </a:xfrm>
          <a:prstGeom prst="roundRect">
            <a:avLst>
              <a:gd name="adj" fmla="val 5714"/>
            </a:avLst>
          </a:prstGeom>
          <a:solidFill>
            <a:srgbClr val="E3F6E8"/>
          </a:solidFill>
          <a:ln w="19050">
            <a:solidFill>
              <a:srgbClr val="3DCD58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731520" y="50749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helps drive and EMS adoption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MSMEs that skip audits today get a ₹ case they understand, a pump-specific verdict before capex, and proof after.</a:t>
            </a:r>
            <a:endParaRPr lang="en-US" sz="1500" dirty="0"/>
          </a:p>
        </p:txBody>
      </p:sp>
      <p:sp>
        <p:nvSpPr>
          <p:cNvPr id="45" name="Shape 40"/>
          <p:cNvSpPr/>
          <p:nvPr/>
        </p:nvSpPr>
        <p:spPr>
          <a:xfrm>
            <a:off x="7498080" y="5029200"/>
            <a:ext cx="4160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7635240" y="507492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Manufacturing fit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efficiency · productivity · digitalisation · sustainability</a:t>
            </a:r>
            <a:endParaRPr lang="en-US" sz="15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only: no drive or platform integration built.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5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of Use &amp; Safety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 → Fit → Log → Read ₹ report → Fix → Verify.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44752"/>
            <a:ext cx="365760" cy="365760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7452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motor cable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011680" y="1828800"/>
            <a:ext cx="137160" cy="201168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48840" y="137160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444752"/>
            <a:ext cx="365760" cy="365760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4028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187452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on gauge ports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11880" y="1828800"/>
            <a:ext cx="137160" cy="201168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0" y="137160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0" y="1444752"/>
            <a:ext cx="365760" cy="365760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4048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840480" y="187452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7–14 days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212080" y="1828800"/>
            <a:ext cx="137160" cy="201168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37160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40680" y="1444752"/>
            <a:ext cx="365760" cy="365760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4068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187452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report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812280" y="1828800"/>
            <a:ext cx="137160" cy="201168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49440" y="137160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0" y="1444752"/>
            <a:ext cx="365760" cy="365760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4088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187452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first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412480" y="1828800"/>
            <a:ext cx="137160" cy="201168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49640" y="137160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41080" y="1444752"/>
            <a:ext cx="365760" cy="365760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64108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641080" y="187452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Re-measure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0012680" y="1828800"/>
            <a:ext cx="137160" cy="201168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149840" y="1371600"/>
            <a:ext cx="1463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241280" y="1444752"/>
            <a:ext cx="365760" cy="365760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24128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0" y="187452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to next pump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548640" y="2788920"/>
            <a:ext cx="539496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5800" y="28529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 or technician does NOT need</a:t>
            </a:r>
            <a:endParaRPr lang="en-US" sz="1700" dirty="0"/>
          </a:p>
        </p:txBody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383280"/>
            <a:ext cx="310896" cy="310896"/>
          </a:xfrm>
          <a:prstGeom prst="rect">
            <a:avLst/>
          </a:prstGeom>
        </p:spPr>
      </p:pic>
      <p:sp>
        <p:nvSpPr>
          <p:cNvPr id="41" name="Text 38"/>
          <p:cNvSpPr txBox="1"/>
          <p:nvPr/>
        </p:nvSpPr>
        <p:spPr>
          <a:xfrm>
            <a:off x="1188720" y="3337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flow meter</a:t>
            </a:r>
            <a:endParaRPr lang="en-US" sz="1600" dirty="0"/>
          </a:p>
        </p:txBody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86200"/>
            <a:ext cx="310896" cy="310896"/>
          </a:xfrm>
          <a:prstGeom prst="rect">
            <a:avLst/>
          </a:prstGeom>
        </p:spPr>
      </p:pic>
      <p:sp>
        <p:nvSpPr>
          <p:cNvPr id="43" name="Text 39"/>
          <p:cNvSpPr txBox="1"/>
          <p:nvPr/>
        </p:nvSpPr>
        <p:spPr>
          <a:xfrm>
            <a:off x="1188720" y="3840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cutting</a:t>
            </a:r>
            <a:endParaRPr lang="en-US" sz="1600" dirty="0"/>
          </a:p>
        </p:txBody>
      </p:sp>
      <p:pic>
        <p:nvPicPr>
          <p:cNvPr id="4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389120"/>
            <a:ext cx="310896" cy="310896"/>
          </a:xfrm>
          <a:prstGeom prst="rect">
            <a:avLst/>
          </a:prstGeom>
        </p:spPr>
      </p:pic>
      <p:sp>
        <p:nvSpPr>
          <p:cNvPr id="45" name="Text 40"/>
          <p:cNvSpPr txBox="1"/>
          <p:nvPr/>
        </p:nvSpPr>
        <p:spPr>
          <a:xfrm>
            <a:off x="1188720" y="4343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shutdown</a:t>
            </a:r>
            <a:endParaRPr lang="en-US" sz="1600" dirty="0"/>
          </a:p>
        </p:txBody>
      </p:sp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892040"/>
            <a:ext cx="310896" cy="310896"/>
          </a:xfrm>
          <a:prstGeom prst="rect">
            <a:avLst/>
          </a:prstGeom>
        </p:spPr>
      </p:pic>
      <p:sp>
        <p:nvSpPr>
          <p:cNvPr id="47" name="Text 41"/>
          <p:cNvSpPr txBox="1"/>
          <p:nvPr/>
        </p:nvSpPr>
        <p:spPr>
          <a:xfrm>
            <a:off x="1188720" y="4846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 expertise</a:t>
            </a:r>
            <a:endParaRPr lang="en-US" sz="1600" dirty="0"/>
          </a:p>
        </p:txBody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394960"/>
            <a:ext cx="310896" cy="310896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1188720" y="5349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graphs</a:t>
            </a:r>
            <a:endParaRPr lang="en-US" sz="1600" dirty="0"/>
          </a:p>
        </p:txBody>
      </p:sp>
      <p:sp>
        <p:nvSpPr>
          <p:cNvPr id="50" name="Shape 43"/>
          <p:cNvSpPr/>
          <p:nvPr/>
        </p:nvSpPr>
        <p:spPr>
          <a:xfrm>
            <a:off x="6263640" y="2788920"/>
            <a:ext cx="539496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51" name="Text 44"/>
          <p:cNvSpPr txBox="1"/>
          <p:nvPr/>
        </p:nvSpPr>
        <p:spPr>
          <a:xfrm>
            <a:off x="6400800" y="28529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reliability by design</a:t>
            </a:r>
            <a:endParaRPr lang="en-US" sz="1700" dirty="0"/>
          </a:p>
        </p:txBody>
      </p:sp>
      <p:pic>
        <p:nvPicPr>
          <p:cNvPr id="5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383280"/>
            <a:ext cx="310896" cy="310896"/>
          </a:xfrm>
          <a:prstGeom prst="rect">
            <a:avLst/>
          </a:prstGeom>
        </p:spPr>
      </p:pic>
      <p:sp>
        <p:nvSpPr>
          <p:cNvPr id="53" name="Text 45"/>
          <p:cNvSpPr txBox="1"/>
          <p:nvPr/>
        </p:nvSpPr>
        <p:spPr>
          <a:xfrm>
            <a:off x="6903720" y="33375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Non-invasive power clamp</a:t>
            </a:r>
            <a:endParaRPr lang="en-US" sz="1500" dirty="0"/>
          </a:p>
        </p:txBody>
      </p:sp>
      <p:pic>
        <p:nvPicPr>
          <p:cNvPr id="5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3886200"/>
            <a:ext cx="310896" cy="310896"/>
          </a:xfrm>
          <a:prstGeom prst="rect">
            <a:avLst/>
          </a:prstGeom>
        </p:spPr>
      </p:pic>
      <p:sp>
        <p:nvSpPr>
          <p:cNvPr id="55" name="Text 46"/>
          <p:cNvSpPr txBox="1"/>
          <p:nvPr/>
        </p:nvSpPr>
        <p:spPr>
          <a:xfrm>
            <a:off x="6903720" y="38862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sensors on existing gauge ports</a:t>
            </a:r>
            <a:endParaRPr lang="en-US" sz="1500" dirty="0"/>
          </a:p>
        </p:txBody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4389120"/>
            <a:ext cx="310896" cy="310896"/>
          </a:xfrm>
          <a:prstGeom prst="rect">
            <a:avLst/>
          </a:prstGeom>
        </p:spPr>
      </p:pic>
      <p:sp>
        <p:nvSpPr>
          <p:cNvPr id="57" name="Text 47"/>
          <p:cNvSpPr txBox="1"/>
          <p:nvPr/>
        </p:nvSpPr>
        <p:spPr>
          <a:xfrm>
            <a:off x="6903720" y="44348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enclosure; installed by a plant electrician</a:t>
            </a:r>
            <a:endParaRPr lang="en-US" sz="1500" dirty="0"/>
          </a:p>
        </p:txBody>
      </p:sp>
      <p:pic>
        <p:nvPicPr>
          <p:cNvPr id="5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4892040"/>
            <a:ext cx="310896" cy="310896"/>
          </a:xfrm>
          <a:prstGeom prst="rect">
            <a:avLst/>
          </a:prstGeom>
        </p:spPr>
      </p:pic>
      <p:sp>
        <p:nvSpPr>
          <p:cNvPr id="59" name="Text 48"/>
          <p:cNvSpPr txBox="1"/>
          <p:nvPr/>
        </p:nvSpPr>
        <p:spPr>
          <a:xfrm>
            <a:off x="6903720" y="49834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only recommends, never controls the pump</a:t>
            </a:r>
            <a:endParaRPr lang="en-US" sz="1500" dirty="0"/>
          </a:p>
        </p:txBody>
      </p:sp>
      <p:pic>
        <p:nvPicPr>
          <p:cNvPr id="6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6520" y="5394960"/>
            <a:ext cx="310896" cy="310896"/>
          </a:xfrm>
          <a:prstGeom prst="rect">
            <a:avLst/>
          </a:prstGeom>
        </p:spPr>
      </p:pic>
      <p:sp>
        <p:nvSpPr>
          <p:cNvPr id="61" name="Text 49"/>
          <p:cNvSpPr txBox="1"/>
          <p:nvPr/>
        </p:nvSpPr>
        <p:spPr>
          <a:xfrm>
            <a:off x="6903720" y="55321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keeps the data</a:t>
            </a:r>
            <a:endParaRPr lang="en-US" sz="1500" dirty="0"/>
          </a:p>
        </p:txBody>
      </p:sp>
      <p:sp>
        <p:nvSpPr>
          <p:cNvPr id="62" name="Text 50"/>
          <p:cNvSpPr txBox="1"/>
          <p:nvPr/>
        </p:nvSpPr>
        <p:spPr>
          <a:xfrm>
            <a:off x="6400800" y="5852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Closed-valve power / shut-off head anchors are optional, brief, and within the pump maker's limits.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5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Impact, Scalability &amp;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3657600" cy="310896"/>
          </a:xfrm>
          <a:prstGeom prst="roundRect">
            <a:avLst>
              <a:gd name="adj" fmla="val 50000"/>
            </a:avLst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8961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= SIMULATED, per 11 kW pump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57784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81328"/>
            <a:ext cx="1719072" cy="1097280"/>
          </a:xfrm>
          <a:prstGeom prst="roundRect">
            <a:avLst>
              <a:gd name="adj" fmla="val 6667"/>
            </a:avLst>
          </a:prstGeom>
          <a:solidFill>
            <a:srgbClr val="E3F6E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08760"/>
            <a:ext cx="16276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₹69k–1.27 lakh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496312" y="1481328"/>
            <a:ext cx="1719072" cy="1097280"/>
          </a:xfrm>
          <a:prstGeom prst="roundRect">
            <a:avLst>
              <a:gd name="adj" fmla="val 6667"/>
            </a:avLst>
          </a:prstGeom>
          <a:solidFill>
            <a:srgbClr val="E3F6E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42032" y="1508760"/>
            <a:ext cx="16276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≈8,660–15,900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kWh per year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06824" y="1481328"/>
            <a:ext cx="1719072" cy="1097280"/>
          </a:xfrm>
          <a:prstGeom prst="roundRect">
            <a:avLst>
              <a:gd name="adj" fmla="val 6667"/>
            </a:avLst>
          </a:prstGeom>
          <a:solidFill>
            <a:srgbClr val="E3F6E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52544" y="1508760"/>
            <a:ext cx="16276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6.1–11.3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CO₂ per year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69748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 illustration, not a projection: </a:t>
            </a:r>
            <a:pPr indent="0" marL="0">
              <a:buNone/>
            </a:pPr>
            <a:r>
              <a:rPr lang="en-US" sz="12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pumps × per-pump saving. N = 10: ₹6,92,920–12,71,780/yr and 61–113 t CO₂/yr.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749040"/>
            <a:ext cx="3383280" cy="329184"/>
          </a:xfrm>
          <a:prstGeom prst="roundRect">
            <a:avLst>
              <a:gd name="adj" fmla="val 16667"/>
            </a:avLst>
          </a:prstGeom>
          <a:solidFill>
            <a:srgbClr val="3DCD58"/>
          </a:solidFill>
          <a:ln w="6350">
            <a:solidFill>
              <a:srgbClr val="3DCD5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74904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pump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0120" y="4133088"/>
            <a:ext cx="3383280" cy="329184"/>
          </a:xfrm>
          <a:prstGeom prst="roundRect">
            <a:avLst>
              <a:gd name="adj" fmla="val 16667"/>
            </a:avLst>
          </a:prstGeom>
          <a:solidFill>
            <a:srgbClr val="8ADB9B"/>
          </a:solidFill>
          <a:ln w="6350">
            <a:solidFill>
              <a:srgbClr val="3DCD5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13308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(shared kit)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188720" y="4517136"/>
            <a:ext cx="3383280" cy="329184"/>
          </a:xfrm>
          <a:prstGeom prst="roundRect">
            <a:avLst>
              <a:gd name="adj" fmla="val 16667"/>
            </a:avLst>
          </a:prstGeom>
          <a:solidFill>
            <a:srgbClr val="B8E8C2"/>
          </a:solidFill>
          <a:ln w="6350">
            <a:solidFill>
              <a:srgbClr val="3DCD5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80160" y="451713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/ ESCO / channel partner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417320" y="4901184"/>
            <a:ext cx="3383280" cy="329184"/>
          </a:xfrm>
          <a:prstGeom prst="roundRect">
            <a:avLst>
              <a:gd name="adj" fmla="val 16667"/>
            </a:avLst>
          </a:prstGeom>
          <a:solidFill>
            <a:srgbClr val="E3F6E8"/>
          </a:solidFill>
          <a:ln w="6350">
            <a:solidFill>
              <a:srgbClr val="3DCD5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90118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with VFD &amp; EMS offers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3492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</a:t>
            </a:r>
            <a:pPr indent="0" marL="0">
              <a:buNone/>
            </a:pPr>
            <a:r>
              <a:rPr lang="en-US" sz="12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factories, water utilities, textile/dyeing, food processing, commercial HVAC chilled-water pumps. Agricultural pumping: future scope only.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1371600"/>
            <a:ext cx="534924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46520" y="1435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178308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Simulation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515600" y="1819656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515600" y="181965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224028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Bench test, real pump + sensors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515600" y="2276856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8D9B0"/>
          </a:solidFill>
          <a:ln w="12700">
            <a:solidFill>
              <a:srgbClr val="F8D9B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515600" y="227685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446520" y="269748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Pilot, 1–2 plants, measured system curve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515600" y="2734056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D3DFD7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515600" y="273405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446520" y="315468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Validate forecast error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0515600" y="3191256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D3DFD7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515600" y="319125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446520" y="361188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Multi-pump / multi-plant rollout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0515600" y="3648456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D3DFD7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515600" y="364845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44652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status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446520" y="4480560"/>
            <a:ext cx="2514600" cy="1783080"/>
          </a:xfrm>
          <a:prstGeom prst="roundRect">
            <a:avLst>
              <a:gd name="adj" fmla="val 4103"/>
            </a:avLst>
          </a:prstGeom>
          <a:solidFill>
            <a:srgbClr val="FFF4E5"/>
          </a:solidFill>
          <a:ln w="19050">
            <a:solidFill>
              <a:srgbClr val="E07B0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537960" y="4526280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/ DESIGNED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Savings, waste split, calibration, drift detection, cost estimates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098280" y="4480560"/>
            <a:ext cx="2423160" cy="1783080"/>
          </a:xfrm>
          <a:prstGeom prst="roundRect">
            <a:avLst>
              <a:gd name="adj" fmla="val 4103"/>
            </a:avLst>
          </a:prstGeom>
          <a:solidFill>
            <a:srgbClr val="EEF4F0"/>
          </a:solidFill>
          <a:ln w="19050">
            <a:solidFill>
              <a:srgbClr val="9AA5A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189720" y="4526280"/>
            <a:ext cx="2240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TESTED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inference vs a reference meter; throttled-valve and blocked-strainer cases; wear drift; pilots; before/after VFD saving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5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PumpRupee on One Page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kit. Clever inference. Answers in rupees. Honest about limits.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1463040"/>
            <a:ext cx="548640" cy="54864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1834" y="159471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1031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Oversized pump, throttled valve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78608" y="2103120"/>
            <a:ext cx="201168" cy="256032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98064" y="137160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29584" y="1463040"/>
            <a:ext cx="548640" cy="548640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258" y="159471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89504" y="21031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Clamp-on kit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₹6,100–13,300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828032" y="2103120"/>
            <a:ext cx="201168" cy="256032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047488" y="137160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779008" y="1463040"/>
            <a:ext cx="548640" cy="548640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0682" y="159471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138928" y="21031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report by cause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077456" y="2103120"/>
            <a:ext cx="201168" cy="256032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296912" y="137160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28432" y="1463040"/>
            <a:ext cx="548640" cy="548640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0106" y="159471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88352" y="21031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VFD verdict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or WAIT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9326880" y="2103120"/>
            <a:ext cx="201168" cy="256032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9546336" y="1371600"/>
            <a:ext cx="2011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277856" y="1463040"/>
            <a:ext cx="548640" cy="548640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9530" y="159471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637776" y="21031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before/after saving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548640" y="310896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E3F6E8"/>
          </a:solidFill>
          <a:ln w="19050">
            <a:solidFill>
              <a:srgbClr val="3DCD58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658368" y="3127248"/>
            <a:ext cx="24323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19.3–35.5%</a:t>
            </a:r>
            <a:endParaRPr lang="en-US" sz="2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VFD saving, base case</a:t>
            </a:r>
            <a:endParaRPr lang="en-US" sz="2400" dirty="0"/>
          </a:p>
        </p:txBody>
      </p:sp>
      <p:sp>
        <p:nvSpPr>
          <p:cNvPr id="30" name="Shape 23"/>
          <p:cNvSpPr/>
          <p:nvPr/>
        </p:nvSpPr>
        <p:spPr>
          <a:xfrm>
            <a:off x="3362249" y="310896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E3F6E8"/>
          </a:solidFill>
          <a:ln w="19050">
            <a:solidFill>
              <a:srgbClr val="3DCD58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3471977" y="3127248"/>
            <a:ext cx="24323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₹69,292–1,27,178</a:t>
            </a:r>
            <a:endParaRPr lang="en-US" sz="19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year, per 11 kW pump</a:t>
            </a:r>
            <a:endParaRPr lang="en-US" sz="1900" dirty="0"/>
          </a:p>
        </p:txBody>
      </p:sp>
      <p:sp>
        <p:nvSpPr>
          <p:cNvPr id="32" name="Shape 25"/>
          <p:cNvSpPr/>
          <p:nvPr/>
        </p:nvSpPr>
        <p:spPr>
          <a:xfrm>
            <a:off x="6175858" y="310896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E3F6E8"/>
          </a:solidFill>
          <a:ln w="19050">
            <a:solidFill>
              <a:srgbClr val="3DCD58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6285586" y="3127248"/>
            <a:ext cx="24323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4–19 mo vs 2–4+ yr</a:t>
            </a:r>
            <a:endParaRPr lang="en-US" sz="17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payback: oversized vs right-sized</a:t>
            </a:r>
            <a:endParaRPr lang="en-US" sz="1700" dirty="0"/>
          </a:p>
        </p:txBody>
      </p:sp>
      <p:sp>
        <p:nvSpPr>
          <p:cNvPr id="34" name="Shape 27"/>
          <p:cNvSpPr/>
          <p:nvPr/>
        </p:nvSpPr>
        <p:spPr>
          <a:xfrm>
            <a:off x="8989466" y="310896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E3F6E8"/>
          </a:solidFill>
          <a:ln w="19050">
            <a:solidFill>
              <a:srgbClr val="3DCD58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9099194" y="3127248"/>
            <a:ext cx="24323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±3 points</a:t>
            </a:r>
            <a:endParaRPr lang="en-US" sz="17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with a measured system curve; else ≈ ±10</a:t>
            </a:r>
            <a:endParaRPr lang="en-US" sz="1700" dirty="0"/>
          </a:p>
        </p:txBody>
      </p:sp>
      <p:sp>
        <p:nvSpPr>
          <p:cNvPr id="36" name="Text 29"/>
          <p:cNvSpPr txBox="1"/>
          <p:nvPr/>
        </p:nvSpPr>
        <p:spPr>
          <a:xfrm>
            <a:off x="548640" y="43434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SIMULATED (Grundfos NB 65-160/157, 11 kW; 10 m lift, 5% margin, 16 h/day, 300 days, ₹8/kWh).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548640" y="4709160"/>
            <a:ext cx="11109960" cy="1691640"/>
          </a:xfrm>
          <a:prstGeom prst="roundRect">
            <a:avLst>
              <a:gd name="adj" fmla="val 4324"/>
            </a:avLst>
          </a:prstGeom>
          <a:solidFill>
            <a:srgbClr val="FFF4E5"/>
          </a:solidFill>
          <a:ln w="25400">
            <a:solidFill>
              <a:srgbClr val="E07B00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73152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limits: what we validate next</a:t>
            </a:r>
            <a:endParaRPr lang="en-US" sz="1400" dirty="0"/>
          </a:p>
        </p:txBody>
      </p:sp>
      <p:sp>
        <p:nvSpPr>
          <p:cNvPr id="39" name="Text 32"/>
          <p:cNvSpPr txBox="1"/>
          <p:nvPr/>
        </p:nvSpPr>
        <p:spPr>
          <a:xfrm>
            <a:off x="777240" y="50749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only: no lab/field data, no real quotes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System-curve fit uses the simulated plant's own form, so it is optimistic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pump, steady state. Out of scope: parallel pumps, closed loops, pumps already on drives, minimum-flow/NPSH, control dynamics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the valve share is by construction; 54–60% is an upper bound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5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PumpRupee - Schneider Electric Yuva Yodha 2026 - Team ANS_4X</dc:title>
  <dc:subject>PptxGenJS Presentation</dc:subject>
  <dc:creator>ANS_4X</dc:creator>
  <cp:lastModifiedBy>ANS_4X</cp:lastModifiedBy>
  <cp:revision>1</cp:revision>
  <dcterms:created xsi:type="dcterms:W3CDTF">2026-10-03T07:50:41Z</dcterms:created>
  <dcterms:modified xsi:type="dcterms:W3CDTF">2026-10-03T07:50:41Z</dcterms:modified>
</cp:coreProperties>
</file>